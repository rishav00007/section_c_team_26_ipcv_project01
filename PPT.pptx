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Lst>
  <p:notesMasterIdLst>
    <p:notesMasterId r:id="rId2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9ad84c47-a53c-9232-3e5b-4edc9f647821}">
          <p14:sldIdLst>
            <p14:sldId id="256"/>
          </p14:sldIdLst>
        </p14:section>
        <p14:section name="Introduction" id="{8eb6e352-ae55-fa91-fec0-5f9ea85afd89}">
          <p14:sldIdLst>
            <p14:sldId id="257"/>
            <p14:sldId id="258"/>
            <p14:sldId id="259"/>
            <p14:sldId id="260"/>
          </p14:sldIdLst>
        </p14:section>
        <p14:section name="Dataset and Design" id="{78e960a0-14b7-adb8-f4b0-be191a85d2cc}">
          <p14:sldIdLst>
            <p14:sldId id="261"/>
            <p14:sldId id="262"/>
          </p14:sldIdLst>
        </p14:section>
        <p14:section name="Methodology" id="{0833deb2-475c-5288-5c28-99c263f633e3}">
          <p14:sldIdLst>
            <p14:sldId id="263"/>
            <p14:sldId id="264"/>
            <p14:sldId id="265"/>
            <p14:sldId id="266"/>
          </p14:sldIdLst>
        </p14:section>
        <p14:section name="Implementation" id="{bf1d473c-d940-0609-bb0c-f78cabe6a705}">
          <p14:sldIdLst>
            <p14:sldId id="267"/>
            <p14:sldId id="268"/>
          </p14:sldIdLst>
        </p14:section>
        <p14:section name="Results and Discussion" id="{2d683a51-15eb-f402-b105-25f9e4a5cf9a}">
          <p14:sldIdLst>
            <p14:sldId id="269"/>
            <p14:sldId id="270"/>
            <p14:sldId id="271"/>
          </p14:sldIdLst>
        </p14:section>
        <p14:section name="Impact" id="{b1f4989d-f913-42a1-0537-2a3c61269307}">
          <p14:sldIdLst>
            <p14:sldId id="272"/>
            <p14:sldId id="273"/>
            <p14:sldId id="274"/>
            <p14:sldId id="275"/>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notesMaster" Target="notesMasters/notesMaster1.xml"/><Relationship Id="rId23" Type="http://schemas.openxmlformats.org/officeDocument/2006/relationships/presProps" Target="presProps.xml"/><Relationship Id="rId24" Type="http://schemas.openxmlformats.org/officeDocument/2006/relationships/viewProps" Target="viewProps.xml"/><Relationship Id="rId25" Type="http://schemas.openxmlformats.org/officeDocument/2006/relationships/theme" Target="theme/theme1.xml"/><Relationship Id="rId2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the project title and the four team members. Each member's contribution is listed on the cards; we cover it again on the last slide. Estimated talk time for the whole deck: about 20 minutes plus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parts: introduction, dataset and design, methodology, implementation, results and discussion, and finally impact (limitations, real-world use cases, conclusion).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Summarise in 30 seconds: what the attack is, what our detector does, and what we delivered. Stress that this is a baseline and that its output is a lead for a human examiner, not proof.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the attack with the diagram: a source region is copied and pasted elsewhere in the same image. Typical uses are object removal and object duplication. Because source and paste come from the same photo, camera-based statistics are not helpful, but the two regions are near-identical, and that is what we detect.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State the problem in one sentence, then the four objectives: build the detector, evaluate it on CoMoFoD, create the web interface, and review the baseline critically.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CoMoFoD is a benchmark built for copy-move detection. Each set has the forged image (F), the original (O) and a binary mask (B). Our evaluation script ignores the post-processed variants on purpose and uses them for manual tests in the web app. Preprocessing: file selection by regex, evenly spaced IDs for a reproducible subset, BGR reading, mask binarisation and nearest-neighbour resizing, and a size cap in the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entry points, the Streamlit app and the batch evaluation script, call the same detect_copy_move function in detect.py, which in turn uses OpenCV and NumPy. This guarantees that what we report in experiments is exactly what a user sees in the app.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seven stages left to right. The next two slides zoom into steps 2 to 4 (features and matching) and steps 5 to 7 (RANSAC, decision and mask). Early exits with explicit reasons exist for too few keypoints, too few candidate matches, no consistent transform, and inliers below the threshold.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SIFT gives distinctive descriptors that survive rotation and scaling. The key adaptation is the spatial mask: matching an image with itself would match every point to itself or a neighbour, so pairs closer than 50 pixels are forbidden before the ratio test. Because forbidden pairs are removed first, the second-best neighbour is also a valid distant point, which keeps the ratio test meaningful. d1 and d2 are the distances to the best and second-best neighbours.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model is a similarity transform: a uniform scale s, a rotation by theta and a shift t. That is exactly what a forger can do with copy, resize, rotate and paste. RANSAC fits it from random minimal samples and keeps the model with the most inliers. Random false matches rarely agree on one transform, so a large inlier count is strong evidence. If at least 8 inliers agree, the image is flagged. The mask is built from the convex hulls of the inlier points on both sides, dilated and overlaid in red.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six settings define the detector. The most influential pair for false alarms versus misses is ratio and min_inliers; our tuning plan sweeps those two on a development set. In the web app each one is a slider, so the effect can be shown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detect.py holds the algorithm and a command-line interface. evaluate.py runs the detector on forged and original images and reports both image-level metrics (was the image flagged?) and pixel-level metrics (does the mask overlap the ground truth?). Flagged pixels on original images are counted as false positives, so false alarms also lower pixel precision.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interface is built so a non-programmer can add an image, press one button and compare input and output at once. It also shows the matched features, the transform values and can score the result against a ground-truth mask. The screenshot is an early build: during testing we found that Streamlit's dark mode drew light text on our light page, which made labels hard to read. We fixed it with a theme file and explicit CSS.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CoMoFoD image 193, forged, JPEG-compressed variant. With default parameters the detector flagged it with 257 matches agreeing on a single transform, far above the threshold of 8. The red regions mark two similar balcony structures. Be honest that this is a single manual test and was not scored against the ground-truth mask.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Strengths on the left, cautions on the right. IMPORTANT: the four score boxes at the bottom are placeholders. Before presenting, run evaluate.py on your held-out test IDs and type the values from summary.json into these boxes (image accuracy, image F1, aggregate pixel F1, aggregate pixel IoU). Do not present blank boxes.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Testing so far: the end-to-end upload test passed, and the dark-mode readability defect was found and fixed. The remaining planned tests cover originals, JPEG, blur and noise variants, a corrupt file, a textureless image and a very large image. Right: the five highest-impact improvements from our code review. They are proposals and are not yet part of the submitted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upfront about limitations: clones in smooth areas, an approximate mask, false alarms on naturally repeated objects, a single transform, and weakness under heavy post-processing. Future work follows directly from the review: integrate the accuracy fixes, add a dense detector, run the full evaluation with a dev/test split, add a batch mode, and compare with deep-learning methods.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are application areas where image authenticity matters. In all of them the detector should be used to screen and to point a human examiner at suspicious regions, never as a final verdict. Research integrity is a real-world example: duplicated panels in published figures are a known problem.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the four takeaways and the one-line message: a transparent baseline that highlights suspects, with a clear path to improve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 each member and their contribution, then invite questions. Likely questions: why SIFT instead of block-based methods, why the spatial mask is needed, how the 8-inlier threshold was chosen, what the false-alarm rate is, and how the mask could be improved.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822960"/>
            <a:ext cx="10698480" cy="1554480"/>
          </a:xfrm>
          <a:prstGeom prst="rect">
            <a:avLst/>
          </a:prstGeom>
          <a:noFill/>
          <a:ln/>
        </p:spPr>
        <p:txBody>
          <a:bodyPr wrap="square" rtlCol="0"/>
          <a:lstStyle>
            <a:lvl1pPr algn="l" indent="0" marL="0">
              <a:buNone/>
              <a:defRPr lang="en-US" sz="4200" b="1" dirty="0">
                <a:solidFill>
                  <a:schemeClr val="bg1"/>
                </a:solidFill>
              </a:defRPr>
            </a:lvl1pPr>
          </a:lstStyle>
          <a:p>
            <a:pPr algn="l" indent="0" marL="0">
              <a:buNone/>
            </a:pPr>
            <a:endParaRPr lang="en-US" sz="4200" dirty="0"/>
          </a:p>
        </p:txBody>
      </p:sp>
      <p:sp>
        <p:nvSpPr>
          <p:cNvPr id="3" name="Text 0"/>
          <p:cNvSpPr/>
          <p:nvPr>
            <p:ph idx="101" type="body" hasCustomPrompt="1"/>
          </p:nvPr>
        </p:nvSpPr>
        <p:spPr>
          <a:xfrm>
            <a:off x="731520" y="2514600"/>
            <a:ext cx="10241280" cy="868680"/>
          </a:xfrm>
          <a:prstGeom prst="rect">
            <a:avLst/>
          </a:prstGeom>
          <a:noFill/>
          <a:ln/>
        </p:spPr>
        <p:txBody>
          <a:bodyPr wrap="square" rtlCol="0"/>
          <a:lstStyle>
            <a:lvl1pPr indent="0" marL="0">
              <a:buNone/>
              <a:defRPr lang="en-US" sz="1800" dirty="0">
                <a:solidFill>
                  <a:schemeClr val="accent5"/>
                </a:solidFill>
              </a:defRPr>
            </a:lvl1pPr>
          </a:lstStyle>
          <a:p>
            <a:pPr indent="0" marL="0">
              <a:buNone/>
            </a:pP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7724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3" name="Text 0"/>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1000" dirty="0">
                <a:solidFill>
                  <a:schemeClr val="accent4"/>
                </a:solidFill>
              </a:rPr>
              <a:t>Copy-Move Forgery Detection  |  SIFT + RANSAC</a:t>
            </a:r>
            <a:endParaRPr lang="en-US" sz="10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LOSING_DARK">
    <p:bg>
      <p:bgPr>
        <a:solidFill>
          <a:schemeClr val="tx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77240"/>
          </a:xfrm>
          <a:prstGeom prst="rect">
            <a:avLst/>
          </a:prstGeom>
          <a:noFill/>
          <a:ln/>
        </p:spPr>
        <p:txBody>
          <a:bodyPr wrap="square" rtlCol="0"/>
          <a:lstStyle>
            <a:lvl1pPr algn="l" indent="0" marL="0">
              <a:buNone/>
              <a:defRPr lang="en-US" sz="3600" b="1" dirty="0">
                <a:solidFill>
                  <a:schemeClr val="bg1"/>
                </a:solidFill>
              </a:defRPr>
            </a:lvl1pPr>
          </a:lstStyle>
          <a:p>
            <a:pPr algn="l" indent="0" marL="0">
              <a:buNone/>
            </a:pPr>
            <a:endParaRPr lang="en-US" sz="3600" dirty="0"/>
          </a:p>
        </p:txBody>
      </p:sp>
      <p:sp>
        <p:nvSpPr>
          <p:cNvPr id="3" name="Text 0"/>
          <p:cNvSpPr txBox="1"/>
          <p:nvPr/>
        </p:nvSpPr>
        <p:spPr>
          <a:xfrm>
            <a:off x="548640" y="6400800"/>
            <a:ext cx="6400800" cy="274320"/>
          </a:xfrm>
          <a:prstGeom prst="rect">
            <a:avLst/>
          </a:prstGeom>
          <a:noFill/>
          <a:ln/>
        </p:spPr>
        <p:txBody>
          <a:bodyPr wrap="square" lIns="0" tIns="0" rIns="0" bIns="0" rtlCol="0" anchor="ctr"/>
          <a:lstStyle/>
          <a:p>
            <a:pPr indent="0" marL="0">
              <a:buNone/>
            </a:pPr>
            <a:r>
              <a:rPr lang="en-US" sz="1000" dirty="0">
                <a:solidFill>
                  <a:schemeClr val="accent5"/>
                </a:solidFill>
              </a:rPr>
              <a:t>Copy-Move Forgery Detection  |  SIFT + RANSAC</a:t>
            </a:r>
            <a:endParaRPr lang="en-US" sz="10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image" Target="../media/image-2-6.png"/><Relationship Id="rId7" Type="http://schemas.openxmlformats.org/officeDocument/2006/relationships/slideLayout" Target="../slideLayouts/slideLayout3.xml"/><Relationship Id="rId8"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3.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slideLayout" Target="../slideLayouts/slideLayout3.xml"/><Relationship Id="rId5"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3.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slideLayout" Target="../slideLayouts/slideLayout3.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slideLayout" Target="../slideLayouts/slideLayout3.xml"/><Relationship Id="rId4"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slideLayout" Target="../slideLayouts/slideLayout3.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slideLayout" Target="../slideLayouts/slideLayout3.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3.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3.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slideLayout" Target="../slideLayouts/slideLayout3.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4.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822960"/>
            <a:ext cx="10698480" cy="1554480"/>
          </a:xfrm>
          <a:prstGeom prst="rect">
            <a:avLst/>
          </a:prstGeom>
          <a:noFill/>
          <a:ln/>
        </p:spPr>
        <p:txBody>
          <a:bodyPr wrap="square" lIns="0" tIns="0" rIns="0" bIns="0" rtlCol="0" anchor="t"/>
          <a:lstStyle/>
          <a:p>
            <a:pPr algn="l" indent="0" marL="0">
              <a:buNone/>
            </a:pPr>
            <a:r>
              <a:rPr lang="en-US" sz="4200" b="1" dirty="0">
                <a:solidFill>
                  <a:schemeClr val="bg1"/>
                </a:solidFill>
              </a:rPr>
              <a:t>Copy-Move Forgery Detection using SIFT and RANSAC</a:t>
            </a:r>
            <a:endParaRPr lang="en-US" sz="4200" dirty="0"/>
          </a:p>
        </p:txBody>
      </p:sp>
      <p:sp>
        <p:nvSpPr>
          <p:cNvPr id="3" name="Text 0"/>
          <p:cNvSpPr/>
          <p:nvPr>
            <p:ph idx="101" type="body" hasCustomPrompt="1"/>
          </p:nvPr>
        </p:nvSpPr>
        <p:spPr>
          <a:xfrm>
            <a:off x="731520" y="2514600"/>
            <a:ext cx="10241280" cy="868680"/>
          </a:xfrm>
          <a:prstGeom prst="rect">
            <a:avLst/>
          </a:prstGeom>
          <a:noFill/>
          <a:ln/>
        </p:spPr>
        <p:txBody>
          <a:bodyPr wrap="square" lIns="0" tIns="0" rIns="0" bIns="0" rtlCol="0" anchor="t"/>
          <a:lstStyle/>
          <a:p>
            <a:pPr indent="0" marL="0">
              <a:buNone/>
            </a:pPr>
            <a:r>
              <a:rPr lang="en-US" sz="1800" dirty="0">
                <a:solidFill>
                  <a:schemeClr val="accent5"/>
                </a:solidFill>
              </a:rPr>
              <a:t>Classical image forensics evaluated on the CoMoFoD dataset, with an interactive Streamlit web interface</a:t>
            </a:r>
            <a:endParaRPr lang="en-US" sz="1800" dirty="0"/>
          </a:p>
        </p:txBody>
      </p:sp>
      <p:sp>
        <p:nvSpPr>
          <p:cNvPr id="4" name="text-1"/>
          <p:cNvSpPr txBox="1"/>
          <p:nvPr/>
        </p:nvSpPr>
        <p:spPr>
          <a:xfrm>
            <a:off x="731520" y="3520440"/>
            <a:ext cx="7315200" cy="320040"/>
          </a:xfrm>
          <a:prstGeom prst="rect">
            <a:avLst/>
          </a:prstGeom>
          <a:noFill/>
          <a:ln/>
        </p:spPr>
        <p:txBody>
          <a:bodyPr wrap="square" lIns="0" tIns="0" rIns="0" bIns="0" rtlCol="0" anchor="t"/>
          <a:lstStyle/>
          <a:p>
            <a:pPr indent="0" marL="0">
              <a:buNone/>
            </a:pPr>
            <a:r>
              <a:rPr lang="en-US" sz="1400" dirty="0">
                <a:solidFill>
                  <a:schemeClr val="accent5"/>
                </a:solidFill>
              </a:rPr>
              <a:t>Final Project Presentation  |  October 2026</a:t>
            </a:r>
            <a:endParaRPr lang="en-US" sz="1400" dirty="0"/>
          </a:p>
        </p:txBody>
      </p:sp>
      <p:sp>
        <p:nvSpPr>
          <p:cNvPr id="5" name="card-2"/>
          <p:cNvSpPr/>
          <p:nvPr/>
        </p:nvSpPr>
        <p:spPr>
          <a:xfrm>
            <a:off x="548640" y="4114800"/>
            <a:ext cx="2606040" cy="2057400"/>
          </a:xfrm>
          <a:prstGeom prst="roundRect">
            <a:avLst>
              <a:gd name="adj" fmla="val 4444"/>
            </a:avLst>
          </a:prstGeom>
          <a:solidFill>
            <a:schemeClr val="tx2"/>
          </a:solidFill>
          <a:ln/>
        </p:spPr>
      </p:sp>
      <p:sp>
        <p:nvSpPr>
          <p:cNvPr id="6" name="text-3"/>
          <p:cNvSpPr txBox="1"/>
          <p:nvPr/>
        </p:nvSpPr>
        <p:spPr>
          <a:xfrm>
            <a:off x="731520" y="4297680"/>
            <a:ext cx="2240280" cy="365760"/>
          </a:xfrm>
          <a:prstGeom prst="rect">
            <a:avLst/>
          </a:prstGeom>
          <a:noFill/>
          <a:ln/>
        </p:spPr>
        <p:txBody>
          <a:bodyPr wrap="square" lIns="0" tIns="0" rIns="0" bIns="0" rtlCol="0" anchor="t"/>
          <a:lstStyle/>
          <a:p>
            <a:pPr indent="0" marL="0">
              <a:buNone/>
            </a:pPr>
            <a:r>
              <a:rPr lang="en-US" sz="1800" b="1" dirty="0">
                <a:solidFill>
                  <a:schemeClr val="bg1"/>
                </a:solidFill>
              </a:rPr>
              <a:t>Rishav Ranjan</a:t>
            </a:r>
            <a:endParaRPr lang="en-US" sz="1800" dirty="0"/>
          </a:p>
        </p:txBody>
      </p:sp>
      <p:sp>
        <p:nvSpPr>
          <p:cNvPr id="7" name="text-4"/>
          <p:cNvSpPr txBox="1"/>
          <p:nvPr/>
        </p:nvSpPr>
        <p:spPr>
          <a:xfrm>
            <a:off x="731520" y="4681728"/>
            <a:ext cx="2240280" cy="274320"/>
          </a:xfrm>
          <a:prstGeom prst="rect">
            <a:avLst/>
          </a:prstGeom>
          <a:noFill/>
          <a:ln/>
        </p:spPr>
        <p:txBody>
          <a:bodyPr wrap="square" lIns="0" tIns="0" rIns="0" bIns="0" rtlCol="0" anchor="t"/>
          <a:lstStyle/>
          <a:p>
            <a:pPr indent="0" marL="0">
              <a:buNone/>
            </a:pPr>
            <a:r>
              <a:rPr lang="en-US" sz="1400" dirty="0">
                <a:solidFill>
                  <a:schemeClr val="accent3"/>
                </a:solidFill>
              </a:rPr>
              <a:t>Reg. No. 20233345</a:t>
            </a:r>
            <a:endParaRPr lang="en-US" sz="1400" dirty="0"/>
          </a:p>
        </p:txBody>
      </p:sp>
      <p:sp>
        <p:nvSpPr>
          <p:cNvPr id="8" name="text-5"/>
          <p:cNvSpPr txBox="1"/>
          <p:nvPr/>
        </p:nvSpPr>
        <p:spPr>
          <a:xfrm>
            <a:off x="731520" y="5074920"/>
            <a:ext cx="2240280" cy="1005840"/>
          </a:xfrm>
          <a:prstGeom prst="rect">
            <a:avLst/>
          </a:prstGeom>
          <a:noFill/>
          <a:ln/>
        </p:spPr>
        <p:txBody>
          <a:bodyPr wrap="square" lIns="0" tIns="0" rIns="0" bIns="0" rtlCol="0" anchor="t"/>
          <a:lstStyle/>
          <a:p>
            <a:pPr indent="0" marL="0">
              <a:buNone/>
            </a:pPr>
            <a:r>
              <a:rPr lang="en-US" sz="1200" dirty="0">
                <a:solidFill>
                  <a:schemeClr val="bg1"/>
                </a:solidFill>
              </a:rPr>
              <a:t>Dataset preparation, preprocessing, Frontend Design and Integration</a:t>
            </a:r>
            <a:endParaRPr lang="en-US" sz="1200" dirty="0"/>
          </a:p>
        </p:txBody>
      </p:sp>
      <p:sp>
        <p:nvSpPr>
          <p:cNvPr id="9" name="card-6"/>
          <p:cNvSpPr/>
          <p:nvPr/>
        </p:nvSpPr>
        <p:spPr>
          <a:xfrm>
            <a:off x="3377184" y="4114800"/>
            <a:ext cx="2606040" cy="2057400"/>
          </a:xfrm>
          <a:prstGeom prst="roundRect">
            <a:avLst>
              <a:gd name="adj" fmla="val 4444"/>
            </a:avLst>
          </a:prstGeom>
          <a:solidFill>
            <a:schemeClr val="tx2"/>
          </a:solidFill>
          <a:ln/>
        </p:spPr>
      </p:sp>
      <p:sp>
        <p:nvSpPr>
          <p:cNvPr id="10" name="text-7"/>
          <p:cNvSpPr txBox="1"/>
          <p:nvPr/>
        </p:nvSpPr>
        <p:spPr>
          <a:xfrm>
            <a:off x="3560064" y="4297680"/>
            <a:ext cx="2240280" cy="365760"/>
          </a:xfrm>
          <a:prstGeom prst="rect">
            <a:avLst/>
          </a:prstGeom>
          <a:noFill/>
          <a:ln/>
        </p:spPr>
        <p:txBody>
          <a:bodyPr wrap="square" lIns="0" tIns="0" rIns="0" bIns="0" rtlCol="0" anchor="t"/>
          <a:lstStyle/>
          <a:p>
            <a:pPr indent="0" marL="0">
              <a:buNone/>
            </a:pPr>
            <a:r>
              <a:rPr lang="en-US" sz="1800" b="1" dirty="0">
                <a:solidFill>
                  <a:schemeClr val="bg1"/>
                </a:solidFill>
              </a:rPr>
              <a:t>Manu Singhal</a:t>
            </a:r>
            <a:endParaRPr lang="en-US" sz="1800" dirty="0"/>
          </a:p>
        </p:txBody>
      </p:sp>
      <p:sp>
        <p:nvSpPr>
          <p:cNvPr id="11" name="text-8"/>
          <p:cNvSpPr txBox="1"/>
          <p:nvPr/>
        </p:nvSpPr>
        <p:spPr>
          <a:xfrm>
            <a:off x="3560064" y="4681728"/>
            <a:ext cx="2240280" cy="274320"/>
          </a:xfrm>
          <a:prstGeom prst="rect">
            <a:avLst/>
          </a:prstGeom>
          <a:noFill/>
          <a:ln/>
        </p:spPr>
        <p:txBody>
          <a:bodyPr wrap="square" lIns="0" tIns="0" rIns="0" bIns="0" rtlCol="0" anchor="t"/>
          <a:lstStyle/>
          <a:p>
            <a:pPr indent="0" marL="0">
              <a:buNone/>
            </a:pPr>
            <a:r>
              <a:rPr lang="en-US" sz="1400" dirty="0">
                <a:solidFill>
                  <a:schemeClr val="accent3"/>
                </a:solidFill>
              </a:rPr>
              <a:t>Reg. No. 20233533</a:t>
            </a:r>
            <a:endParaRPr lang="en-US" sz="1400" dirty="0"/>
          </a:p>
        </p:txBody>
      </p:sp>
      <p:sp>
        <p:nvSpPr>
          <p:cNvPr id="12" name="text-9"/>
          <p:cNvSpPr txBox="1"/>
          <p:nvPr/>
        </p:nvSpPr>
        <p:spPr>
          <a:xfrm>
            <a:off x="3560064" y="5074920"/>
            <a:ext cx="2240280" cy="1005840"/>
          </a:xfrm>
          <a:prstGeom prst="rect">
            <a:avLst/>
          </a:prstGeom>
          <a:noFill/>
          <a:ln/>
        </p:spPr>
        <p:txBody>
          <a:bodyPr wrap="square" lIns="0" tIns="0" rIns="0" bIns="0" rtlCol="0" anchor="t"/>
          <a:lstStyle/>
          <a:p>
            <a:pPr indent="0" marL="0">
              <a:buNone/>
            </a:pPr>
            <a:r>
              <a:rPr lang="en-US" sz="1200" dirty="0">
                <a:solidFill>
                  <a:schemeClr val="bg1"/>
                </a:solidFill>
              </a:rPr>
              <a:t>SIFT feature matching and RANSAC</a:t>
            </a:r>
            <a:endParaRPr lang="en-US" sz="1200" dirty="0"/>
          </a:p>
        </p:txBody>
      </p:sp>
      <p:sp>
        <p:nvSpPr>
          <p:cNvPr id="13" name="card-10"/>
          <p:cNvSpPr/>
          <p:nvPr/>
        </p:nvSpPr>
        <p:spPr>
          <a:xfrm>
            <a:off x="6205728" y="4114800"/>
            <a:ext cx="2606040" cy="2057400"/>
          </a:xfrm>
          <a:prstGeom prst="roundRect">
            <a:avLst>
              <a:gd name="adj" fmla="val 4444"/>
            </a:avLst>
          </a:prstGeom>
          <a:solidFill>
            <a:schemeClr val="tx2"/>
          </a:solidFill>
          <a:ln/>
        </p:spPr>
      </p:sp>
      <p:sp>
        <p:nvSpPr>
          <p:cNvPr id="14" name="text-11"/>
          <p:cNvSpPr txBox="1"/>
          <p:nvPr/>
        </p:nvSpPr>
        <p:spPr>
          <a:xfrm>
            <a:off x="6388608" y="4297680"/>
            <a:ext cx="2240280" cy="365760"/>
          </a:xfrm>
          <a:prstGeom prst="rect">
            <a:avLst/>
          </a:prstGeom>
          <a:noFill/>
          <a:ln/>
        </p:spPr>
        <p:txBody>
          <a:bodyPr wrap="square" lIns="0" tIns="0" rIns="0" bIns="0" rtlCol="0" anchor="t"/>
          <a:lstStyle/>
          <a:p>
            <a:pPr indent="0" marL="0">
              <a:buNone/>
            </a:pPr>
            <a:r>
              <a:rPr lang="en-US" sz="1800" b="1" dirty="0">
                <a:solidFill>
                  <a:schemeClr val="bg1"/>
                </a:solidFill>
              </a:rPr>
              <a:t>Rishabh Jain</a:t>
            </a:r>
            <a:endParaRPr lang="en-US" sz="1800" dirty="0"/>
          </a:p>
        </p:txBody>
      </p:sp>
      <p:sp>
        <p:nvSpPr>
          <p:cNvPr id="15" name="text-12"/>
          <p:cNvSpPr txBox="1"/>
          <p:nvPr/>
        </p:nvSpPr>
        <p:spPr>
          <a:xfrm>
            <a:off x="6388608" y="4681728"/>
            <a:ext cx="2240280" cy="274320"/>
          </a:xfrm>
          <a:prstGeom prst="rect">
            <a:avLst/>
          </a:prstGeom>
          <a:noFill/>
          <a:ln/>
        </p:spPr>
        <p:txBody>
          <a:bodyPr wrap="square" lIns="0" tIns="0" rIns="0" bIns="0" rtlCol="0" anchor="t"/>
          <a:lstStyle/>
          <a:p>
            <a:pPr indent="0" marL="0">
              <a:buNone/>
            </a:pPr>
            <a:r>
              <a:rPr lang="en-US" sz="1400" dirty="0">
                <a:solidFill>
                  <a:schemeClr val="accent3"/>
                </a:solidFill>
              </a:rPr>
              <a:t>Reg. No. 20233232</a:t>
            </a:r>
            <a:endParaRPr lang="en-US" sz="1400" dirty="0"/>
          </a:p>
        </p:txBody>
      </p:sp>
      <p:sp>
        <p:nvSpPr>
          <p:cNvPr id="16" name="text-13"/>
          <p:cNvSpPr txBox="1"/>
          <p:nvPr/>
        </p:nvSpPr>
        <p:spPr>
          <a:xfrm>
            <a:off x="6388608" y="5074920"/>
            <a:ext cx="2240280" cy="1005840"/>
          </a:xfrm>
          <a:prstGeom prst="rect">
            <a:avLst/>
          </a:prstGeom>
          <a:noFill/>
          <a:ln/>
        </p:spPr>
        <p:txBody>
          <a:bodyPr wrap="square" lIns="0" tIns="0" rIns="0" bIns="0" rtlCol="0" anchor="t"/>
          <a:lstStyle/>
          <a:p>
            <a:pPr indent="0" marL="0">
              <a:buNone/>
            </a:pPr>
            <a:r>
              <a:rPr lang="en-US" sz="1200" dirty="0">
                <a:solidFill>
                  <a:schemeClr val="bg1"/>
                </a:solidFill>
              </a:rPr>
              <a:t>Evaluation, experiments, and visualizations</a:t>
            </a:r>
            <a:endParaRPr lang="en-US" sz="1200" dirty="0"/>
          </a:p>
        </p:txBody>
      </p:sp>
      <p:sp>
        <p:nvSpPr>
          <p:cNvPr id="17" name="card-14"/>
          <p:cNvSpPr/>
          <p:nvPr/>
        </p:nvSpPr>
        <p:spPr>
          <a:xfrm>
            <a:off x="9034272" y="4114800"/>
            <a:ext cx="2606040" cy="2057400"/>
          </a:xfrm>
          <a:prstGeom prst="roundRect">
            <a:avLst>
              <a:gd name="adj" fmla="val 4444"/>
            </a:avLst>
          </a:prstGeom>
          <a:solidFill>
            <a:schemeClr val="tx2"/>
          </a:solidFill>
          <a:ln/>
        </p:spPr>
      </p:sp>
      <p:sp>
        <p:nvSpPr>
          <p:cNvPr id="18" name="text-15"/>
          <p:cNvSpPr txBox="1"/>
          <p:nvPr/>
        </p:nvSpPr>
        <p:spPr>
          <a:xfrm>
            <a:off x="9217152" y="4297680"/>
            <a:ext cx="2240280" cy="365760"/>
          </a:xfrm>
          <a:prstGeom prst="rect">
            <a:avLst/>
          </a:prstGeom>
          <a:noFill/>
          <a:ln/>
        </p:spPr>
        <p:txBody>
          <a:bodyPr wrap="square" lIns="0" tIns="0" rIns="0" bIns="0" rtlCol="0" anchor="t"/>
          <a:lstStyle/>
          <a:p>
            <a:pPr indent="0" marL="0">
              <a:buNone/>
            </a:pPr>
            <a:r>
              <a:rPr lang="en-US" sz="1800" b="1" dirty="0">
                <a:solidFill>
                  <a:schemeClr val="bg1"/>
                </a:solidFill>
              </a:rPr>
              <a:t>Nakul Tiwari</a:t>
            </a:r>
            <a:endParaRPr lang="en-US" sz="1800" dirty="0"/>
          </a:p>
        </p:txBody>
      </p:sp>
      <p:sp>
        <p:nvSpPr>
          <p:cNvPr id="19" name="text-16"/>
          <p:cNvSpPr txBox="1"/>
          <p:nvPr/>
        </p:nvSpPr>
        <p:spPr>
          <a:xfrm>
            <a:off x="9217152" y="4681728"/>
            <a:ext cx="2240280" cy="274320"/>
          </a:xfrm>
          <a:prstGeom prst="rect">
            <a:avLst/>
          </a:prstGeom>
          <a:noFill/>
          <a:ln/>
        </p:spPr>
        <p:txBody>
          <a:bodyPr wrap="square" lIns="0" tIns="0" rIns="0" bIns="0" rtlCol="0" anchor="t"/>
          <a:lstStyle/>
          <a:p>
            <a:pPr indent="0" marL="0">
              <a:buNone/>
            </a:pPr>
            <a:r>
              <a:rPr lang="en-US" sz="1400" dirty="0">
                <a:solidFill>
                  <a:schemeClr val="accent3"/>
                </a:solidFill>
              </a:rPr>
              <a:t>Reg. No. 20233194</a:t>
            </a:r>
            <a:endParaRPr lang="en-US" sz="1400" dirty="0"/>
          </a:p>
        </p:txBody>
      </p:sp>
      <p:sp>
        <p:nvSpPr>
          <p:cNvPr id="20" name="text-17"/>
          <p:cNvSpPr txBox="1"/>
          <p:nvPr/>
        </p:nvSpPr>
        <p:spPr>
          <a:xfrm>
            <a:off x="9217152" y="5074920"/>
            <a:ext cx="2240280" cy="1005840"/>
          </a:xfrm>
          <a:prstGeom prst="rect">
            <a:avLst/>
          </a:prstGeom>
          <a:noFill/>
          <a:ln/>
        </p:spPr>
        <p:txBody>
          <a:bodyPr wrap="square" lIns="0" tIns="0" rIns="0" bIns="0" rtlCol="0" anchor="t"/>
          <a:lstStyle/>
          <a:p>
            <a:pPr indent="0" marL="0">
              <a:buNone/>
            </a:pPr>
            <a:r>
              <a:rPr lang="en-US" sz="1200" dirty="0">
                <a:solidFill>
                  <a:schemeClr val="bg1"/>
                </a:solidFill>
              </a:rPr>
              <a:t>Testing, report, and presentation</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Outline</a:t>
            </a:r>
            <a:endParaRPr lang="en-US" sz="3600" dirty="0"/>
          </a:p>
        </p:txBody>
      </p:sp>
      <p:sp>
        <p:nvSpPr>
          <p:cNvPr id="3" name="card-18"/>
          <p:cNvSpPr/>
          <p:nvPr/>
        </p:nvSpPr>
        <p:spPr>
          <a:xfrm>
            <a:off x="548640" y="1554480"/>
            <a:ext cx="3566160" cy="2103120"/>
          </a:xfrm>
          <a:prstGeom prst="roundRect">
            <a:avLst>
              <a:gd name="adj" fmla="val 4348"/>
            </a:avLst>
          </a:prstGeom>
          <a:solidFill>
            <a:schemeClr val="bg2"/>
          </a:solidFill>
          <a:ln/>
        </p:spPr>
      </p:sp>
      <p:sp>
        <p:nvSpPr>
          <p:cNvPr id="4" name="icon-bg-19"/>
          <p:cNvSpPr/>
          <p:nvPr/>
        </p:nvSpPr>
        <p:spPr>
          <a:xfrm>
            <a:off x="822960" y="1828800"/>
            <a:ext cx="640080" cy="640080"/>
          </a:xfrm>
          <a:prstGeom prst="ellipse">
            <a:avLst/>
          </a:prstGeom>
          <a:solidFill>
            <a:schemeClr val="accent1"/>
          </a:solidFill>
          <a:ln/>
        </p:spPr>
      </p:sp>
      <p:pic>
        <p:nvPicPr>
          <p:cNvPr id="5" name="icon-20" descr="Search icon">    </p:cNvPr>
          <p:cNvPicPr>
            <a:picLocks noChangeAspect="1"/>
          </p:cNvPicPr>
          <p:nvPr/>
        </p:nvPicPr>
        <p:blipFill>
          <a:blip r:embed="rId1"/>
          <a:stretch>
            <a:fillRect/>
          </a:stretch>
        </p:blipFill>
        <p:spPr>
          <a:xfrm>
            <a:off x="995782" y="2001622"/>
            <a:ext cx="294437" cy="294437"/>
          </a:xfrm>
          <a:prstGeom prst="rect">
            <a:avLst/>
          </a:prstGeom>
        </p:spPr>
      </p:pic>
      <p:sp>
        <p:nvSpPr>
          <p:cNvPr id="6" name="text-21"/>
          <p:cNvSpPr txBox="1"/>
          <p:nvPr/>
        </p:nvSpPr>
        <p:spPr>
          <a:xfrm>
            <a:off x="3200400" y="1828800"/>
            <a:ext cx="640080" cy="640080"/>
          </a:xfrm>
          <a:prstGeom prst="rect">
            <a:avLst/>
          </a:prstGeom>
          <a:noFill/>
          <a:ln/>
        </p:spPr>
        <p:txBody>
          <a:bodyPr wrap="square" lIns="0" tIns="0" rIns="0" bIns="0" rtlCol="0" anchor="ctr"/>
          <a:lstStyle/>
          <a:p>
            <a:pPr algn="r" indent="0" marL="0">
              <a:buNone/>
            </a:pPr>
            <a:r>
              <a:rPr lang="en-US" sz="2800" b="1" dirty="0">
                <a:solidFill>
                  <a:schemeClr val="accent5"/>
                </a:solidFill>
              </a:rPr>
              <a:t>01</a:t>
            </a:r>
            <a:endParaRPr lang="en-US" sz="2800" dirty="0"/>
          </a:p>
        </p:txBody>
      </p:sp>
      <p:sp>
        <p:nvSpPr>
          <p:cNvPr id="7" name="text-22"/>
          <p:cNvSpPr txBox="1"/>
          <p:nvPr/>
        </p:nvSpPr>
        <p:spPr>
          <a:xfrm>
            <a:off x="822960" y="2606040"/>
            <a:ext cx="3017520" cy="365760"/>
          </a:xfrm>
          <a:prstGeom prst="rect">
            <a:avLst/>
          </a:prstGeom>
          <a:noFill/>
          <a:ln/>
        </p:spPr>
        <p:txBody>
          <a:bodyPr wrap="square" lIns="0" tIns="0" rIns="0" bIns="0" rtlCol="0" anchor="t"/>
          <a:lstStyle/>
          <a:p>
            <a:pPr indent="0" marL="0">
              <a:buNone/>
            </a:pPr>
            <a:r>
              <a:rPr lang="en-US" sz="2000" b="1" dirty="0">
                <a:solidFill>
                  <a:schemeClr val="tx1"/>
                </a:solidFill>
              </a:rPr>
              <a:t>Introduction</a:t>
            </a:r>
            <a:endParaRPr lang="en-US" sz="2000" dirty="0"/>
          </a:p>
        </p:txBody>
      </p:sp>
      <p:sp>
        <p:nvSpPr>
          <p:cNvPr id="8" name="text-23"/>
          <p:cNvSpPr txBox="1"/>
          <p:nvPr/>
        </p:nvSpPr>
        <p:spPr>
          <a:xfrm>
            <a:off x="822960" y="3017520"/>
            <a:ext cx="3017520" cy="548640"/>
          </a:xfrm>
          <a:prstGeom prst="rect">
            <a:avLst/>
          </a:prstGeom>
          <a:noFill/>
          <a:ln/>
        </p:spPr>
        <p:txBody>
          <a:bodyPr wrap="square" lIns="0" tIns="0" rIns="0" bIns="0" rtlCol="0" anchor="t"/>
          <a:lstStyle/>
          <a:p>
            <a:pPr indent="0" marL="0">
              <a:buNone/>
            </a:pPr>
            <a:r>
              <a:rPr lang="en-US" sz="1400" dirty="0">
                <a:solidFill>
                  <a:schemeClr val="accent4"/>
                </a:solidFill>
              </a:rPr>
              <a:t>Abstract, copy-move forgery, objectives</a:t>
            </a:r>
            <a:endParaRPr lang="en-US" sz="1400" dirty="0"/>
          </a:p>
        </p:txBody>
      </p:sp>
      <p:sp>
        <p:nvSpPr>
          <p:cNvPr id="9" name="card-24"/>
          <p:cNvSpPr/>
          <p:nvPr/>
        </p:nvSpPr>
        <p:spPr>
          <a:xfrm>
            <a:off x="4311396" y="1554480"/>
            <a:ext cx="3566160" cy="2103120"/>
          </a:xfrm>
          <a:prstGeom prst="roundRect">
            <a:avLst>
              <a:gd name="adj" fmla="val 4348"/>
            </a:avLst>
          </a:prstGeom>
          <a:solidFill>
            <a:schemeClr val="bg2"/>
          </a:solidFill>
          <a:ln/>
        </p:spPr>
      </p:sp>
      <p:sp>
        <p:nvSpPr>
          <p:cNvPr id="10" name="icon-bg-25"/>
          <p:cNvSpPr/>
          <p:nvPr/>
        </p:nvSpPr>
        <p:spPr>
          <a:xfrm>
            <a:off x="4585716" y="1828800"/>
            <a:ext cx="640080" cy="640080"/>
          </a:xfrm>
          <a:prstGeom prst="ellipse">
            <a:avLst/>
          </a:prstGeom>
          <a:solidFill>
            <a:schemeClr val="accent1"/>
          </a:solidFill>
          <a:ln/>
        </p:spPr>
      </p:sp>
      <p:pic>
        <p:nvPicPr>
          <p:cNvPr id="11" name="icon-26" descr="Database icon">    </p:cNvPr>
          <p:cNvPicPr>
            <a:picLocks noChangeAspect="1"/>
          </p:cNvPicPr>
          <p:nvPr/>
        </p:nvPicPr>
        <p:blipFill>
          <a:blip r:embed="rId2"/>
          <a:stretch>
            <a:fillRect/>
          </a:stretch>
        </p:blipFill>
        <p:spPr>
          <a:xfrm>
            <a:off x="4758538" y="2001622"/>
            <a:ext cx="294437" cy="294437"/>
          </a:xfrm>
          <a:prstGeom prst="rect">
            <a:avLst/>
          </a:prstGeom>
        </p:spPr>
      </p:pic>
      <p:sp>
        <p:nvSpPr>
          <p:cNvPr id="12" name="text-27"/>
          <p:cNvSpPr txBox="1"/>
          <p:nvPr/>
        </p:nvSpPr>
        <p:spPr>
          <a:xfrm>
            <a:off x="6963156" y="1828800"/>
            <a:ext cx="640080" cy="640080"/>
          </a:xfrm>
          <a:prstGeom prst="rect">
            <a:avLst/>
          </a:prstGeom>
          <a:noFill/>
          <a:ln/>
        </p:spPr>
        <p:txBody>
          <a:bodyPr wrap="square" lIns="0" tIns="0" rIns="0" bIns="0" rtlCol="0" anchor="ctr"/>
          <a:lstStyle/>
          <a:p>
            <a:pPr algn="r" indent="0" marL="0">
              <a:buNone/>
            </a:pPr>
            <a:r>
              <a:rPr lang="en-US" sz="2800" b="1" dirty="0">
                <a:solidFill>
                  <a:schemeClr val="accent5"/>
                </a:solidFill>
              </a:rPr>
              <a:t>02</a:t>
            </a:r>
            <a:endParaRPr lang="en-US" sz="2800" dirty="0"/>
          </a:p>
        </p:txBody>
      </p:sp>
      <p:sp>
        <p:nvSpPr>
          <p:cNvPr id="13" name="text-28"/>
          <p:cNvSpPr txBox="1"/>
          <p:nvPr/>
        </p:nvSpPr>
        <p:spPr>
          <a:xfrm>
            <a:off x="4585716" y="2606040"/>
            <a:ext cx="3017520" cy="365760"/>
          </a:xfrm>
          <a:prstGeom prst="rect">
            <a:avLst/>
          </a:prstGeom>
          <a:noFill/>
          <a:ln/>
        </p:spPr>
        <p:txBody>
          <a:bodyPr wrap="square" lIns="0" tIns="0" rIns="0" bIns="0" rtlCol="0" anchor="t"/>
          <a:lstStyle/>
          <a:p>
            <a:pPr indent="0" marL="0">
              <a:buNone/>
            </a:pPr>
            <a:r>
              <a:rPr lang="en-US" sz="2000" b="1" dirty="0">
                <a:solidFill>
                  <a:schemeClr val="tx1"/>
                </a:solidFill>
              </a:rPr>
              <a:t>Dataset and Design</a:t>
            </a:r>
            <a:endParaRPr lang="en-US" sz="2000" dirty="0"/>
          </a:p>
        </p:txBody>
      </p:sp>
      <p:sp>
        <p:nvSpPr>
          <p:cNvPr id="14" name="text-29"/>
          <p:cNvSpPr txBox="1"/>
          <p:nvPr/>
        </p:nvSpPr>
        <p:spPr>
          <a:xfrm>
            <a:off x="4585716" y="3017520"/>
            <a:ext cx="3017520" cy="548640"/>
          </a:xfrm>
          <a:prstGeom prst="rect">
            <a:avLst/>
          </a:prstGeom>
          <a:noFill/>
          <a:ln/>
        </p:spPr>
        <p:txBody>
          <a:bodyPr wrap="square" lIns="0" tIns="0" rIns="0" bIns="0" rtlCol="0" anchor="t"/>
          <a:lstStyle/>
          <a:p>
            <a:pPr indent="0" marL="0">
              <a:buNone/>
            </a:pPr>
            <a:r>
              <a:rPr lang="en-US" sz="1400" dirty="0">
                <a:solidFill>
                  <a:schemeClr val="accent4"/>
                </a:solidFill>
              </a:rPr>
              <a:t>CoMoFoD, preprocessing, architecture</a:t>
            </a:r>
            <a:endParaRPr lang="en-US" sz="1400" dirty="0"/>
          </a:p>
        </p:txBody>
      </p:sp>
      <p:sp>
        <p:nvSpPr>
          <p:cNvPr id="15" name="card-30"/>
          <p:cNvSpPr/>
          <p:nvPr/>
        </p:nvSpPr>
        <p:spPr>
          <a:xfrm>
            <a:off x="8074152" y="1554480"/>
            <a:ext cx="3566160" cy="2103120"/>
          </a:xfrm>
          <a:prstGeom prst="roundRect">
            <a:avLst>
              <a:gd name="adj" fmla="val 4348"/>
            </a:avLst>
          </a:prstGeom>
          <a:solidFill>
            <a:schemeClr val="bg2"/>
          </a:solidFill>
          <a:ln/>
        </p:spPr>
      </p:sp>
      <p:sp>
        <p:nvSpPr>
          <p:cNvPr id="16" name="icon-bg-31"/>
          <p:cNvSpPr/>
          <p:nvPr/>
        </p:nvSpPr>
        <p:spPr>
          <a:xfrm>
            <a:off x="8348472" y="1828800"/>
            <a:ext cx="640080" cy="640080"/>
          </a:xfrm>
          <a:prstGeom prst="ellipse">
            <a:avLst/>
          </a:prstGeom>
          <a:solidFill>
            <a:schemeClr val="accent1"/>
          </a:solidFill>
          <a:ln/>
        </p:spPr>
      </p:sp>
      <p:pic>
        <p:nvPicPr>
          <p:cNvPr id="17" name="icon-32" descr="Route icon">    </p:cNvPr>
          <p:cNvPicPr>
            <a:picLocks noChangeAspect="1"/>
          </p:cNvPicPr>
          <p:nvPr/>
        </p:nvPicPr>
        <p:blipFill>
          <a:blip r:embed="rId3"/>
          <a:stretch>
            <a:fillRect/>
          </a:stretch>
        </p:blipFill>
        <p:spPr>
          <a:xfrm>
            <a:off x="8521294" y="2001622"/>
            <a:ext cx="294437" cy="294437"/>
          </a:xfrm>
          <a:prstGeom prst="rect">
            <a:avLst/>
          </a:prstGeom>
        </p:spPr>
      </p:pic>
      <p:sp>
        <p:nvSpPr>
          <p:cNvPr id="18" name="text-33"/>
          <p:cNvSpPr txBox="1"/>
          <p:nvPr/>
        </p:nvSpPr>
        <p:spPr>
          <a:xfrm>
            <a:off x="10725912" y="1828800"/>
            <a:ext cx="640080" cy="640080"/>
          </a:xfrm>
          <a:prstGeom prst="rect">
            <a:avLst/>
          </a:prstGeom>
          <a:noFill/>
          <a:ln/>
        </p:spPr>
        <p:txBody>
          <a:bodyPr wrap="square" lIns="0" tIns="0" rIns="0" bIns="0" rtlCol="0" anchor="ctr"/>
          <a:lstStyle/>
          <a:p>
            <a:pPr algn="r" indent="0" marL="0">
              <a:buNone/>
            </a:pPr>
            <a:r>
              <a:rPr lang="en-US" sz="2800" b="1" dirty="0">
                <a:solidFill>
                  <a:schemeClr val="accent5"/>
                </a:solidFill>
              </a:rPr>
              <a:t>03</a:t>
            </a:r>
            <a:endParaRPr lang="en-US" sz="2800" dirty="0"/>
          </a:p>
        </p:txBody>
      </p:sp>
      <p:sp>
        <p:nvSpPr>
          <p:cNvPr id="19" name="text-34"/>
          <p:cNvSpPr txBox="1"/>
          <p:nvPr/>
        </p:nvSpPr>
        <p:spPr>
          <a:xfrm>
            <a:off x="8348472" y="2606040"/>
            <a:ext cx="3017520" cy="365760"/>
          </a:xfrm>
          <a:prstGeom prst="rect">
            <a:avLst/>
          </a:prstGeom>
          <a:noFill/>
          <a:ln/>
        </p:spPr>
        <p:txBody>
          <a:bodyPr wrap="square" lIns="0" tIns="0" rIns="0" bIns="0" rtlCol="0" anchor="t"/>
          <a:lstStyle/>
          <a:p>
            <a:pPr indent="0" marL="0">
              <a:buNone/>
            </a:pPr>
            <a:r>
              <a:rPr lang="en-US" sz="2000" b="1" dirty="0">
                <a:solidFill>
                  <a:schemeClr val="tx1"/>
                </a:solidFill>
              </a:rPr>
              <a:t>Methodology</a:t>
            </a:r>
            <a:endParaRPr lang="en-US" sz="2000" dirty="0"/>
          </a:p>
        </p:txBody>
      </p:sp>
      <p:sp>
        <p:nvSpPr>
          <p:cNvPr id="20" name="text-35"/>
          <p:cNvSpPr txBox="1"/>
          <p:nvPr/>
        </p:nvSpPr>
        <p:spPr>
          <a:xfrm>
            <a:off x="8348472" y="3017520"/>
            <a:ext cx="3017520" cy="548640"/>
          </a:xfrm>
          <a:prstGeom prst="rect">
            <a:avLst/>
          </a:prstGeom>
          <a:noFill/>
          <a:ln/>
        </p:spPr>
        <p:txBody>
          <a:bodyPr wrap="square" lIns="0" tIns="0" rIns="0" bIns="0" rtlCol="0" anchor="t"/>
          <a:lstStyle/>
          <a:p>
            <a:pPr indent="0" marL="0">
              <a:buNone/>
            </a:pPr>
            <a:r>
              <a:rPr lang="en-US" sz="1400" dirty="0">
                <a:solidFill>
                  <a:schemeClr val="accent4"/>
                </a:solidFill>
              </a:rPr>
              <a:t>SIFT, self-matching, ratio test, RANSAC</a:t>
            </a:r>
            <a:endParaRPr lang="en-US" sz="1400" dirty="0"/>
          </a:p>
        </p:txBody>
      </p:sp>
      <p:sp>
        <p:nvSpPr>
          <p:cNvPr id="21" name="card-36"/>
          <p:cNvSpPr/>
          <p:nvPr/>
        </p:nvSpPr>
        <p:spPr>
          <a:xfrm>
            <a:off x="548640" y="3931920"/>
            <a:ext cx="3566160" cy="2103120"/>
          </a:xfrm>
          <a:prstGeom prst="roundRect">
            <a:avLst>
              <a:gd name="adj" fmla="val 4348"/>
            </a:avLst>
          </a:prstGeom>
          <a:solidFill>
            <a:schemeClr val="bg2"/>
          </a:solidFill>
          <a:ln/>
        </p:spPr>
      </p:sp>
      <p:sp>
        <p:nvSpPr>
          <p:cNvPr id="22" name="icon-bg-37"/>
          <p:cNvSpPr/>
          <p:nvPr/>
        </p:nvSpPr>
        <p:spPr>
          <a:xfrm>
            <a:off x="822960" y="4206240"/>
            <a:ext cx="640080" cy="640080"/>
          </a:xfrm>
          <a:prstGeom prst="ellipse">
            <a:avLst/>
          </a:prstGeom>
          <a:solidFill>
            <a:schemeClr val="accent1"/>
          </a:solidFill>
          <a:ln/>
        </p:spPr>
      </p:sp>
      <p:pic>
        <p:nvPicPr>
          <p:cNvPr id="23" name="icon-38" descr="Desktop icon">    </p:cNvPr>
          <p:cNvPicPr>
            <a:picLocks noChangeAspect="1"/>
          </p:cNvPicPr>
          <p:nvPr/>
        </p:nvPicPr>
        <p:blipFill>
          <a:blip r:embed="rId4"/>
          <a:stretch>
            <a:fillRect/>
          </a:stretch>
        </p:blipFill>
        <p:spPr>
          <a:xfrm>
            <a:off x="995782" y="4379062"/>
            <a:ext cx="294437" cy="294437"/>
          </a:xfrm>
          <a:prstGeom prst="rect">
            <a:avLst/>
          </a:prstGeom>
        </p:spPr>
      </p:pic>
      <p:sp>
        <p:nvSpPr>
          <p:cNvPr id="24" name="text-39"/>
          <p:cNvSpPr txBox="1"/>
          <p:nvPr/>
        </p:nvSpPr>
        <p:spPr>
          <a:xfrm>
            <a:off x="3200400" y="4206240"/>
            <a:ext cx="640080" cy="640080"/>
          </a:xfrm>
          <a:prstGeom prst="rect">
            <a:avLst/>
          </a:prstGeom>
          <a:noFill/>
          <a:ln/>
        </p:spPr>
        <p:txBody>
          <a:bodyPr wrap="square" lIns="0" tIns="0" rIns="0" bIns="0" rtlCol="0" anchor="ctr"/>
          <a:lstStyle/>
          <a:p>
            <a:pPr algn="r" indent="0" marL="0">
              <a:buNone/>
            </a:pPr>
            <a:r>
              <a:rPr lang="en-US" sz="2800" b="1" dirty="0">
                <a:solidFill>
                  <a:schemeClr val="accent5"/>
                </a:solidFill>
              </a:rPr>
              <a:t>04</a:t>
            </a:r>
            <a:endParaRPr lang="en-US" sz="2800" dirty="0"/>
          </a:p>
        </p:txBody>
      </p:sp>
      <p:sp>
        <p:nvSpPr>
          <p:cNvPr id="25" name="text-40"/>
          <p:cNvSpPr txBox="1"/>
          <p:nvPr/>
        </p:nvSpPr>
        <p:spPr>
          <a:xfrm>
            <a:off x="822960" y="4983480"/>
            <a:ext cx="3017520" cy="365760"/>
          </a:xfrm>
          <a:prstGeom prst="rect">
            <a:avLst/>
          </a:prstGeom>
          <a:noFill/>
          <a:ln/>
        </p:spPr>
        <p:txBody>
          <a:bodyPr wrap="square" lIns="0" tIns="0" rIns="0" bIns="0" rtlCol="0" anchor="t"/>
          <a:lstStyle/>
          <a:p>
            <a:pPr indent="0" marL="0">
              <a:buNone/>
            </a:pPr>
            <a:r>
              <a:rPr lang="en-US" sz="2000" b="1" dirty="0">
                <a:solidFill>
                  <a:schemeClr val="tx1"/>
                </a:solidFill>
              </a:rPr>
              <a:t>Implementation</a:t>
            </a:r>
            <a:endParaRPr lang="en-US" sz="2000" dirty="0"/>
          </a:p>
        </p:txBody>
      </p:sp>
      <p:sp>
        <p:nvSpPr>
          <p:cNvPr id="26" name="text-41"/>
          <p:cNvSpPr txBox="1"/>
          <p:nvPr/>
        </p:nvSpPr>
        <p:spPr>
          <a:xfrm>
            <a:off x="822960" y="5394960"/>
            <a:ext cx="3017520" cy="548640"/>
          </a:xfrm>
          <a:prstGeom prst="rect">
            <a:avLst/>
          </a:prstGeom>
          <a:noFill/>
          <a:ln/>
        </p:spPr>
        <p:txBody>
          <a:bodyPr wrap="square" lIns="0" tIns="0" rIns="0" bIns="0" rtlCol="0" anchor="t"/>
          <a:lstStyle/>
          <a:p>
            <a:pPr indent="0" marL="0">
              <a:buNone/>
            </a:pPr>
            <a:r>
              <a:rPr lang="en-US" sz="1400" dirty="0">
                <a:solidFill>
                  <a:schemeClr val="accent4"/>
                </a:solidFill>
              </a:rPr>
              <a:t>Evaluation metrics and the Streamlit app</a:t>
            </a:r>
            <a:endParaRPr lang="en-US" sz="1400" dirty="0"/>
          </a:p>
        </p:txBody>
      </p:sp>
      <p:sp>
        <p:nvSpPr>
          <p:cNvPr id="27" name="card-42"/>
          <p:cNvSpPr/>
          <p:nvPr/>
        </p:nvSpPr>
        <p:spPr>
          <a:xfrm>
            <a:off x="4311396" y="3931920"/>
            <a:ext cx="3566160" cy="2103120"/>
          </a:xfrm>
          <a:prstGeom prst="roundRect">
            <a:avLst>
              <a:gd name="adj" fmla="val 4348"/>
            </a:avLst>
          </a:prstGeom>
          <a:solidFill>
            <a:schemeClr val="bg2"/>
          </a:solidFill>
          <a:ln/>
        </p:spPr>
      </p:sp>
      <p:sp>
        <p:nvSpPr>
          <p:cNvPr id="28" name="icon-bg-43"/>
          <p:cNvSpPr/>
          <p:nvPr/>
        </p:nvSpPr>
        <p:spPr>
          <a:xfrm>
            <a:off x="4585716" y="4206240"/>
            <a:ext cx="640080" cy="640080"/>
          </a:xfrm>
          <a:prstGeom prst="ellipse">
            <a:avLst/>
          </a:prstGeom>
          <a:solidFill>
            <a:schemeClr val="accent1"/>
          </a:solidFill>
          <a:ln/>
        </p:spPr>
      </p:sp>
      <p:pic>
        <p:nvPicPr>
          <p:cNvPr id="29" name="icon-44" descr="ChartBar icon">    </p:cNvPr>
          <p:cNvPicPr>
            <a:picLocks noChangeAspect="1"/>
          </p:cNvPicPr>
          <p:nvPr/>
        </p:nvPicPr>
        <p:blipFill>
          <a:blip r:embed="rId5"/>
          <a:stretch>
            <a:fillRect/>
          </a:stretch>
        </p:blipFill>
        <p:spPr>
          <a:xfrm>
            <a:off x="4758538" y="4379062"/>
            <a:ext cx="294437" cy="294437"/>
          </a:xfrm>
          <a:prstGeom prst="rect">
            <a:avLst/>
          </a:prstGeom>
        </p:spPr>
      </p:pic>
      <p:sp>
        <p:nvSpPr>
          <p:cNvPr id="30" name="text-45"/>
          <p:cNvSpPr txBox="1"/>
          <p:nvPr/>
        </p:nvSpPr>
        <p:spPr>
          <a:xfrm>
            <a:off x="6963156" y="4206240"/>
            <a:ext cx="640080" cy="640080"/>
          </a:xfrm>
          <a:prstGeom prst="rect">
            <a:avLst/>
          </a:prstGeom>
          <a:noFill/>
          <a:ln/>
        </p:spPr>
        <p:txBody>
          <a:bodyPr wrap="square" lIns="0" tIns="0" rIns="0" bIns="0" rtlCol="0" anchor="ctr"/>
          <a:lstStyle/>
          <a:p>
            <a:pPr algn="r" indent="0" marL="0">
              <a:buNone/>
            </a:pPr>
            <a:r>
              <a:rPr lang="en-US" sz="2800" b="1" dirty="0">
                <a:solidFill>
                  <a:schemeClr val="accent5"/>
                </a:solidFill>
              </a:rPr>
              <a:t>05</a:t>
            </a:r>
            <a:endParaRPr lang="en-US" sz="2800" dirty="0"/>
          </a:p>
        </p:txBody>
      </p:sp>
      <p:sp>
        <p:nvSpPr>
          <p:cNvPr id="31" name="text-46"/>
          <p:cNvSpPr txBox="1"/>
          <p:nvPr/>
        </p:nvSpPr>
        <p:spPr>
          <a:xfrm>
            <a:off x="4585716" y="4983480"/>
            <a:ext cx="3017520" cy="365760"/>
          </a:xfrm>
          <a:prstGeom prst="rect">
            <a:avLst/>
          </a:prstGeom>
          <a:noFill/>
          <a:ln/>
        </p:spPr>
        <p:txBody>
          <a:bodyPr wrap="square" lIns="0" tIns="0" rIns="0" bIns="0" rtlCol="0" anchor="t"/>
          <a:lstStyle/>
          <a:p>
            <a:pPr indent="0" marL="0">
              <a:buNone/>
            </a:pPr>
            <a:r>
              <a:rPr lang="en-US" sz="2000" b="1" dirty="0">
                <a:solidFill>
                  <a:schemeClr val="tx1"/>
                </a:solidFill>
              </a:rPr>
              <a:t>Results and Discussion</a:t>
            </a:r>
            <a:endParaRPr lang="en-US" sz="2000" dirty="0"/>
          </a:p>
        </p:txBody>
      </p:sp>
      <p:sp>
        <p:nvSpPr>
          <p:cNvPr id="32" name="text-47"/>
          <p:cNvSpPr txBox="1"/>
          <p:nvPr/>
        </p:nvSpPr>
        <p:spPr>
          <a:xfrm>
            <a:off x="4585716" y="5394960"/>
            <a:ext cx="3017520" cy="548640"/>
          </a:xfrm>
          <a:prstGeom prst="rect">
            <a:avLst/>
          </a:prstGeom>
          <a:noFill/>
          <a:ln/>
        </p:spPr>
        <p:txBody>
          <a:bodyPr wrap="square" lIns="0" tIns="0" rIns="0" bIns="0" rtlCol="0" anchor="t"/>
          <a:lstStyle/>
          <a:p>
            <a:pPr indent="0" marL="0">
              <a:buNone/>
            </a:pPr>
            <a:r>
              <a:rPr lang="en-US" sz="1400" dirty="0">
                <a:solidFill>
                  <a:schemeClr val="accent4"/>
                </a:solidFill>
              </a:rPr>
              <a:t>Demo, observations, testing</a:t>
            </a:r>
            <a:endParaRPr lang="en-US" sz="1400" dirty="0"/>
          </a:p>
        </p:txBody>
      </p:sp>
      <p:sp>
        <p:nvSpPr>
          <p:cNvPr id="33" name="card-48"/>
          <p:cNvSpPr/>
          <p:nvPr/>
        </p:nvSpPr>
        <p:spPr>
          <a:xfrm>
            <a:off x="8074152" y="3931920"/>
            <a:ext cx="3566160" cy="2103120"/>
          </a:xfrm>
          <a:prstGeom prst="roundRect">
            <a:avLst>
              <a:gd name="adj" fmla="val 4348"/>
            </a:avLst>
          </a:prstGeom>
          <a:solidFill>
            <a:schemeClr val="bg2"/>
          </a:solidFill>
          <a:ln/>
        </p:spPr>
      </p:sp>
      <p:sp>
        <p:nvSpPr>
          <p:cNvPr id="34" name="icon-bg-49"/>
          <p:cNvSpPr/>
          <p:nvPr/>
        </p:nvSpPr>
        <p:spPr>
          <a:xfrm>
            <a:off x="8348472" y="4206240"/>
            <a:ext cx="640080" cy="640080"/>
          </a:xfrm>
          <a:prstGeom prst="ellipse">
            <a:avLst/>
          </a:prstGeom>
          <a:solidFill>
            <a:schemeClr val="accent1"/>
          </a:solidFill>
          <a:ln/>
        </p:spPr>
      </p:sp>
      <p:pic>
        <p:nvPicPr>
          <p:cNvPr id="35" name="icon-50" descr="Rocket icon">    </p:cNvPr>
          <p:cNvPicPr>
            <a:picLocks noChangeAspect="1"/>
          </p:cNvPicPr>
          <p:nvPr/>
        </p:nvPicPr>
        <p:blipFill>
          <a:blip r:embed="rId6"/>
          <a:stretch>
            <a:fillRect/>
          </a:stretch>
        </p:blipFill>
        <p:spPr>
          <a:xfrm>
            <a:off x="8521294" y="4379062"/>
            <a:ext cx="294437" cy="294437"/>
          </a:xfrm>
          <a:prstGeom prst="rect">
            <a:avLst/>
          </a:prstGeom>
        </p:spPr>
      </p:pic>
      <p:sp>
        <p:nvSpPr>
          <p:cNvPr id="36" name="text-51"/>
          <p:cNvSpPr txBox="1"/>
          <p:nvPr/>
        </p:nvSpPr>
        <p:spPr>
          <a:xfrm>
            <a:off x="10725912" y="4206240"/>
            <a:ext cx="640080" cy="640080"/>
          </a:xfrm>
          <a:prstGeom prst="rect">
            <a:avLst/>
          </a:prstGeom>
          <a:noFill/>
          <a:ln/>
        </p:spPr>
        <p:txBody>
          <a:bodyPr wrap="square" lIns="0" tIns="0" rIns="0" bIns="0" rtlCol="0" anchor="ctr"/>
          <a:lstStyle/>
          <a:p>
            <a:pPr algn="r" indent="0" marL="0">
              <a:buNone/>
            </a:pPr>
            <a:r>
              <a:rPr lang="en-US" sz="2800" b="1" dirty="0">
                <a:solidFill>
                  <a:schemeClr val="accent5"/>
                </a:solidFill>
              </a:rPr>
              <a:t>06</a:t>
            </a:r>
            <a:endParaRPr lang="en-US" sz="2800" dirty="0"/>
          </a:p>
        </p:txBody>
      </p:sp>
      <p:sp>
        <p:nvSpPr>
          <p:cNvPr id="37" name="text-52"/>
          <p:cNvSpPr txBox="1"/>
          <p:nvPr/>
        </p:nvSpPr>
        <p:spPr>
          <a:xfrm>
            <a:off x="8348472" y="4983480"/>
            <a:ext cx="3017520" cy="365760"/>
          </a:xfrm>
          <a:prstGeom prst="rect">
            <a:avLst/>
          </a:prstGeom>
          <a:noFill/>
          <a:ln/>
        </p:spPr>
        <p:txBody>
          <a:bodyPr wrap="square" lIns="0" tIns="0" rIns="0" bIns="0" rtlCol="0" anchor="t"/>
          <a:lstStyle/>
          <a:p>
            <a:pPr indent="0" marL="0">
              <a:buNone/>
            </a:pPr>
            <a:r>
              <a:rPr lang="en-US" sz="2000" b="1" dirty="0">
                <a:solidFill>
                  <a:schemeClr val="tx1"/>
                </a:solidFill>
              </a:rPr>
              <a:t>Impact</a:t>
            </a:r>
            <a:endParaRPr lang="en-US" sz="2000" dirty="0"/>
          </a:p>
        </p:txBody>
      </p:sp>
      <p:sp>
        <p:nvSpPr>
          <p:cNvPr id="38" name="text-53"/>
          <p:cNvSpPr txBox="1"/>
          <p:nvPr/>
        </p:nvSpPr>
        <p:spPr>
          <a:xfrm>
            <a:off x="8348472" y="5394960"/>
            <a:ext cx="3017520" cy="548640"/>
          </a:xfrm>
          <a:prstGeom prst="rect">
            <a:avLst/>
          </a:prstGeom>
          <a:noFill/>
          <a:ln/>
        </p:spPr>
        <p:txBody>
          <a:bodyPr wrap="square" lIns="0" tIns="0" rIns="0" bIns="0" rtlCol="0" anchor="t"/>
          <a:lstStyle/>
          <a:p>
            <a:pPr indent="0" marL="0">
              <a:buNone/>
            </a:pPr>
            <a:r>
              <a:rPr lang="en-US" sz="1400" dirty="0">
                <a:solidFill>
                  <a:schemeClr val="accent4"/>
                </a:solidFill>
              </a:rPr>
              <a:t>Limitations, use cases, conclusion</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Abstract</a:t>
            </a:r>
            <a:endParaRPr lang="en-US" sz="3600" dirty="0"/>
          </a:p>
        </p:txBody>
      </p:sp>
      <p:sp>
        <p:nvSpPr>
          <p:cNvPr id="3" name="text-54"/>
          <p:cNvSpPr txBox="1"/>
          <p:nvPr/>
        </p:nvSpPr>
        <p:spPr>
          <a:xfrm>
            <a:off x="548640" y="1508760"/>
            <a:ext cx="6675120" cy="4572000"/>
          </a:xfrm>
          <a:prstGeom prst="rect">
            <a:avLst/>
          </a:prstGeom>
          <a:noFill/>
          <a:ln/>
        </p:spPr>
        <p:txBody>
          <a:bodyPr wrap="square" lIns="0" tIns="0" rIns="0" bIns="0" rtlCol="0" anchor="t"/>
          <a:lstStyle/>
          <a:p>
            <a:pPr marL="203200" indent="-203200">
              <a:spcAft>
                <a:spcPts val="1600"/>
              </a:spcAft>
              <a:buSzPct val="100000"/>
              <a:buChar char="•"/>
            </a:pPr>
            <a:r>
              <a:rPr lang="en-US" sz="2000" b="1" dirty="0">
                <a:solidFill>
                  <a:schemeClr val="tx1"/>
                </a:solidFill>
              </a:rPr>
              <a:t>Problem: </a:t>
            </a:r>
            <a:pPr indent="0" marL="0">
              <a:spcAft>
                <a:spcPts val="1600"/>
              </a:spcAft>
              <a:buNone/>
            </a:pPr>
            <a:r>
              <a:rPr lang="en-US" sz="2000" dirty="0">
                <a:solidFill>
                  <a:schemeClr val="tx1"/>
                </a:solidFill>
              </a:rPr>
              <a:t>in a copy-move forgery, a region is copied and pasted elsewhere in the same image.</a:t>
            </a:r>
            <a:endParaRPr lang="en-US" sz="2000" dirty="0"/>
          </a:p>
          <a:p>
            <a:pPr marL="203200" indent="-203200">
              <a:spcAft>
                <a:spcPts val="1600"/>
              </a:spcAft>
              <a:buSzPct val="100000"/>
              <a:buChar char="•"/>
            </a:pPr>
            <a:r>
              <a:rPr lang="en-US" sz="2000" b="1" dirty="0">
                <a:solidFill>
                  <a:schemeClr val="tx1"/>
                </a:solidFill>
              </a:rPr>
              <a:t>Method: </a:t>
            </a:r>
            <a:pPr indent="0" marL="0">
              <a:spcAft>
                <a:spcPts val="1600"/>
              </a:spcAft>
              <a:buNone/>
            </a:pPr>
            <a:r>
              <a:rPr lang="en-US" sz="2000" dirty="0">
                <a:solidFill>
                  <a:schemeClr val="tx1"/>
                </a:solidFill>
              </a:rPr>
              <a:t>SIFT keypoints are matched against the image itself, filtered by the ratio test, then verified by RANSAC.</a:t>
            </a:r>
            <a:endParaRPr lang="en-US" sz="2000" dirty="0"/>
          </a:p>
          <a:p>
            <a:pPr marL="203200" indent="-203200">
              <a:spcAft>
                <a:spcPts val="1600"/>
              </a:spcAft>
              <a:buSzPct val="100000"/>
              <a:buChar char="•"/>
            </a:pPr>
            <a:r>
              <a:rPr lang="en-US" sz="2000" b="1" dirty="0">
                <a:solidFill>
                  <a:schemeClr val="tx1"/>
                </a:solidFill>
              </a:rPr>
              <a:t>Output: </a:t>
            </a:r>
            <a:pPr indent="0" marL="0">
              <a:spcAft>
                <a:spcPts val="1600"/>
              </a:spcAft>
              <a:buNone/>
            </a:pPr>
            <a:r>
              <a:rPr lang="en-US" sz="2000" dirty="0">
                <a:solidFill>
                  <a:schemeClr val="tx1"/>
                </a:solidFill>
              </a:rPr>
              <a:t>a verdict, red-highlighted regions, a binary mask and the copy transform (scale, rotation, shift).</a:t>
            </a:r>
            <a:endParaRPr lang="en-US" sz="2000" dirty="0"/>
          </a:p>
          <a:p>
            <a:pPr marL="203200" indent="-203200">
              <a:spcAft>
                <a:spcPts val="1600"/>
              </a:spcAft>
              <a:buSzPct val="100000"/>
              <a:buChar char="•"/>
            </a:pPr>
            <a:r>
              <a:rPr lang="en-US" sz="2000" b="1" dirty="0">
                <a:solidFill>
                  <a:schemeClr val="tx1"/>
                </a:solidFill>
              </a:rPr>
              <a:t>Delivered: </a:t>
            </a:r>
            <a:pPr indent="0" marL="0">
              <a:spcAft>
                <a:spcPts val="1600"/>
              </a:spcAft>
              <a:buNone/>
            </a:pPr>
            <a:r>
              <a:rPr lang="en-US" sz="2000" dirty="0">
                <a:solidFill>
                  <a:schemeClr val="tx1"/>
                </a:solidFill>
              </a:rPr>
              <a:t>detect.py, evaluate.py for CoMoFoD, and a Streamlit web app.</a:t>
            </a:r>
            <a:endParaRPr lang="en-US" sz="2000" dirty="0"/>
          </a:p>
          <a:p>
            <a:pPr marL="203200" indent="-203200">
              <a:spcAft>
                <a:spcPts val="1600"/>
              </a:spcAft>
              <a:buSzPct val="100000"/>
              <a:buChar char="•"/>
            </a:pPr>
            <a:r>
              <a:rPr lang="en-US" sz="2000" b="1" dirty="0">
                <a:solidFill>
                  <a:schemeClr val="tx1"/>
                </a:solidFill>
              </a:rPr>
              <a:t>Scope: </a:t>
            </a:r>
            <a:pPr indent="0" marL="0">
              <a:spcAft>
                <a:spcPts val="1600"/>
              </a:spcAft>
              <a:buNone/>
            </a:pPr>
            <a:r>
              <a:rPr lang="en-US" sz="2000" dirty="0">
                <a:solidFill>
                  <a:schemeClr val="tx1"/>
                </a:solidFill>
              </a:rPr>
              <a:t>an educational baseline. It highlights suspects and cannot prove forgery.</a:t>
            </a:r>
            <a:endParaRPr lang="en-US" sz="2000" dirty="0"/>
          </a:p>
        </p:txBody>
      </p:sp>
      <p:sp>
        <p:nvSpPr>
          <p:cNvPr id="4" name="card-55"/>
          <p:cNvSpPr/>
          <p:nvPr/>
        </p:nvSpPr>
        <p:spPr>
          <a:xfrm>
            <a:off x="7863840" y="1508760"/>
            <a:ext cx="3776472" cy="1371600"/>
          </a:xfrm>
          <a:prstGeom prst="roundRect">
            <a:avLst>
              <a:gd name="adj" fmla="val 6667"/>
            </a:avLst>
          </a:prstGeom>
          <a:solidFill>
            <a:schemeClr val="bg2"/>
          </a:solidFill>
          <a:ln/>
        </p:spPr>
      </p:sp>
      <p:sp>
        <p:nvSpPr>
          <p:cNvPr id="5" name="text-56"/>
          <p:cNvSpPr txBox="1"/>
          <p:nvPr/>
        </p:nvSpPr>
        <p:spPr>
          <a:xfrm>
            <a:off x="8092440" y="1645920"/>
            <a:ext cx="1371600" cy="1097280"/>
          </a:xfrm>
          <a:prstGeom prst="rect">
            <a:avLst/>
          </a:prstGeom>
          <a:noFill/>
          <a:ln/>
        </p:spPr>
        <p:txBody>
          <a:bodyPr wrap="square" lIns="0" tIns="0" rIns="0" bIns="0" rtlCol="0" anchor="ctr"/>
          <a:lstStyle/>
          <a:p>
            <a:pPr indent="0" marL="0">
              <a:buNone/>
            </a:pPr>
            <a:r>
              <a:rPr lang="en-US" sz="4800" b="1" dirty="0">
                <a:solidFill>
                  <a:schemeClr val="tx2"/>
                </a:solidFill>
              </a:rPr>
              <a:t>257</a:t>
            </a:r>
            <a:endParaRPr lang="en-US" sz="4800" dirty="0"/>
          </a:p>
        </p:txBody>
      </p:sp>
      <p:sp>
        <p:nvSpPr>
          <p:cNvPr id="6" name="text-57"/>
          <p:cNvSpPr txBox="1"/>
          <p:nvPr/>
        </p:nvSpPr>
        <p:spPr>
          <a:xfrm>
            <a:off x="9509760" y="1691640"/>
            <a:ext cx="1965960" cy="1005840"/>
          </a:xfrm>
          <a:prstGeom prst="rect">
            <a:avLst/>
          </a:prstGeom>
          <a:noFill/>
          <a:ln/>
        </p:spPr>
        <p:txBody>
          <a:bodyPr wrap="square" lIns="0" tIns="0" rIns="0" bIns="0" rtlCol="0" anchor="ctr"/>
          <a:lstStyle/>
          <a:p>
            <a:pPr indent="0" marL="0">
              <a:buNone/>
            </a:pPr>
            <a:r>
              <a:rPr lang="en-US" sz="1400" dirty="0">
                <a:solidFill>
                  <a:schemeClr val="tx1"/>
                </a:solidFill>
              </a:rPr>
              <a:t>feature matches agree on one transform in the demo image</a:t>
            </a:r>
            <a:endParaRPr lang="en-US" sz="1400" dirty="0"/>
          </a:p>
        </p:txBody>
      </p:sp>
      <p:sp>
        <p:nvSpPr>
          <p:cNvPr id="7" name="card-58"/>
          <p:cNvSpPr/>
          <p:nvPr/>
        </p:nvSpPr>
        <p:spPr>
          <a:xfrm>
            <a:off x="7863840" y="3063240"/>
            <a:ext cx="3776472" cy="1371600"/>
          </a:xfrm>
          <a:prstGeom prst="roundRect">
            <a:avLst>
              <a:gd name="adj" fmla="val 6667"/>
            </a:avLst>
          </a:prstGeom>
          <a:solidFill>
            <a:schemeClr val="bg2"/>
          </a:solidFill>
          <a:ln/>
        </p:spPr>
      </p:sp>
      <p:sp>
        <p:nvSpPr>
          <p:cNvPr id="8" name="text-59"/>
          <p:cNvSpPr txBox="1"/>
          <p:nvPr/>
        </p:nvSpPr>
        <p:spPr>
          <a:xfrm>
            <a:off x="8092440" y="3200400"/>
            <a:ext cx="1371600" cy="1097280"/>
          </a:xfrm>
          <a:prstGeom prst="rect">
            <a:avLst/>
          </a:prstGeom>
          <a:noFill/>
          <a:ln/>
        </p:spPr>
        <p:txBody>
          <a:bodyPr wrap="square" lIns="0" tIns="0" rIns="0" bIns="0" rtlCol="0" anchor="ctr"/>
          <a:lstStyle/>
          <a:p>
            <a:pPr indent="0" marL="0">
              <a:buNone/>
            </a:pPr>
            <a:r>
              <a:rPr lang="en-US" sz="4800" b="1" dirty="0">
                <a:solidFill>
                  <a:schemeClr val="tx2"/>
                </a:solidFill>
              </a:rPr>
              <a:t>7</a:t>
            </a:r>
            <a:endParaRPr lang="en-US" sz="4800" dirty="0"/>
          </a:p>
        </p:txBody>
      </p:sp>
      <p:sp>
        <p:nvSpPr>
          <p:cNvPr id="9" name="text-60"/>
          <p:cNvSpPr txBox="1"/>
          <p:nvPr/>
        </p:nvSpPr>
        <p:spPr>
          <a:xfrm>
            <a:off x="9509760" y="3246120"/>
            <a:ext cx="1965960" cy="1005840"/>
          </a:xfrm>
          <a:prstGeom prst="rect">
            <a:avLst/>
          </a:prstGeom>
          <a:noFill/>
          <a:ln/>
        </p:spPr>
        <p:txBody>
          <a:bodyPr wrap="square" lIns="0" tIns="0" rIns="0" bIns="0" rtlCol="0" anchor="ctr"/>
          <a:lstStyle/>
          <a:p>
            <a:pPr indent="0" marL="0">
              <a:buNone/>
            </a:pPr>
            <a:r>
              <a:rPr lang="en-US" sz="1400" dirty="0">
                <a:solidFill>
                  <a:schemeClr val="tx1"/>
                </a:solidFill>
              </a:rPr>
              <a:t>stages in the detection pipeline</a:t>
            </a:r>
            <a:endParaRPr lang="en-US" sz="1400" dirty="0"/>
          </a:p>
        </p:txBody>
      </p:sp>
      <p:sp>
        <p:nvSpPr>
          <p:cNvPr id="10" name="card-61"/>
          <p:cNvSpPr/>
          <p:nvPr/>
        </p:nvSpPr>
        <p:spPr>
          <a:xfrm>
            <a:off x="7863840" y="4617720"/>
            <a:ext cx="3776472" cy="1371600"/>
          </a:xfrm>
          <a:prstGeom prst="roundRect">
            <a:avLst>
              <a:gd name="adj" fmla="val 6667"/>
            </a:avLst>
          </a:prstGeom>
          <a:solidFill>
            <a:schemeClr val="bg2"/>
          </a:solidFill>
          <a:ln/>
        </p:spPr>
      </p:sp>
      <p:sp>
        <p:nvSpPr>
          <p:cNvPr id="11" name="text-62"/>
          <p:cNvSpPr txBox="1"/>
          <p:nvPr/>
        </p:nvSpPr>
        <p:spPr>
          <a:xfrm>
            <a:off x="8092440" y="4754880"/>
            <a:ext cx="1371600" cy="1097280"/>
          </a:xfrm>
          <a:prstGeom prst="rect">
            <a:avLst/>
          </a:prstGeom>
          <a:noFill/>
          <a:ln/>
        </p:spPr>
        <p:txBody>
          <a:bodyPr wrap="square" lIns="0" tIns="0" rIns="0" bIns="0" rtlCol="0" anchor="ctr"/>
          <a:lstStyle/>
          <a:p>
            <a:pPr indent="0" marL="0">
              <a:buNone/>
            </a:pPr>
            <a:r>
              <a:rPr lang="en-US" sz="4800" b="1" dirty="0">
                <a:solidFill>
                  <a:schemeClr val="tx2"/>
                </a:solidFill>
              </a:rPr>
              <a:t>6</a:t>
            </a:r>
            <a:endParaRPr lang="en-US" sz="4800" dirty="0"/>
          </a:p>
        </p:txBody>
      </p:sp>
      <p:sp>
        <p:nvSpPr>
          <p:cNvPr id="12" name="text-63"/>
          <p:cNvSpPr txBox="1"/>
          <p:nvPr/>
        </p:nvSpPr>
        <p:spPr>
          <a:xfrm>
            <a:off x="9509760" y="4800600"/>
            <a:ext cx="1965960" cy="1005840"/>
          </a:xfrm>
          <a:prstGeom prst="rect">
            <a:avLst/>
          </a:prstGeom>
          <a:noFill/>
          <a:ln/>
        </p:spPr>
        <p:txBody>
          <a:bodyPr wrap="square" lIns="0" tIns="0" rIns="0" bIns="0" rtlCol="0" anchor="ctr"/>
          <a:lstStyle/>
          <a:p>
            <a:pPr indent="0" marL="0">
              <a:buNone/>
            </a:pPr>
            <a:r>
              <a:rPr lang="en-US" sz="1400" dirty="0">
                <a:solidFill>
                  <a:schemeClr val="tx1"/>
                </a:solidFill>
              </a:rPr>
              <a:t>tunable detector settings, all live in the web app</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Introduction: Copy-Move Forgery</a:t>
            </a:r>
            <a:endParaRPr lang="en-US" sz="3600" dirty="0"/>
          </a:p>
        </p:txBody>
      </p:sp>
      <p:sp>
        <p:nvSpPr>
          <p:cNvPr id="3" name="text-64"/>
          <p:cNvSpPr txBox="1"/>
          <p:nvPr/>
        </p:nvSpPr>
        <p:spPr>
          <a:xfrm>
            <a:off x="548640" y="1508760"/>
            <a:ext cx="5669280" cy="4572000"/>
          </a:xfrm>
          <a:prstGeom prst="rect">
            <a:avLst/>
          </a:prstGeom>
          <a:noFill/>
          <a:ln/>
        </p:spPr>
        <p:txBody>
          <a:bodyPr wrap="square" lIns="0" tIns="0" rIns="0" bIns="0" rtlCol="0" anchor="t"/>
          <a:lstStyle/>
          <a:p>
            <a:pPr marL="203200" indent="-203200">
              <a:spcAft>
                <a:spcPts val="1600"/>
              </a:spcAft>
              <a:buSzPct val="100000"/>
              <a:buChar char="•"/>
            </a:pPr>
            <a:r>
              <a:rPr lang="en-US" sz="1900" b="1" dirty="0">
                <a:solidFill>
                  <a:schemeClr val="tx1"/>
                </a:solidFill>
              </a:rPr>
              <a:t>Why it matters: </a:t>
            </a:r>
            <a:pPr indent="0" marL="0">
              <a:spcAft>
                <a:spcPts val="1600"/>
              </a:spcAft>
              <a:buNone/>
            </a:pPr>
            <a:r>
              <a:rPr lang="en-US" sz="1900" dirty="0">
                <a:solidFill>
                  <a:schemeClr val="tx1"/>
                </a:solidFill>
              </a:rPr>
              <a:t>photos are trusted as evidence in news, law, insurance and science.</a:t>
            </a:r>
            <a:endParaRPr lang="en-US" sz="1900" dirty="0"/>
          </a:p>
          <a:p>
            <a:pPr marL="203200" indent="-203200">
              <a:spcAft>
                <a:spcPts val="1600"/>
              </a:spcAft>
              <a:buSzPct val="100000"/>
              <a:buChar char="•"/>
            </a:pPr>
            <a:r>
              <a:rPr lang="en-US" sz="1900" b="1" dirty="0">
                <a:solidFill>
                  <a:schemeClr val="tx1"/>
                </a:solidFill>
              </a:rPr>
              <a:t>The attack: </a:t>
            </a:r>
            <a:pPr indent="0" marL="0">
              <a:spcAft>
                <a:spcPts val="1600"/>
              </a:spcAft>
              <a:buNone/>
            </a:pPr>
            <a:r>
              <a:rPr lang="en-US" sz="1900" dirty="0">
                <a:solidFill>
                  <a:schemeClr val="tx1"/>
                </a:solidFill>
              </a:rPr>
              <a:t>copy a patch and paste it in the same image to hide an object or duplicate one.</a:t>
            </a:r>
            <a:endParaRPr lang="en-US" sz="1900" dirty="0"/>
          </a:p>
          <a:p>
            <a:pPr marL="203200" indent="-203200">
              <a:spcAft>
                <a:spcPts val="1600"/>
              </a:spcAft>
              <a:buSzPct val="100000"/>
              <a:buChar char="•"/>
            </a:pPr>
            <a:r>
              <a:rPr lang="en-US" sz="1900" b="1" dirty="0">
                <a:solidFill>
                  <a:schemeClr val="tx1"/>
                </a:solidFill>
              </a:rPr>
              <a:t>Why it is hard: </a:t>
            </a:r>
            <a:pPr indent="0" marL="0">
              <a:spcAft>
                <a:spcPts val="1600"/>
              </a:spcAft>
              <a:buNone/>
            </a:pPr>
            <a:r>
              <a:rPr lang="en-US" sz="1900" dirty="0">
                <a:solidFill>
                  <a:schemeClr val="tx1"/>
                </a:solidFill>
              </a:rPr>
              <a:t>the pasted patch has the same lighting, noise and camera traits as the rest of the image.</a:t>
            </a:r>
            <a:endParaRPr lang="en-US" sz="1900" dirty="0"/>
          </a:p>
          <a:p>
            <a:pPr marL="203200" indent="-203200">
              <a:spcAft>
                <a:spcPts val="1600"/>
              </a:spcAft>
              <a:buSzPct val="100000"/>
              <a:buChar char="•"/>
            </a:pPr>
            <a:r>
              <a:rPr lang="en-US" sz="1900" b="1" dirty="0">
                <a:solidFill>
                  <a:schemeClr val="tx1"/>
                </a:solidFill>
              </a:rPr>
              <a:t>The clue: </a:t>
            </a:r>
            <a:pPr indent="0" marL="0">
              <a:spcAft>
                <a:spcPts val="1600"/>
              </a:spcAft>
              <a:buNone/>
            </a:pPr>
            <a:r>
              <a:rPr lang="en-US" sz="1900" dirty="0">
                <a:solidFill>
                  <a:schemeClr val="tx1"/>
                </a:solidFill>
              </a:rPr>
              <a:t>two different places look almost identical, even after resizing, rotation or JPEG.</a:t>
            </a:r>
            <a:endParaRPr lang="en-US" sz="1900" dirty="0"/>
          </a:p>
        </p:txBody>
      </p:sp>
      <p:sp>
        <p:nvSpPr>
          <p:cNvPr id="4" name="card-65"/>
          <p:cNvSpPr/>
          <p:nvPr/>
        </p:nvSpPr>
        <p:spPr>
          <a:xfrm>
            <a:off x="6675120" y="1508760"/>
            <a:ext cx="4965192" cy="4023360"/>
          </a:xfrm>
          <a:prstGeom prst="roundRect">
            <a:avLst>
              <a:gd name="adj" fmla="val 2273"/>
            </a:avLst>
          </a:prstGeom>
          <a:solidFill>
            <a:schemeClr val="bg2"/>
          </a:solidFill>
          <a:ln/>
        </p:spPr>
      </p:sp>
      <p:sp>
        <p:nvSpPr>
          <p:cNvPr id="5" name="text-66"/>
          <p:cNvSpPr txBox="1"/>
          <p:nvPr/>
        </p:nvSpPr>
        <p:spPr>
          <a:xfrm>
            <a:off x="6903720" y="1645920"/>
            <a:ext cx="2743200" cy="274320"/>
          </a:xfrm>
          <a:prstGeom prst="rect">
            <a:avLst/>
          </a:prstGeom>
          <a:noFill/>
          <a:ln/>
        </p:spPr>
        <p:txBody>
          <a:bodyPr wrap="square" lIns="0" tIns="0" rIns="0" bIns="0" rtlCol="0" anchor="t"/>
          <a:lstStyle/>
          <a:p>
            <a:pPr indent="0" marL="0">
              <a:buNone/>
            </a:pPr>
            <a:r>
              <a:rPr lang="en-US" sz="1200" dirty="0">
                <a:solidFill>
                  <a:schemeClr val="accent4"/>
                </a:solidFill>
              </a:rPr>
              <a:t>Same image</a:t>
            </a:r>
            <a:endParaRPr lang="en-US" sz="1200" dirty="0"/>
          </a:p>
        </p:txBody>
      </p:sp>
      <p:sp>
        <p:nvSpPr>
          <p:cNvPr id="6" name="source-67"/>
          <p:cNvSpPr/>
          <p:nvPr/>
        </p:nvSpPr>
        <p:spPr>
          <a:xfrm>
            <a:off x="7132320" y="2286000"/>
            <a:ext cx="1737360" cy="1371600"/>
          </a:xfrm>
          <a:prstGeom prst="roundRect">
            <a:avLst>
              <a:gd name="adj" fmla="val 5333"/>
            </a:avLst>
          </a:prstGeom>
          <a:solidFill>
            <a:schemeClr val="accent1">
              <a:alpha val="20000"/>
            </a:schemeClr>
          </a:solidFill>
          <a:ln w="25400">
            <a:solidFill>
              <a:schemeClr val="accent1"/>
            </a:solidFill>
            <a:prstDash val="solid"/>
          </a:ln>
        </p:spPr>
      </p:sp>
      <p:sp>
        <p:nvSpPr>
          <p:cNvPr id="7" name="text-68"/>
          <p:cNvSpPr txBox="1"/>
          <p:nvPr/>
        </p:nvSpPr>
        <p:spPr>
          <a:xfrm>
            <a:off x="7132320" y="2286000"/>
            <a:ext cx="1737360" cy="1371600"/>
          </a:xfrm>
          <a:prstGeom prst="rect">
            <a:avLst/>
          </a:prstGeom>
          <a:noFill/>
          <a:ln/>
        </p:spPr>
        <p:txBody>
          <a:bodyPr wrap="square" lIns="0" tIns="0" rIns="0" bIns="0" rtlCol="0" anchor="ctr"/>
          <a:lstStyle/>
          <a:p>
            <a:pPr algn="ctr" indent="0" marL="0">
              <a:buNone/>
            </a:pPr>
            <a:r>
              <a:rPr lang="en-US" sz="1600" b="1" dirty="0">
                <a:solidFill>
                  <a:schemeClr val="tx2"/>
                </a:solidFill>
              </a:rPr>
              <a:t>Source</a:t>
            </a:r>
            <a:endParaRPr lang="en-US" sz="1600" dirty="0"/>
          </a:p>
        </p:txBody>
      </p:sp>
      <p:sp>
        <p:nvSpPr>
          <p:cNvPr id="8" name="paste-69"/>
          <p:cNvSpPr/>
          <p:nvPr/>
        </p:nvSpPr>
        <p:spPr>
          <a:xfrm>
            <a:off x="9418320" y="3657600"/>
            <a:ext cx="1737360" cy="1371600"/>
          </a:xfrm>
          <a:prstGeom prst="roundRect">
            <a:avLst>
              <a:gd name="adj" fmla="val 5333"/>
            </a:avLst>
          </a:prstGeom>
          <a:solidFill>
            <a:schemeClr val="accent2">
              <a:alpha val="18000"/>
            </a:schemeClr>
          </a:solidFill>
          <a:ln w="25400">
            <a:solidFill>
              <a:schemeClr val="accent2"/>
            </a:solidFill>
            <a:prstDash val="solid"/>
          </a:ln>
        </p:spPr>
      </p:sp>
      <p:sp>
        <p:nvSpPr>
          <p:cNvPr id="9" name="text-70"/>
          <p:cNvSpPr txBox="1"/>
          <p:nvPr/>
        </p:nvSpPr>
        <p:spPr>
          <a:xfrm>
            <a:off x="9418320" y="3657600"/>
            <a:ext cx="1737360" cy="1371600"/>
          </a:xfrm>
          <a:prstGeom prst="rect">
            <a:avLst/>
          </a:prstGeom>
          <a:noFill/>
          <a:ln/>
        </p:spPr>
        <p:txBody>
          <a:bodyPr wrap="square" lIns="0" tIns="0" rIns="0" bIns="0" rtlCol="0" anchor="ctr"/>
          <a:lstStyle/>
          <a:p>
            <a:pPr algn="ctr" indent="0" marL="0">
              <a:buNone/>
            </a:pPr>
            <a:r>
              <a:rPr lang="en-US" sz="1600" b="1" dirty="0">
                <a:solidFill>
                  <a:schemeClr val="accent2"/>
                </a:solidFill>
              </a:rPr>
              <a:t>Pasted copy</a:t>
            </a:r>
            <a:endParaRPr lang="en-US" sz="1600" dirty="0"/>
          </a:p>
        </p:txBody>
      </p:sp>
      <p:sp>
        <p:nvSpPr>
          <p:cNvPr id="10" name="copy-arrow-71"/>
          <p:cNvSpPr/>
          <p:nvPr/>
        </p:nvSpPr>
        <p:spPr>
          <a:xfrm>
            <a:off x="8915400" y="2971800"/>
            <a:ext cx="457200" cy="1371600"/>
          </a:xfrm>
          <a:prstGeom prst="line">
            <a:avLst/>
          </a:prstGeom>
          <a:noFill/>
          <a:ln w="25400">
            <a:solidFill>
              <a:schemeClr val="tx1"/>
            </a:solidFill>
            <a:prstDash val="solid"/>
            <a:tailEnd type="triangle"/>
          </a:ln>
        </p:spPr>
      </p:sp>
      <p:sp>
        <p:nvSpPr>
          <p:cNvPr id="11" name="text-72"/>
          <p:cNvSpPr txBox="1"/>
          <p:nvPr/>
        </p:nvSpPr>
        <p:spPr>
          <a:xfrm>
            <a:off x="9144000" y="2514600"/>
            <a:ext cx="2103120" cy="320040"/>
          </a:xfrm>
          <a:prstGeom prst="rect">
            <a:avLst/>
          </a:prstGeom>
          <a:noFill/>
          <a:ln/>
        </p:spPr>
        <p:txBody>
          <a:bodyPr wrap="square" lIns="0" tIns="0" rIns="0" bIns="0" rtlCol="0" anchor="t"/>
          <a:lstStyle/>
          <a:p>
            <a:pPr indent="0" marL="0">
              <a:buNone/>
            </a:pPr>
            <a:r>
              <a:rPr lang="en-US" sz="1400" i="1" dirty="0">
                <a:solidFill>
                  <a:schemeClr val="accent4"/>
                </a:solidFill>
              </a:rPr>
              <a:t>copy + paste</a:t>
            </a:r>
            <a:endParaRPr lang="en-US" sz="1400" dirty="0"/>
          </a:p>
        </p:txBody>
      </p:sp>
      <p:sp>
        <p:nvSpPr>
          <p:cNvPr id="12" name="text-73"/>
          <p:cNvSpPr txBox="1"/>
          <p:nvPr/>
        </p:nvSpPr>
        <p:spPr>
          <a:xfrm>
            <a:off x="6675120" y="5669280"/>
            <a:ext cx="4965192" cy="457200"/>
          </a:xfrm>
          <a:prstGeom prst="rect">
            <a:avLst/>
          </a:prstGeom>
          <a:noFill/>
          <a:ln/>
        </p:spPr>
        <p:txBody>
          <a:bodyPr wrap="square" lIns="0" tIns="0" rIns="0" bIns="0" rtlCol="0" anchor="t"/>
          <a:lstStyle/>
          <a:p>
            <a:pPr indent="0" marL="0">
              <a:buNone/>
            </a:pPr>
            <a:r>
              <a:rPr lang="en-US" sz="1400" b="1" dirty="0">
                <a:solidFill>
                  <a:schemeClr val="tx2"/>
                </a:solidFill>
              </a:rPr>
              <a:t>Detection idea: find near-identical regions in two different places</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Problem Statement and Objectives</a:t>
            </a:r>
            <a:endParaRPr lang="en-US" sz="3600" dirty="0"/>
          </a:p>
        </p:txBody>
      </p:sp>
      <p:sp>
        <p:nvSpPr>
          <p:cNvPr id="3" name="card-74"/>
          <p:cNvSpPr/>
          <p:nvPr/>
        </p:nvSpPr>
        <p:spPr>
          <a:xfrm>
            <a:off x="548640" y="1463040"/>
            <a:ext cx="11091672" cy="1051560"/>
          </a:xfrm>
          <a:prstGeom prst="roundRect">
            <a:avLst>
              <a:gd name="adj" fmla="val 8696"/>
            </a:avLst>
          </a:prstGeom>
          <a:solidFill>
            <a:schemeClr val="accent1">
              <a:alpha val="12000"/>
            </a:schemeClr>
          </a:solidFill>
          <a:ln/>
        </p:spPr>
      </p:sp>
      <p:sp>
        <p:nvSpPr>
          <p:cNvPr id="4" name="text-75"/>
          <p:cNvSpPr txBox="1"/>
          <p:nvPr/>
        </p:nvSpPr>
        <p:spPr>
          <a:xfrm>
            <a:off x="822960" y="1463040"/>
            <a:ext cx="10515600" cy="1051560"/>
          </a:xfrm>
          <a:prstGeom prst="rect">
            <a:avLst/>
          </a:prstGeom>
          <a:noFill/>
          <a:ln/>
        </p:spPr>
        <p:txBody>
          <a:bodyPr wrap="square" lIns="0" tIns="0" rIns="0" bIns="0" rtlCol="0" anchor="ctr"/>
          <a:lstStyle/>
          <a:p>
            <a:pPr indent="0" marL="0">
              <a:buNone/>
            </a:pPr>
            <a:r>
              <a:rPr lang="en-US" sz="1800" b="1" dirty="0">
                <a:solidFill>
                  <a:schemeClr val="tx2"/>
                </a:solidFill>
              </a:rPr>
              <a:t>Problem: </a:t>
            </a:r>
            <a:pPr indent="0" marL="0">
              <a:buNone/>
            </a:pPr>
            <a:r>
              <a:rPr lang="en-US" sz="1800" dirty="0">
                <a:solidFill>
                  <a:schemeClr val="tx1"/>
                </a:solidFill>
              </a:rPr>
              <a:t>given one image, decide whether a region was duplicated inside it, and mark the suspected source and destination.</a:t>
            </a:r>
            <a:endParaRPr lang="en-US" sz="1800" dirty="0"/>
          </a:p>
        </p:txBody>
      </p:sp>
      <p:sp>
        <p:nvSpPr>
          <p:cNvPr id="5" name="card-76"/>
          <p:cNvSpPr/>
          <p:nvPr/>
        </p:nvSpPr>
        <p:spPr>
          <a:xfrm>
            <a:off x="548640" y="2788920"/>
            <a:ext cx="2606040" cy="3291840"/>
          </a:xfrm>
          <a:prstGeom prst="roundRect">
            <a:avLst>
              <a:gd name="adj" fmla="val 3509"/>
            </a:avLst>
          </a:prstGeom>
          <a:solidFill>
            <a:schemeClr val="bg2"/>
          </a:solidFill>
          <a:ln/>
        </p:spPr>
      </p:sp>
      <p:sp>
        <p:nvSpPr>
          <p:cNvPr id="6" name="icon-bg-77"/>
          <p:cNvSpPr/>
          <p:nvPr/>
        </p:nvSpPr>
        <p:spPr>
          <a:xfrm>
            <a:off x="822960" y="3063240"/>
            <a:ext cx="731520" cy="731520"/>
          </a:xfrm>
          <a:prstGeom prst="ellipse">
            <a:avLst/>
          </a:prstGeom>
          <a:solidFill>
            <a:schemeClr val="accent1"/>
          </a:solidFill>
          <a:ln/>
        </p:spPr>
      </p:sp>
      <p:pic>
        <p:nvPicPr>
          <p:cNvPr id="7" name="icon-78" descr="Cogs icon">    </p:cNvPr>
          <p:cNvPicPr>
            <a:picLocks noChangeAspect="1"/>
          </p:cNvPicPr>
          <p:nvPr/>
        </p:nvPicPr>
        <p:blipFill>
          <a:blip r:embed="rId1"/>
          <a:stretch>
            <a:fillRect/>
          </a:stretch>
        </p:blipFill>
        <p:spPr>
          <a:xfrm>
            <a:off x="1020470" y="3260750"/>
            <a:ext cx="336499" cy="336499"/>
          </a:xfrm>
          <a:prstGeom prst="rect">
            <a:avLst/>
          </a:prstGeom>
        </p:spPr>
      </p:pic>
      <p:sp>
        <p:nvSpPr>
          <p:cNvPr id="8" name="text-79"/>
          <p:cNvSpPr txBox="1"/>
          <p:nvPr/>
        </p:nvSpPr>
        <p:spPr>
          <a:xfrm>
            <a:off x="822960" y="3931920"/>
            <a:ext cx="2057400" cy="640080"/>
          </a:xfrm>
          <a:prstGeom prst="rect">
            <a:avLst/>
          </a:prstGeom>
          <a:noFill/>
          <a:ln/>
        </p:spPr>
        <p:txBody>
          <a:bodyPr wrap="square" lIns="0" tIns="0" rIns="0" bIns="0" rtlCol="0" anchor="t"/>
          <a:lstStyle/>
          <a:p>
            <a:pPr indent="0" marL="0">
              <a:buNone/>
            </a:pPr>
            <a:r>
              <a:rPr lang="en-US" sz="2000" b="1" dirty="0">
                <a:solidFill>
                  <a:schemeClr val="tx1"/>
                </a:solidFill>
              </a:rPr>
              <a:t>Build the detector</a:t>
            </a:r>
            <a:endParaRPr lang="en-US" sz="2000" dirty="0"/>
          </a:p>
        </p:txBody>
      </p:sp>
      <p:sp>
        <p:nvSpPr>
          <p:cNvPr id="9" name="text-80"/>
          <p:cNvSpPr txBox="1"/>
          <p:nvPr/>
        </p:nvSpPr>
        <p:spPr>
          <a:xfrm>
            <a:off x="822960" y="4617720"/>
            <a:ext cx="2057400" cy="1371600"/>
          </a:xfrm>
          <a:prstGeom prst="rect">
            <a:avLst/>
          </a:prstGeom>
          <a:noFill/>
          <a:ln/>
        </p:spPr>
        <p:txBody>
          <a:bodyPr wrap="square" lIns="0" tIns="0" rIns="0" bIns="0" rtlCol="0" anchor="t"/>
          <a:lstStyle/>
          <a:p>
            <a:pPr indent="0" marL="0">
              <a:buNone/>
            </a:pPr>
            <a:r>
              <a:rPr lang="en-US" sz="1600" dirty="0">
                <a:solidFill>
                  <a:schemeClr val="accent4"/>
                </a:solidFill>
              </a:rPr>
              <a:t>SIFT plus RANSAC with geometric verification of every match.</a:t>
            </a:r>
            <a:endParaRPr lang="en-US" sz="1600" dirty="0"/>
          </a:p>
        </p:txBody>
      </p:sp>
      <p:sp>
        <p:nvSpPr>
          <p:cNvPr id="10" name="card-81"/>
          <p:cNvSpPr/>
          <p:nvPr/>
        </p:nvSpPr>
        <p:spPr>
          <a:xfrm>
            <a:off x="3377184" y="2788920"/>
            <a:ext cx="2606040" cy="3291840"/>
          </a:xfrm>
          <a:prstGeom prst="roundRect">
            <a:avLst>
              <a:gd name="adj" fmla="val 3509"/>
            </a:avLst>
          </a:prstGeom>
          <a:solidFill>
            <a:schemeClr val="bg2"/>
          </a:solidFill>
          <a:ln/>
        </p:spPr>
      </p:sp>
      <p:sp>
        <p:nvSpPr>
          <p:cNvPr id="11" name="icon-bg-82"/>
          <p:cNvSpPr/>
          <p:nvPr/>
        </p:nvSpPr>
        <p:spPr>
          <a:xfrm>
            <a:off x="3651504" y="3063240"/>
            <a:ext cx="731520" cy="731520"/>
          </a:xfrm>
          <a:prstGeom prst="ellipse">
            <a:avLst/>
          </a:prstGeom>
          <a:solidFill>
            <a:schemeClr val="accent1"/>
          </a:solidFill>
          <a:ln/>
        </p:spPr>
      </p:sp>
      <p:pic>
        <p:nvPicPr>
          <p:cNvPr id="12" name="icon-83" descr="Database icon">    </p:cNvPr>
          <p:cNvPicPr>
            <a:picLocks noChangeAspect="1"/>
          </p:cNvPicPr>
          <p:nvPr/>
        </p:nvPicPr>
        <p:blipFill>
          <a:blip r:embed="rId2"/>
          <a:stretch>
            <a:fillRect/>
          </a:stretch>
        </p:blipFill>
        <p:spPr>
          <a:xfrm>
            <a:off x="3849014" y="3260750"/>
            <a:ext cx="336499" cy="336499"/>
          </a:xfrm>
          <a:prstGeom prst="rect">
            <a:avLst/>
          </a:prstGeom>
        </p:spPr>
      </p:pic>
      <p:sp>
        <p:nvSpPr>
          <p:cNvPr id="13" name="text-84"/>
          <p:cNvSpPr txBox="1"/>
          <p:nvPr/>
        </p:nvSpPr>
        <p:spPr>
          <a:xfrm>
            <a:off x="3651504" y="3931920"/>
            <a:ext cx="2057400" cy="640080"/>
          </a:xfrm>
          <a:prstGeom prst="rect">
            <a:avLst/>
          </a:prstGeom>
          <a:noFill/>
          <a:ln/>
        </p:spPr>
        <p:txBody>
          <a:bodyPr wrap="square" lIns="0" tIns="0" rIns="0" bIns="0" rtlCol="0" anchor="t"/>
          <a:lstStyle/>
          <a:p>
            <a:pPr indent="0" marL="0">
              <a:buNone/>
            </a:pPr>
            <a:r>
              <a:rPr lang="en-US" sz="2000" b="1" dirty="0">
                <a:solidFill>
                  <a:schemeClr val="tx1"/>
                </a:solidFill>
              </a:rPr>
              <a:t>Evaluate on CoMoFoD</a:t>
            </a:r>
            <a:endParaRPr lang="en-US" sz="2000" dirty="0"/>
          </a:p>
        </p:txBody>
      </p:sp>
      <p:sp>
        <p:nvSpPr>
          <p:cNvPr id="14" name="text-85"/>
          <p:cNvSpPr txBox="1"/>
          <p:nvPr/>
        </p:nvSpPr>
        <p:spPr>
          <a:xfrm>
            <a:off x="3651504" y="4617720"/>
            <a:ext cx="2057400" cy="1371600"/>
          </a:xfrm>
          <a:prstGeom prst="rect">
            <a:avLst/>
          </a:prstGeom>
          <a:noFill/>
          <a:ln/>
        </p:spPr>
        <p:txBody>
          <a:bodyPr wrap="square" lIns="0" tIns="0" rIns="0" bIns="0" rtlCol="0" anchor="t"/>
          <a:lstStyle/>
          <a:p>
            <a:pPr indent="0" marL="0">
              <a:buNone/>
            </a:pPr>
            <a:r>
              <a:rPr lang="en-US" sz="1600" dirty="0">
                <a:solidFill>
                  <a:schemeClr val="accent4"/>
                </a:solidFill>
              </a:rPr>
              <a:t>Image-level and pixel-level metrics on forged, original and mask files.</a:t>
            </a:r>
            <a:endParaRPr lang="en-US" sz="1600" dirty="0"/>
          </a:p>
        </p:txBody>
      </p:sp>
      <p:sp>
        <p:nvSpPr>
          <p:cNvPr id="15" name="card-86"/>
          <p:cNvSpPr/>
          <p:nvPr/>
        </p:nvSpPr>
        <p:spPr>
          <a:xfrm>
            <a:off x="6205728" y="2788920"/>
            <a:ext cx="2606040" cy="3291840"/>
          </a:xfrm>
          <a:prstGeom prst="roundRect">
            <a:avLst>
              <a:gd name="adj" fmla="val 3509"/>
            </a:avLst>
          </a:prstGeom>
          <a:solidFill>
            <a:schemeClr val="bg2"/>
          </a:solidFill>
          <a:ln/>
        </p:spPr>
      </p:sp>
      <p:sp>
        <p:nvSpPr>
          <p:cNvPr id="16" name="icon-bg-87"/>
          <p:cNvSpPr/>
          <p:nvPr/>
        </p:nvSpPr>
        <p:spPr>
          <a:xfrm>
            <a:off x="6480048" y="3063240"/>
            <a:ext cx="731520" cy="731520"/>
          </a:xfrm>
          <a:prstGeom prst="ellipse">
            <a:avLst/>
          </a:prstGeom>
          <a:solidFill>
            <a:schemeClr val="accent1"/>
          </a:solidFill>
          <a:ln/>
        </p:spPr>
      </p:sp>
      <p:pic>
        <p:nvPicPr>
          <p:cNvPr id="17" name="icon-88" descr="Desktop icon">    </p:cNvPr>
          <p:cNvPicPr>
            <a:picLocks noChangeAspect="1"/>
          </p:cNvPicPr>
          <p:nvPr/>
        </p:nvPicPr>
        <p:blipFill>
          <a:blip r:embed="rId3"/>
          <a:stretch>
            <a:fillRect/>
          </a:stretch>
        </p:blipFill>
        <p:spPr>
          <a:xfrm>
            <a:off x="6677558" y="3260750"/>
            <a:ext cx="336499" cy="336499"/>
          </a:xfrm>
          <a:prstGeom prst="rect">
            <a:avLst/>
          </a:prstGeom>
        </p:spPr>
      </p:pic>
      <p:sp>
        <p:nvSpPr>
          <p:cNvPr id="18" name="text-89"/>
          <p:cNvSpPr txBox="1"/>
          <p:nvPr/>
        </p:nvSpPr>
        <p:spPr>
          <a:xfrm>
            <a:off x="6480048" y="3931920"/>
            <a:ext cx="2057400" cy="640080"/>
          </a:xfrm>
          <a:prstGeom prst="rect">
            <a:avLst/>
          </a:prstGeom>
          <a:noFill/>
          <a:ln/>
        </p:spPr>
        <p:txBody>
          <a:bodyPr wrap="square" lIns="0" tIns="0" rIns="0" bIns="0" rtlCol="0" anchor="t"/>
          <a:lstStyle/>
          <a:p>
            <a:pPr indent="0" marL="0">
              <a:buNone/>
            </a:pPr>
            <a:r>
              <a:rPr lang="en-US" sz="2000" b="1" dirty="0">
                <a:solidFill>
                  <a:schemeClr val="tx1"/>
                </a:solidFill>
              </a:rPr>
              <a:t>Create a web interface</a:t>
            </a:r>
            <a:endParaRPr lang="en-US" sz="2000" dirty="0"/>
          </a:p>
        </p:txBody>
      </p:sp>
      <p:sp>
        <p:nvSpPr>
          <p:cNvPr id="19" name="text-90"/>
          <p:cNvSpPr txBox="1"/>
          <p:nvPr/>
        </p:nvSpPr>
        <p:spPr>
          <a:xfrm>
            <a:off x="6480048" y="4617720"/>
            <a:ext cx="2057400" cy="1371600"/>
          </a:xfrm>
          <a:prstGeom prst="rect">
            <a:avLst/>
          </a:prstGeom>
          <a:noFill/>
          <a:ln/>
        </p:spPr>
        <p:txBody>
          <a:bodyPr wrap="square" lIns="0" tIns="0" rIns="0" bIns="0" rtlCol="0" anchor="t"/>
          <a:lstStyle/>
          <a:p>
            <a:pPr indent="0" marL="0">
              <a:buNone/>
            </a:pPr>
            <a:r>
              <a:rPr lang="en-US" sz="1600" dirty="0">
                <a:solidFill>
                  <a:schemeClr val="accent4"/>
                </a:solidFill>
              </a:rPr>
              <a:t>Upload or paste an image and see input and output side by side.</a:t>
            </a:r>
            <a:endParaRPr lang="en-US" sz="1600" dirty="0"/>
          </a:p>
        </p:txBody>
      </p:sp>
      <p:sp>
        <p:nvSpPr>
          <p:cNvPr id="20" name="card-91"/>
          <p:cNvSpPr/>
          <p:nvPr/>
        </p:nvSpPr>
        <p:spPr>
          <a:xfrm>
            <a:off x="9034272" y="2788920"/>
            <a:ext cx="2606040" cy="3291840"/>
          </a:xfrm>
          <a:prstGeom prst="roundRect">
            <a:avLst>
              <a:gd name="adj" fmla="val 3509"/>
            </a:avLst>
          </a:prstGeom>
          <a:solidFill>
            <a:schemeClr val="bg2"/>
          </a:solidFill>
          <a:ln/>
        </p:spPr>
      </p:sp>
      <p:sp>
        <p:nvSpPr>
          <p:cNvPr id="21" name="icon-bg-92"/>
          <p:cNvSpPr/>
          <p:nvPr/>
        </p:nvSpPr>
        <p:spPr>
          <a:xfrm>
            <a:off x="9308592" y="3063240"/>
            <a:ext cx="731520" cy="731520"/>
          </a:xfrm>
          <a:prstGeom prst="ellipse">
            <a:avLst/>
          </a:prstGeom>
          <a:solidFill>
            <a:schemeClr val="accent1"/>
          </a:solidFill>
          <a:ln/>
        </p:spPr>
      </p:sp>
      <p:pic>
        <p:nvPicPr>
          <p:cNvPr id="22" name="icon-93" descr="Lightbulb icon">    </p:cNvPr>
          <p:cNvPicPr>
            <a:picLocks noChangeAspect="1"/>
          </p:cNvPicPr>
          <p:nvPr/>
        </p:nvPicPr>
        <p:blipFill>
          <a:blip r:embed="rId4"/>
          <a:stretch>
            <a:fillRect/>
          </a:stretch>
        </p:blipFill>
        <p:spPr>
          <a:xfrm>
            <a:off x="9506102" y="3260750"/>
            <a:ext cx="336499" cy="336499"/>
          </a:xfrm>
          <a:prstGeom prst="rect">
            <a:avLst/>
          </a:prstGeom>
        </p:spPr>
      </p:pic>
      <p:sp>
        <p:nvSpPr>
          <p:cNvPr id="23" name="text-94"/>
          <p:cNvSpPr txBox="1"/>
          <p:nvPr/>
        </p:nvSpPr>
        <p:spPr>
          <a:xfrm>
            <a:off x="9308592" y="3931920"/>
            <a:ext cx="2057400" cy="640080"/>
          </a:xfrm>
          <a:prstGeom prst="rect">
            <a:avLst/>
          </a:prstGeom>
          <a:noFill/>
          <a:ln/>
        </p:spPr>
        <p:txBody>
          <a:bodyPr wrap="square" lIns="0" tIns="0" rIns="0" bIns="0" rtlCol="0" anchor="t"/>
          <a:lstStyle/>
          <a:p>
            <a:pPr indent="0" marL="0">
              <a:buNone/>
            </a:pPr>
            <a:r>
              <a:rPr lang="en-US" sz="2000" b="1" dirty="0">
                <a:solidFill>
                  <a:schemeClr val="tx1"/>
                </a:solidFill>
              </a:rPr>
              <a:t>Review and improve</a:t>
            </a:r>
            <a:endParaRPr lang="en-US" sz="2000" dirty="0"/>
          </a:p>
        </p:txBody>
      </p:sp>
      <p:sp>
        <p:nvSpPr>
          <p:cNvPr id="24" name="text-95"/>
          <p:cNvSpPr txBox="1"/>
          <p:nvPr/>
        </p:nvSpPr>
        <p:spPr>
          <a:xfrm>
            <a:off x="9308592" y="4617720"/>
            <a:ext cx="2057400" cy="1371600"/>
          </a:xfrm>
          <a:prstGeom prst="rect">
            <a:avLst/>
          </a:prstGeom>
          <a:noFill/>
          <a:ln/>
        </p:spPr>
        <p:txBody>
          <a:bodyPr wrap="square" lIns="0" tIns="0" rIns="0" bIns="0" rtlCol="0" anchor="t"/>
          <a:lstStyle/>
          <a:p>
            <a:pPr indent="0" marL="0">
              <a:buNone/>
            </a:pPr>
            <a:r>
              <a:rPr lang="en-US" sz="1600" dirty="0">
                <a:solidFill>
                  <a:schemeClr val="accent4"/>
                </a:solidFill>
              </a:rPr>
              <a:t>Record limitations and propose measurable improvements.</a:t>
            </a:r>
            <a:endParaRPr lang="en-US" sz="16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Dataset and Preprocessing</a:t>
            </a:r>
            <a:endParaRPr lang="en-US" sz="3600" dirty="0"/>
          </a:p>
        </p:txBody>
      </p:sp>
      <p:sp>
        <p:nvSpPr>
          <p:cNvPr id="3" name="card-96"/>
          <p:cNvSpPr/>
          <p:nvPr/>
        </p:nvSpPr>
        <p:spPr>
          <a:xfrm>
            <a:off x="548640" y="1463040"/>
            <a:ext cx="1691640" cy="1234440"/>
          </a:xfrm>
          <a:prstGeom prst="roundRect">
            <a:avLst>
              <a:gd name="adj" fmla="val 7407"/>
            </a:avLst>
          </a:prstGeom>
          <a:solidFill>
            <a:schemeClr val="bg2"/>
          </a:solidFill>
          <a:ln/>
        </p:spPr>
      </p:sp>
      <p:sp>
        <p:nvSpPr>
          <p:cNvPr id="4" name="text-97"/>
          <p:cNvSpPr txBox="1"/>
          <p:nvPr/>
        </p:nvSpPr>
        <p:spPr>
          <a:xfrm>
            <a:off x="548640" y="1536192"/>
            <a:ext cx="1691640" cy="640080"/>
          </a:xfrm>
          <a:prstGeom prst="rect">
            <a:avLst/>
          </a:prstGeom>
          <a:noFill/>
          <a:ln/>
        </p:spPr>
        <p:txBody>
          <a:bodyPr wrap="square" lIns="0" tIns="0" rIns="0" bIns="0" rtlCol="0" anchor="ctr"/>
          <a:lstStyle/>
          <a:p>
            <a:pPr algn="ctr" indent="0" marL="0">
              <a:buNone/>
            </a:pPr>
            <a:r>
              <a:rPr lang="en-US" sz="3400" b="1" dirty="0">
                <a:solidFill>
                  <a:schemeClr val="tx2"/>
                </a:solidFill>
              </a:rPr>
              <a:t>260</a:t>
            </a:r>
            <a:endParaRPr lang="en-US" sz="3400" dirty="0"/>
          </a:p>
        </p:txBody>
      </p:sp>
      <p:sp>
        <p:nvSpPr>
          <p:cNvPr id="5" name="text-98"/>
          <p:cNvSpPr txBox="1"/>
          <p:nvPr/>
        </p:nvSpPr>
        <p:spPr>
          <a:xfrm>
            <a:off x="640080" y="2194560"/>
            <a:ext cx="1508760" cy="457200"/>
          </a:xfrm>
          <a:prstGeom prst="rect">
            <a:avLst/>
          </a:prstGeom>
          <a:noFill/>
          <a:ln/>
        </p:spPr>
        <p:txBody>
          <a:bodyPr wrap="square" lIns="0" tIns="0" rIns="0" bIns="0" rtlCol="0" anchor="t"/>
          <a:lstStyle/>
          <a:p>
            <a:pPr algn="ctr" indent="0" marL="0">
              <a:buNone/>
            </a:pPr>
            <a:r>
              <a:rPr lang="en-US" sz="1200" dirty="0">
                <a:solidFill>
                  <a:schemeClr val="accent4"/>
                </a:solidFill>
              </a:rPr>
              <a:t>forged image sets</a:t>
            </a:r>
            <a:endParaRPr lang="en-US" sz="1200" dirty="0"/>
          </a:p>
        </p:txBody>
      </p:sp>
      <p:sp>
        <p:nvSpPr>
          <p:cNvPr id="6" name="card-99"/>
          <p:cNvSpPr/>
          <p:nvPr/>
        </p:nvSpPr>
        <p:spPr>
          <a:xfrm>
            <a:off x="2359152" y="1463040"/>
            <a:ext cx="1691640" cy="1234440"/>
          </a:xfrm>
          <a:prstGeom prst="roundRect">
            <a:avLst>
              <a:gd name="adj" fmla="val 7407"/>
            </a:avLst>
          </a:prstGeom>
          <a:solidFill>
            <a:schemeClr val="bg2"/>
          </a:solidFill>
          <a:ln/>
        </p:spPr>
      </p:sp>
      <p:sp>
        <p:nvSpPr>
          <p:cNvPr id="7" name="text-100"/>
          <p:cNvSpPr txBox="1"/>
          <p:nvPr/>
        </p:nvSpPr>
        <p:spPr>
          <a:xfrm>
            <a:off x="2359152" y="1536192"/>
            <a:ext cx="1691640" cy="640080"/>
          </a:xfrm>
          <a:prstGeom prst="rect">
            <a:avLst/>
          </a:prstGeom>
          <a:noFill/>
          <a:ln/>
        </p:spPr>
        <p:txBody>
          <a:bodyPr wrap="square" lIns="0" tIns="0" rIns="0" bIns="0" rtlCol="0" anchor="ctr"/>
          <a:lstStyle/>
          <a:p>
            <a:pPr algn="ctr" indent="0" marL="0">
              <a:buNone/>
            </a:pPr>
            <a:r>
              <a:rPr lang="en-US" sz="3400" b="1" dirty="0">
                <a:solidFill>
                  <a:schemeClr val="tx2"/>
                </a:solidFill>
              </a:rPr>
              <a:t>200</a:t>
            </a:r>
            <a:endParaRPr lang="en-US" sz="3400" dirty="0"/>
          </a:p>
        </p:txBody>
      </p:sp>
      <p:sp>
        <p:nvSpPr>
          <p:cNvPr id="8" name="text-101"/>
          <p:cNvSpPr txBox="1"/>
          <p:nvPr/>
        </p:nvSpPr>
        <p:spPr>
          <a:xfrm>
            <a:off x="2450592" y="2194560"/>
            <a:ext cx="1508760" cy="457200"/>
          </a:xfrm>
          <a:prstGeom prst="rect">
            <a:avLst/>
          </a:prstGeom>
          <a:noFill/>
          <a:ln/>
        </p:spPr>
        <p:txBody>
          <a:bodyPr wrap="square" lIns="0" tIns="0" rIns="0" bIns="0" rtlCol="0" anchor="t"/>
          <a:lstStyle/>
          <a:p>
            <a:pPr algn="ctr" indent="0" marL="0">
              <a:buNone/>
            </a:pPr>
            <a:r>
              <a:rPr lang="en-US" sz="1200" dirty="0">
                <a:solidFill>
                  <a:schemeClr val="accent4"/>
                </a:solidFill>
              </a:rPr>
              <a:t>small, 512 x 512 px</a:t>
            </a:r>
            <a:endParaRPr lang="en-US" sz="1200" dirty="0"/>
          </a:p>
        </p:txBody>
      </p:sp>
      <p:sp>
        <p:nvSpPr>
          <p:cNvPr id="9" name="card-102"/>
          <p:cNvSpPr/>
          <p:nvPr/>
        </p:nvSpPr>
        <p:spPr>
          <a:xfrm>
            <a:off x="4169664" y="1463040"/>
            <a:ext cx="1691640" cy="1234440"/>
          </a:xfrm>
          <a:prstGeom prst="roundRect">
            <a:avLst>
              <a:gd name="adj" fmla="val 7407"/>
            </a:avLst>
          </a:prstGeom>
          <a:solidFill>
            <a:schemeClr val="bg2"/>
          </a:solidFill>
          <a:ln/>
        </p:spPr>
      </p:sp>
      <p:sp>
        <p:nvSpPr>
          <p:cNvPr id="10" name="text-103"/>
          <p:cNvSpPr txBox="1"/>
          <p:nvPr/>
        </p:nvSpPr>
        <p:spPr>
          <a:xfrm>
            <a:off x="4169664" y="1536192"/>
            <a:ext cx="1691640" cy="640080"/>
          </a:xfrm>
          <a:prstGeom prst="rect">
            <a:avLst/>
          </a:prstGeom>
          <a:noFill/>
          <a:ln/>
        </p:spPr>
        <p:txBody>
          <a:bodyPr wrap="square" lIns="0" tIns="0" rIns="0" bIns="0" rtlCol="0" anchor="ctr"/>
          <a:lstStyle/>
          <a:p>
            <a:pPr algn="ctr" indent="0" marL="0">
              <a:buNone/>
            </a:pPr>
            <a:r>
              <a:rPr lang="en-US" sz="3400" b="1" dirty="0">
                <a:solidFill>
                  <a:schemeClr val="tx2"/>
                </a:solidFill>
              </a:rPr>
              <a:t>60</a:t>
            </a:r>
            <a:endParaRPr lang="en-US" sz="3400" dirty="0"/>
          </a:p>
        </p:txBody>
      </p:sp>
      <p:sp>
        <p:nvSpPr>
          <p:cNvPr id="11" name="text-104"/>
          <p:cNvSpPr txBox="1"/>
          <p:nvPr/>
        </p:nvSpPr>
        <p:spPr>
          <a:xfrm>
            <a:off x="4261104" y="2194560"/>
            <a:ext cx="1508760" cy="457200"/>
          </a:xfrm>
          <a:prstGeom prst="rect">
            <a:avLst/>
          </a:prstGeom>
          <a:noFill/>
          <a:ln/>
        </p:spPr>
        <p:txBody>
          <a:bodyPr wrap="square" lIns="0" tIns="0" rIns="0" bIns="0" rtlCol="0" anchor="t"/>
          <a:lstStyle/>
          <a:p>
            <a:pPr algn="ctr" indent="0" marL="0">
              <a:buNone/>
            </a:pPr>
            <a:r>
              <a:rPr lang="en-US" sz="1200" dirty="0">
                <a:solidFill>
                  <a:schemeClr val="accent4"/>
                </a:solidFill>
              </a:rPr>
              <a:t>large images</a:t>
            </a:r>
            <a:endParaRPr lang="en-US" sz="1200" dirty="0"/>
          </a:p>
        </p:txBody>
      </p:sp>
      <p:graphicFrame>
        <p:nvGraphicFramePr>
          <p:cNvPr id="7" name="file-table"/>
          <p:cNvGraphicFramePr>
            <a:graphicFrameLocks noGrp="1"/>
          </p:cNvGraphicFramePr>
          <p:nvPr>
            <p:extLst>
              <p:ext uri="{D42A27DB-BD31-4B8C-83A1-F6EECF244321}">
                <p14:modId xmlns:p14="http://schemas.microsoft.com/office/powerpoint/2010/main" val="1579011935"/>
              </p:ext>
            </p:extLst>
          </p:nvPr>
        </p:nvGraphicFramePr>
        <p:xfrm>
          <a:off x="548640" y="2971800"/>
          <a:ext cx="5303520" cy="914400"/>
        </p:xfrm>
        <a:graphic>
          <a:graphicData uri="http://schemas.openxmlformats.org/drawingml/2006/table">
            <a:tbl>
              <a:tblPr/>
              <a:tblGrid>
                <a:gridCol w="1554480"/>
                <a:gridCol w="1920240"/>
                <a:gridCol w="1828800"/>
              </a:tblGrid>
              <a:tr h="457200">
                <a:tc>
                  <a:txBody>
                    <a:bodyPr/>
                    <a:lstStyle/>
                    <a:p>
                      <a:pPr indent="0" marL="0">
                        <a:buNone/>
                      </a:pPr>
                      <a:r>
                        <a:rPr lang="en-US" sz="1300" b="1" dirty="0">
                          <a:solidFill>
                            <a:srgbClr val="FFFFFF"/>
                          </a:solidFill>
                          <a:latin typeface="+mn-lt" pitchFamily="34" charset="0"/>
                          <a:ea typeface="+mn-lt" pitchFamily="34" charset="-122"/>
                          <a:cs typeface="+mn-lt" pitchFamily="34" charset="-120"/>
                        </a:rPr>
                        <a:t>File</a:t>
                      </a:r>
                      <a:endParaRPr lang="en-US" sz="1300" dirty="0">
                        <a:latin typeface="+mn-lt" charset="0"/>
                        <a:ea typeface="+mn-lt" charset="0"/>
                        <a:cs typeface="+mn-lt" charset="0"/>
                      </a:endParaRPr>
                    </a:p>
                  </a:txBody>
                  <a:tcPr marL="91440" marR="91440" marT="45720" marB="45720" anchor="ctr">
                    <a:lnL w="6350" cap="flat" cmpd="sng" algn="ctr">
                      <a:solidFill>
                        <a:srgbClr val="D7DCE5"/>
                      </a:solidFill>
                      <a:prstDash val="solid"/>
                      <a:round/>
                      <a:headEnd type="none" w="med" len="med"/>
                      <a:tailEnd type="none" w="med" len="med"/>
                    </a:lnL>
                    <a:lnR w="6350" cap="flat" cmpd="sng" algn="ctr">
                      <a:solidFill>
                        <a:srgbClr val="D7DCE5"/>
                      </a:solidFill>
                      <a:prstDash val="solid"/>
                      <a:round/>
                      <a:headEnd type="none" w="med" len="med"/>
                      <a:tailEnd type="none" w="med" len="med"/>
                    </a:lnR>
                    <a:lnT w="6350" cap="flat" cmpd="sng" algn="ctr">
                      <a:solidFill>
                        <a:srgbClr val="D7DCE5"/>
                      </a:solidFill>
                      <a:prstDash val="solid"/>
                      <a:round/>
                      <a:headEnd type="none" w="med" len="med"/>
                      <a:tailEnd type="none" w="med" len="med"/>
                    </a:lnT>
                    <a:lnB w="6350" cap="flat" cmpd="sng" algn="ctr">
                      <a:solidFill>
                        <a:srgbClr val="D7DCE5"/>
                      </a:solidFill>
                      <a:prstDash val="solid"/>
                      <a:round/>
                      <a:headEnd type="none" w="med" len="med"/>
                      <a:tailEnd type="none" w="med" len="med"/>
                    </a:lnB>
                    <a:solidFill>
                      <a:srgbClr val="0F766E"/>
                    </a:solidFill>
                  </a:tcPr>
                </a:tc>
                <a:tc>
                  <a:txBody>
                    <a:bodyPr/>
                    <a:lstStyle/>
                    <a:p>
                      <a:pPr indent="0" marL="0">
                        <a:buNone/>
                      </a:pPr>
                      <a:r>
                        <a:rPr lang="en-US" sz="1300" b="1" dirty="0">
                          <a:solidFill>
                            <a:srgbClr val="FFFFFF"/>
                          </a:solidFill>
                          <a:latin typeface="+mn-lt" pitchFamily="34" charset="0"/>
                          <a:ea typeface="+mn-lt" pitchFamily="34" charset="-122"/>
                          <a:cs typeface="+mn-lt" pitchFamily="34" charset="-120"/>
                        </a:rPr>
                        <a:t>Meaning</a:t>
                      </a:r>
                      <a:endParaRPr lang="en-US" sz="1300" dirty="0">
                        <a:latin typeface="+mn-lt" charset="0"/>
                        <a:ea typeface="+mn-lt" charset="0"/>
                        <a:cs typeface="+mn-lt" charset="0"/>
                      </a:endParaRPr>
                    </a:p>
                  </a:txBody>
                  <a:tcPr marL="91440" marR="91440" marT="45720" marB="45720" anchor="ctr">
                    <a:lnL w="6350" cap="flat" cmpd="sng" algn="ctr">
                      <a:solidFill>
                        <a:srgbClr val="D7DCE5"/>
                      </a:solidFill>
                      <a:prstDash val="solid"/>
                      <a:round/>
                      <a:headEnd type="none" w="med" len="med"/>
                      <a:tailEnd type="none" w="med" len="med"/>
                    </a:lnL>
                    <a:lnR w="6350" cap="flat" cmpd="sng" algn="ctr">
                      <a:solidFill>
                        <a:srgbClr val="D7DCE5"/>
                      </a:solidFill>
                      <a:prstDash val="solid"/>
                      <a:round/>
                      <a:headEnd type="none" w="med" len="med"/>
                      <a:tailEnd type="none" w="med" len="med"/>
                    </a:lnR>
                    <a:lnT w="6350" cap="flat" cmpd="sng" algn="ctr">
                      <a:solidFill>
                        <a:srgbClr val="D7DCE5"/>
                      </a:solidFill>
                      <a:prstDash val="solid"/>
                      <a:round/>
                      <a:headEnd type="none" w="med" len="med"/>
                      <a:tailEnd type="none" w="med" len="med"/>
                    </a:lnT>
                    <a:lnB w="6350" cap="flat" cmpd="sng" algn="ctr">
                      <a:solidFill>
                        <a:srgbClr val="D7DCE5"/>
                      </a:solidFill>
                      <a:prstDash val="solid"/>
                      <a:round/>
                      <a:headEnd type="none" w="med" len="med"/>
                      <a:tailEnd type="none" w="med" len="med"/>
                    </a:lnB>
                    <a:solidFill>
                      <a:srgbClr val="0F766E"/>
                    </a:solidFill>
                  </a:tcPr>
                </a:tc>
                <a:tc>
                  <a:txBody>
                    <a:bodyPr/>
                    <a:lstStyle/>
                    <a:p>
                      <a:pPr indent="0" marL="0">
                        <a:buNone/>
                      </a:pPr>
                      <a:r>
                        <a:rPr lang="en-US" sz="1300" b="1" dirty="0">
                          <a:solidFill>
                            <a:srgbClr val="FFFFFF"/>
                          </a:solidFill>
                          <a:latin typeface="+mn-lt" pitchFamily="34" charset="0"/>
                          <a:ea typeface="+mn-lt" pitchFamily="34" charset="-122"/>
                          <a:cs typeface="+mn-lt" pitchFamily="34" charset="-120"/>
                        </a:rPr>
                        <a:t>Our use</a:t>
                      </a:r>
                      <a:endParaRPr lang="en-US" sz="1300" dirty="0">
                        <a:latin typeface="+mn-lt" charset="0"/>
                        <a:ea typeface="+mn-lt" charset="0"/>
                        <a:cs typeface="+mn-lt" charset="0"/>
                      </a:endParaRPr>
                    </a:p>
                  </a:txBody>
                  <a:tcPr marL="91440" marR="91440" marT="45720" marB="45720" anchor="ctr">
                    <a:lnL w="6350" cap="flat" cmpd="sng" algn="ctr">
                      <a:solidFill>
                        <a:srgbClr val="D7DCE5"/>
                      </a:solidFill>
                      <a:prstDash val="solid"/>
                      <a:round/>
                      <a:headEnd type="none" w="med" len="med"/>
                      <a:tailEnd type="none" w="med" len="med"/>
                    </a:lnL>
                    <a:lnR w="6350" cap="flat" cmpd="sng" algn="ctr">
                      <a:solidFill>
                        <a:srgbClr val="D7DCE5"/>
                      </a:solidFill>
                      <a:prstDash val="solid"/>
                      <a:round/>
                      <a:headEnd type="none" w="med" len="med"/>
                      <a:tailEnd type="none" w="med" len="med"/>
                    </a:lnR>
                    <a:lnT w="6350" cap="flat" cmpd="sng" algn="ctr">
                      <a:solidFill>
                        <a:srgbClr val="D7DCE5"/>
                      </a:solidFill>
                      <a:prstDash val="solid"/>
                      <a:round/>
                      <a:headEnd type="none" w="med" len="med"/>
                      <a:tailEnd type="none" w="med" len="med"/>
                    </a:lnT>
                    <a:lnB w="6350" cap="flat" cmpd="sng" algn="ctr">
                      <a:solidFill>
                        <a:srgbClr val="D7DCE5"/>
                      </a:solidFill>
                      <a:prstDash val="solid"/>
                      <a:round/>
                      <a:headEnd type="none" w="med" len="med"/>
                      <a:tailEnd type="none" w="med" len="med"/>
                    </a:lnB>
                    <a:solidFill>
                      <a:srgbClr val="0F766E"/>
                    </a:solidFill>
                  </a:tcPr>
                </a:tc>
              </a:tr>
              <a:tr h="457200">
                <a:tc>
                  <a:txBody>
                    <a:bodyPr/>
                    <a:lstStyle/>
                    <a:p>
                      <a:pPr indent="0" marL="0">
                        <a:buNone/>
                      </a:pPr>
                      <a:r>
                        <a:rPr lang="en-US" sz="1300" dirty="0">
                          <a:solidFill>
                            <a:srgbClr val="14213D"/>
                          </a:solidFill>
                          <a:latin typeface="+mn-lt" pitchFamily="34" charset="0"/>
                          <a:ea typeface="+mn-lt" pitchFamily="34" charset="-122"/>
                          <a:cs typeface="+mn-lt" pitchFamily="34" charset="-120"/>
                        </a:rPr>
                        <a:t>001_F.png</a:t>
                      </a:r>
                      <a:endParaRPr lang="en-US" sz="1300" dirty="0">
                        <a:latin typeface="+mn-lt" charset="0"/>
                        <a:ea typeface="+mn-lt" charset="0"/>
                        <a:cs typeface="+mn-lt" charset="0"/>
                      </a:endParaRPr>
                    </a:p>
                  </a:txBody>
                  <a:tcPr marL="91440" marR="91440" marT="45720" marB="45720" anchor="ctr">
                    <a:lnL w="6350" cap="flat" cmpd="sng" algn="ctr">
                      <a:solidFill>
                        <a:srgbClr val="D7DCE5"/>
                      </a:solidFill>
                      <a:prstDash val="solid"/>
                      <a:round/>
                      <a:headEnd type="none" w="med" len="med"/>
                      <a:tailEnd type="none" w="med" len="med"/>
                    </a:lnL>
                    <a:lnR w="6350" cap="flat" cmpd="sng" algn="ctr">
                      <a:solidFill>
                        <a:srgbClr val="D7DCE5"/>
                      </a:solidFill>
                      <a:prstDash val="solid"/>
                      <a:round/>
                      <a:headEnd type="none" w="med" len="med"/>
                      <a:tailEnd type="none" w="med" len="med"/>
                    </a:lnR>
                    <a:lnT w="6350" cap="flat" cmpd="sng" algn="ctr">
                      <a:solidFill>
                        <a:srgbClr val="D7DCE5"/>
                      </a:solidFill>
                      <a:prstDash val="solid"/>
                      <a:round/>
                      <a:headEnd type="none" w="med" len="med"/>
                      <a:tailEnd type="none" w="med" len="med"/>
                    </a:lnT>
                    <a:lnB w="6350" cap="flat" cmpd="sng" algn="ctr">
                      <a:solidFill>
                        <a:srgbClr val="D7DCE5"/>
                      </a:solidFill>
                      <a:prstDash val="solid"/>
                      <a:round/>
                      <a:headEnd type="none" w="med" len="med"/>
                      <a:tailEnd type="none" w="med" len="med"/>
                    </a:lnB>
                  </a:tcPr>
                </a:tc>
                <a:tc>
                  <a:txBody>
                    <a:bodyPr/>
                    <a:lstStyle/>
                    <a:p>
                      <a:pPr indent="0" marL="0">
                        <a:buNone/>
                      </a:pPr>
                      <a:r>
                        <a:rPr lang="en-US" sz="1300" dirty="0">
                          <a:solidFill>
                            <a:srgbClr val="14213D"/>
                          </a:solidFill>
                          <a:latin typeface="+mn-lt" pitchFamily="34" charset="0"/>
                          <a:ea typeface="+mn-lt" pitchFamily="34" charset="-122"/>
                          <a:cs typeface="+mn-lt" pitchFamily="34" charset="-120"/>
                        </a:rPr>
                        <a:t>Forged image</a:t>
                      </a:r>
                      <a:endParaRPr lang="en-US" sz="1300" dirty="0">
                        <a:latin typeface="+mn-lt" charset="0"/>
                        <a:ea typeface="+mn-lt" charset="0"/>
                        <a:cs typeface="+mn-lt" charset="0"/>
                      </a:endParaRPr>
                    </a:p>
                  </a:txBody>
                  <a:tcPr marL="91440" marR="91440" marT="45720" marB="45720" anchor="ctr">
                    <a:lnL w="6350" cap="flat" cmpd="sng" algn="ctr">
                      <a:solidFill>
                        <a:srgbClr val="D7DCE5"/>
                      </a:solidFill>
                      <a:prstDash val="solid"/>
                      <a:round/>
                      <a:headEnd type="none" w="med" len="med"/>
                      <a:tailEnd type="none" w="med" len="med"/>
                    </a:lnL>
                    <a:lnR w="6350" cap="flat" cmpd="sng" algn="ctr">
                      <a:solidFill>
                        <a:srgbClr val="D7DCE5"/>
                      </a:solidFill>
                      <a:prstDash val="solid"/>
                      <a:round/>
                      <a:headEnd type="none" w="med" len="med"/>
                      <a:tailEnd type="none" w="med" len="med"/>
                    </a:lnR>
                    <a:lnT w="6350" cap="flat" cmpd="sng" algn="ctr">
                      <a:solidFill>
                        <a:srgbClr val="D7DCE5"/>
                      </a:solidFill>
                      <a:prstDash val="solid"/>
                      <a:round/>
                      <a:headEnd type="none" w="med" len="med"/>
                      <a:tailEnd type="none" w="med" len="med"/>
                    </a:lnT>
                    <a:lnB w="6350" cap="flat" cmpd="sng" algn="ctr">
                      <a:solidFill>
                        <a:srgbClr val="D7DCE5"/>
                      </a:solidFill>
                      <a:prstDash val="solid"/>
                      <a:round/>
                      <a:headEnd type="none" w="med" len="med"/>
                      <a:tailEnd type="none" w="med" len="med"/>
                    </a:lnB>
                  </a:tcPr>
                </a:tc>
                <a:tc>
                  <a:txBody>
                    <a:bodyPr/>
                    <a:lstStyle/>
                    <a:p>
                      <a:pPr indent="0" marL="0">
                        <a:buNone/>
                      </a:pPr>
                      <a:r>
                        <a:rPr lang="en-US" sz="1300" dirty="0">
                          <a:solidFill>
                            <a:srgbClr val="14213D"/>
                          </a:solidFill>
                          <a:latin typeface="+mn-lt" pitchFamily="34" charset="0"/>
                          <a:ea typeface="+mn-lt" pitchFamily="34" charset="-122"/>
                          <a:cs typeface="+mn-lt" pitchFamily="34" charset="-120"/>
                        </a:rPr>
                        <a:t>Positive sample</a:t>
                      </a:r>
                      <a:endParaRPr lang="en-US" sz="1300" dirty="0">
                        <a:latin typeface="+mn-lt" charset="0"/>
                        <a:ea typeface="+mn-lt" charset="0"/>
                        <a:cs typeface="+mn-lt" charset="0"/>
                      </a:endParaRPr>
                    </a:p>
                  </a:txBody>
                  <a:tcPr marL="91440" marR="91440" marT="45720" marB="45720" anchor="ctr">
                    <a:lnL w="6350" cap="flat" cmpd="sng" algn="ctr">
                      <a:solidFill>
                        <a:srgbClr val="D7DCE5"/>
                      </a:solidFill>
                      <a:prstDash val="solid"/>
                      <a:round/>
                      <a:headEnd type="none" w="med" len="med"/>
                      <a:tailEnd type="none" w="med" len="med"/>
                    </a:lnL>
                    <a:lnR w="6350" cap="flat" cmpd="sng" algn="ctr">
                      <a:solidFill>
                        <a:srgbClr val="D7DCE5"/>
                      </a:solidFill>
                      <a:prstDash val="solid"/>
                      <a:round/>
                      <a:headEnd type="none" w="med" len="med"/>
                      <a:tailEnd type="none" w="med" len="med"/>
                    </a:lnR>
                    <a:lnT w="6350" cap="flat" cmpd="sng" algn="ctr">
                      <a:solidFill>
                        <a:srgbClr val="D7DCE5"/>
                      </a:solidFill>
                      <a:prstDash val="solid"/>
                      <a:round/>
                      <a:headEnd type="none" w="med" len="med"/>
                      <a:tailEnd type="none" w="med" len="med"/>
                    </a:lnT>
                    <a:lnB w="6350" cap="flat" cmpd="sng" algn="ctr">
                      <a:solidFill>
                        <a:srgbClr val="D7DCE5"/>
                      </a:solidFill>
                      <a:prstDash val="solid"/>
                      <a:round/>
                      <a:headEnd type="none" w="med" len="med"/>
                      <a:tailEnd type="none" w="med" len="med"/>
                    </a:lnB>
                  </a:tcPr>
                </a:tc>
              </a:tr>
              <a:tr h="457200">
                <a:tc>
                  <a:txBody>
                    <a:bodyPr/>
                    <a:lstStyle/>
                    <a:p>
                      <a:pPr indent="0" marL="0">
                        <a:buNone/>
                      </a:pPr>
                      <a:r>
                        <a:rPr lang="en-US" sz="1300" dirty="0">
                          <a:solidFill>
                            <a:srgbClr val="14213D"/>
                          </a:solidFill>
                          <a:latin typeface="+mn-lt" pitchFamily="34" charset="0"/>
                          <a:ea typeface="+mn-lt" pitchFamily="34" charset="-122"/>
                          <a:cs typeface="+mn-lt" pitchFamily="34" charset="-120"/>
                        </a:rPr>
                        <a:t>001_O.png</a:t>
                      </a:r>
                      <a:endParaRPr lang="en-US" sz="1300" dirty="0">
                        <a:latin typeface="+mn-lt" charset="0"/>
                        <a:ea typeface="+mn-lt" charset="0"/>
                        <a:cs typeface="+mn-lt" charset="0"/>
                      </a:endParaRPr>
                    </a:p>
                  </a:txBody>
                  <a:tcPr marL="91440" marR="91440" marT="45720" marB="45720" anchor="ctr">
                    <a:lnL w="6350" cap="flat" cmpd="sng" algn="ctr">
                      <a:solidFill>
                        <a:srgbClr val="D7DCE5"/>
                      </a:solidFill>
                      <a:prstDash val="solid"/>
                      <a:round/>
                      <a:headEnd type="none" w="med" len="med"/>
                      <a:tailEnd type="none" w="med" len="med"/>
                    </a:lnL>
                    <a:lnR w="6350" cap="flat" cmpd="sng" algn="ctr">
                      <a:solidFill>
                        <a:srgbClr val="D7DCE5"/>
                      </a:solidFill>
                      <a:prstDash val="solid"/>
                      <a:round/>
                      <a:headEnd type="none" w="med" len="med"/>
                      <a:tailEnd type="none" w="med" len="med"/>
                    </a:lnR>
                    <a:lnT w="6350" cap="flat" cmpd="sng" algn="ctr">
                      <a:solidFill>
                        <a:srgbClr val="D7DCE5"/>
                      </a:solidFill>
                      <a:prstDash val="solid"/>
                      <a:round/>
                      <a:headEnd type="none" w="med" len="med"/>
                      <a:tailEnd type="none" w="med" len="med"/>
                    </a:lnT>
                    <a:lnB w="6350" cap="flat" cmpd="sng" algn="ctr">
                      <a:solidFill>
                        <a:srgbClr val="D7DCE5"/>
                      </a:solidFill>
                      <a:prstDash val="solid"/>
                      <a:round/>
                      <a:headEnd type="none" w="med" len="med"/>
                      <a:tailEnd type="none" w="med" len="med"/>
                    </a:lnB>
                  </a:tcPr>
                </a:tc>
                <a:tc>
                  <a:txBody>
                    <a:bodyPr/>
                    <a:lstStyle/>
                    <a:p>
                      <a:pPr indent="0" marL="0">
                        <a:buNone/>
                      </a:pPr>
                      <a:r>
                        <a:rPr lang="en-US" sz="1300" dirty="0">
                          <a:solidFill>
                            <a:srgbClr val="14213D"/>
                          </a:solidFill>
                          <a:latin typeface="+mn-lt" pitchFamily="34" charset="0"/>
                          <a:ea typeface="+mn-lt" pitchFamily="34" charset="-122"/>
                          <a:cs typeface="+mn-lt" pitchFamily="34" charset="-120"/>
                        </a:rPr>
                        <a:t>Original image</a:t>
                      </a:r>
                      <a:endParaRPr lang="en-US" sz="1300" dirty="0">
                        <a:latin typeface="+mn-lt" charset="0"/>
                        <a:ea typeface="+mn-lt" charset="0"/>
                        <a:cs typeface="+mn-lt" charset="0"/>
                      </a:endParaRPr>
                    </a:p>
                  </a:txBody>
                  <a:tcPr marL="91440" marR="91440" marT="45720" marB="45720" anchor="ctr">
                    <a:lnL w="6350" cap="flat" cmpd="sng" algn="ctr">
                      <a:solidFill>
                        <a:srgbClr val="D7DCE5"/>
                      </a:solidFill>
                      <a:prstDash val="solid"/>
                      <a:round/>
                      <a:headEnd type="none" w="med" len="med"/>
                      <a:tailEnd type="none" w="med" len="med"/>
                    </a:lnL>
                    <a:lnR w="6350" cap="flat" cmpd="sng" algn="ctr">
                      <a:solidFill>
                        <a:srgbClr val="D7DCE5"/>
                      </a:solidFill>
                      <a:prstDash val="solid"/>
                      <a:round/>
                      <a:headEnd type="none" w="med" len="med"/>
                      <a:tailEnd type="none" w="med" len="med"/>
                    </a:lnR>
                    <a:lnT w="6350" cap="flat" cmpd="sng" algn="ctr">
                      <a:solidFill>
                        <a:srgbClr val="D7DCE5"/>
                      </a:solidFill>
                      <a:prstDash val="solid"/>
                      <a:round/>
                      <a:headEnd type="none" w="med" len="med"/>
                      <a:tailEnd type="none" w="med" len="med"/>
                    </a:lnT>
                    <a:lnB w="6350" cap="flat" cmpd="sng" algn="ctr">
                      <a:solidFill>
                        <a:srgbClr val="D7DCE5"/>
                      </a:solidFill>
                      <a:prstDash val="solid"/>
                      <a:round/>
                      <a:headEnd type="none" w="med" len="med"/>
                      <a:tailEnd type="none" w="med" len="med"/>
                    </a:lnB>
                  </a:tcPr>
                </a:tc>
                <a:tc>
                  <a:txBody>
                    <a:bodyPr/>
                    <a:lstStyle/>
                    <a:p>
                      <a:pPr indent="0" marL="0">
                        <a:buNone/>
                      </a:pPr>
                      <a:r>
                        <a:rPr lang="en-US" sz="1300" dirty="0">
                          <a:solidFill>
                            <a:srgbClr val="14213D"/>
                          </a:solidFill>
                          <a:latin typeface="+mn-lt" pitchFamily="34" charset="0"/>
                          <a:ea typeface="+mn-lt" pitchFamily="34" charset="-122"/>
                          <a:cs typeface="+mn-lt" pitchFamily="34" charset="-120"/>
                        </a:rPr>
                        <a:t>Negative sample</a:t>
                      </a:r>
                      <a:endParaRPr lang="en-US" sz="1300" dirty="0">
                        <a:latin typeface="+mn-lt" charset="0"/>
                        <a:ea typeface="+mn-lt" charset="0"/>
                        <a:cs typeface="+mn-lt" charset="0"/>
                      </a:endParaRPr>
                    </a:p>
                  </a:txBody>
                  <a:tcPr marL="91440" marR="91440" marT="45720" marB="45720" anchor="ctr">
                    <a:lnL w="6350" cap="flat" cmpd="sng" algn="ctr">
                      <a:solidFill>
                        <a:srgbClr val="D7DCE5"/>
                      </a:solidFill>
                      <a:prstDash val="solid"/>
                      <a:round/>
                      <a:headEnd type="none" w="med" len="med"/>
                      <a:tailEnd type="none" w="med" len="med"/>
                    </a:lnL>
                    <a:lnR w="6350" cap="flat" cmpd="sng" algn="ctr">
                      <a:solidFill>
                        <a:srgbClr val="D7DCE5"/>
                      </a:solidFill>
                      <a:prstDash val="solid"/>
                      <a:round/>
                      <a:headEnd type="none" w="med" len="med"/>
                      <a:tailEnd type="none" w="med" len="med"/>
                    </a:lnR>
                    <a:lnT w="6350" cap="flat" cmpd="sng" algn="ctr">
                      <a:solidFill>
                        <a:srgbClr val="D7DCE5"/>
                      </a:solidFill>
                      <a:prstDash val="solid"/>
                      <a:round/>
                      <a:headEnd type="none" w="med" len="med"/>
                      <a:tailEnd type="none" w="med" len="med"/>
                    </a:lnT>
                    <a:lnB w="6350" cap="flat" cmpd="sng" algn="ctr">
                      <a:solidFill>
                        <a:srgbClr val="D7DCE5"/>
                      </a:solidFill>
                      <a:prstDash val="solid"/>
                      <a:round/>
                      <a:headEnd type="none" w="med" len="med"/>
                      <a:tailEnd type="none" w="med" len="med"/>
                    </a:lnB>
                  </a:tcPr>
                </a:tc>
              </a:tr>
              <a:tr h="457200">
                <a:tc>
                  <a:txBody>
                    <a:bodyPr/>
                    <a:lstStyle/>
                    <a:p>
                      <a:pPr indent="0" marL="0">
                        <a:buNone/>
                      </a:pPr>
                      <a:r>
                        <a:rPr lang="en-US" sz="1300" dirty="0">
                          <a:solidFill>
                            <a:srgbClr val="14213D"/>
                          </a:solidFill>
                          <a:latin typeface="+mn-lt" pitchFamily="34" charset="0"/>
                          <a:ea typeface="+mn-lt" pitchFamily="34" charset="-122"/>
                          <a:cs typeface="+mn-lt" pitchFamily="34" charset="-120"/>
                        </a:rPr>
                        <a:t>001_B.png</a:t>
                      </a:r>
                      <a:endParaRPr lang="en-US" sz="1300" dirty="0">
                        <a:latin typeface="+mn-lt" charset="0"/>
                        <a:ea typeface="+mn-lt" charset="0"/>
                        <a:cs typeface="+mn-lt" charset="0"/>
                      </a:endParaRPr>
                    </a:p>
                  </a:txBody>
                  <a:tcPr marL="91440" marR="91440" marT="45720" marB="45720" anchor="ctr">
                    <a:lnL w="6350" cap="flat" cmpd="sng" algn="ctr">
                      <a:solidFill>
                        <a:srgbClr val="D7DCE5"/>
                      </a:solidFill>
                      <a:prstDash val="solid"/>
                      <a:round/>
                      <a:headEnd type="none" w="med" len="med"/>
                      <a:tailEnd type="none" w="med" len="med"/>
                    </a:lnL>
                    <a:lnR w="6350" cap="flat" cmpd="sng" algn="ctr">
                      <a:solidFill>
                        <a:srgbClr val="D7DCE5"/>
                      </a:solidFill>
                      <a:prstDash val="solid"/>
                      <a:round/>
                      <a:headEnd type="none" w="med" len="med"/>
                      <a:tailEnd type="none" w="med" len="med"/>
                    </a:lnR>
                    <a:lnT w="6350" cap="flat" cmpd="sng" algn="ctr">
                      <a:solidFill>
                        <a:srgbClr val="D7DCE5"/>
                      </a:solidFill>
                      <a:prstDash val="solid"/>
                      <a:round/>
                      <a:headEnd type="none" w="med" len="med"/>
                      <a:tailEnd type="none" w="med" len="med"/>
                    </a:lnT>
                    <a:lnB w="6350" cap="flat" cmpd="sng" algn="ctr">
                      <a:solidFill>
                        <a:srgbClr val="D7DCE5"/>
                      </a:solidFill>
                      <a:prstDash val="solid"/>
                      <a:round/>
                      <a:headEnd type="none" w="med" len="med"/>
                      <a:tailEnd type="none" w="med" len="med"/>
                    </a:lnB>
                  </a:tcPr>
                </a:tc>
                <a:tc>
                  <a:txBody>
                    <a:bodyPr/>
                    <a:lstStyle/>
                    <a:p>
                      <a:pPr indent="0" marL="0">
                        <a:buNone/>
                      </a:pPr>
                      <a:r>
                        <a:rPr lang="en-US" sz="1300" dirty="0">
                          <a:solidFill>
                            <a:srgbClr val="14213D"/>
                          </a:solidFill>
                          <a:latin typeface="+mn-lt" pitchFamily="34" charset="0"/>
                          <a:ea typeface="+mn-lt" pitchFamily="34" charset="-122"/>
                          <a:cs typeface="+mn-lt" pitchFamily="34" charset="-120"/>
                        </a:rPr>
                        <a:t>Binary mask</a:t>
                      </a:r>
                      <a:endParaRPr lang="en-US" sz="1300" dirty="0">
                        <a:latin typeface="+mn-lt" charset="0"/>
                        <a:ea typeface="+mn-lt" charset="0"/>
                        <a:cs typeface="+mn-lt" charset="0"/>
                      </a:endParaRPr>
                    </a:p>
                  </a:txBody>
                  <a:tcPr marL="91440" marR="91440" marT="45720" marB="45720" anchor="ctr">
                    <a:lnL w="6350" cap="flat" cmpd="sng" algn="ctr">
                      <a:solidFill>
                        <a:srgbClr val="D7DCE5"/>
                      </a:solidFill>
                      <a:prstDash val="solid"/>
                      <a:round/>
                      <a:headEnd type="none" w="med" len="med"/>
                      <a:tailEnd type="none" w="med" len="med"/>
                    </a:lnL>
                    <a:lnR w="6350" cap="flat" cmpd="sng" algn="ctr">
                      <a:solidFill>
                        <a:srgbClr val="D7DCE5"/>
                      </a:solidFill>
                      <a:prstDash val="solid"/>
                      <a:round/>
                      <a:headEnd type="none" w="med" len="med"/>
                      <a:tailEnd type="none" w="med" len="med"/>
                    </a:lnR>
                    <a:lnT w="6350" cap="flat" cmpd="sng" algn="ctr">
                      <a:solidFill>
                        <a:srgbClr val="D7DCE5"/>
                      </a:solidFill>
                      <a:prstDash val="solid"/>
                      <a:round/>
                      <a:headEnd type="none" w="med" len="med"/>
                      <a:tailEnd type="none" w="med" len="med"/>
                    </a:lnT>
                    <a:lnB w="6350" cap="flat" cmpd="sng" algn="ctr">
                      <a:solidFill>
                        <a:srgbClr val="D7DCE5"/>
                      </a:solidFill>
                      <a:prstDash val="solid"/>
                      <a:round/>
                      <a:headEnd type="none" w="med" len="med"/>
                      <a:tailEnd type="none" w="med" len="med"/>
                    </a:lnB>
                  </a:tcPr>
                </a:tc>
                <a:tc>
                  <a:txBody>
                    <a:bodyPr/>
                    <a:lstStyle/>
                    <a:p>
                      <a:pPr indent="0" marL="0">
                        <a:buNone/>
                      </a:pPr>
                      <a:r>
                        <a:rPr lang="en-US" sz="1300" dirty="0">
                          <a:solidFill>
                            <a:srgbClr val="14213D"/>
                          </a:solidFill>
                          <a:latin typeface="+mn-lt" pitchFamily="34" charset="0"/>
                          <a:ea typeface="+mn-lt" pitchFamily="34" charset="-122"/>
                          <a:cs typeface="+mn-lt" pitchFamily="34" charset="-120"/>
                        </a:rPr>
                        <a:t>Pixel metrics</a:t>
                      </a:r>
                      <a:endParaRPr lang="en-US" sz="1300" dirty="0">
                        <a:latin typeface="+mn-lt" charset="0"/>
                        <a:ea typeface="+mn-lt" charset="0"/>
                        <a:cs typeface="+mn-lt" charset="0"/>
                      </a:endParaRPr>
                    </a:p>
                  </a:txBody>
                  <a:tcPr marL="91440" marR="91440" marT="45720" marB="45720" anchor="ctr">
                    <a:lnL w="6350" cap="flat" cmpd="sng" algn="ctr">
                      <a:solidFill>
                        <a:srgbClr val="D7DCE5"/>
                      </a:solidFill>
                      <a:prstDash val="solid"/>
                      <a:round/>
                      <a:headEnd type="none" w="med" len="med"/>
                      <a:tailEnd type="none" w="med" len="med"/>
                    </a:lnL>
                    <a:lnR w="6350" cap="flat" cmpd="sng" algn="ctr">
                      <a:solidFill>
                        <a:srgbClr val="D7DCE5"/>
                      </a:solidFill>
                      <a:prstDash val="solid"/>
                      <a:round/>
                      <a:headEnd type="none" w="med" len="med"/>
                      <a:tailEnd type="none" w="med" len="med"/>
                    </a:lnR>
                    <a:lnT w="6350" cap="flat" cmpd="sng" algn="ctr">
                      <a:solidFill>
                        <a:srgbClr val="D7DCE5"/>
                      </a:solidFill>
                      <a:prstDash val="solid"/>
                      <a:round/>
                      <a:headEnd type="none" w="med" len="med"/>
                      <a:tailEnd type="none" w="med" len="med"/>
                    </a:lnT>
                    <a:lnB w="6350" cap="flat" cmpd="sng" algn="ctr">
                      <a:solidFill>
                        <a:srgbClr val="D7DCE5"/>
                      </a:solidFill>
                      <a:prstDash val="solid"/>
                      <a:round/>
                      <a:headEnd type="none" w="med" len="med"/>
                      <a:tailEnd type="none" w="med" len="med"/>
                    </a:lnB>
                  </a:tcPr>
                </a:tc>
              </a:tr>
              <a:tr h="457200">
                <a:tc>
                  <a:txBody>
                    <a:bodyPr/>
                    <a:lstStyle/>
                    <a:p>
                      <a:pPr indent="0" marL="0">
                        <a:buNone/>
                      </a:pPr>
                      <a:r>
                        <a:rPr lang="en-US" sz="1300" dirty="0">
                          <a:solidFill>
                            <a:srgbClr val="14213D"/>
                          </a:solidFill>
                          <a:latin typeface="+mn-lt" pitchFamily="34" charset="0"/>
                          <a:ea typeface="+mn-lt" pitchFamily="34" charset="-122"/>
                          <a:cs typeface="+mn-lt" pitchFamily="34" charset="-120"/>
                        </a:rPr>
                        <a:t>..._F_JC4.jpg</a:t>
                      </a:r>
                      <a:endParaRPr lang="en-US" sz="1300" dirty="0">
                        <a:latin typeface="+mn-lt" charset="0"/>
                        <a:ea typeface="+mn-lt" charset="0"/>
                        <a:cs typeface="+mn-lt" charset="0"/>
                      </a:endParaRPr>
                    </a:p>
                  </a:txBody>
                  <a:tcPr marL="91440" marR="91440" marT="45720" marB="45720" anchor="ctr">
                    <a:lnL w="6350" cap="flat" cmpd="sng" algn="ctr">
                      <a:solidFill>
                        <a:srgbClr val="D7DCE5"/>
                      </a:solidFill>
                      <a:prstDash val="solid"/>
                      <a:round/>
                      <a:headEnd type="none" w="med" len="med"/>
                      <a:tailEnd type="none" w="med" len="med"/>
                    </a:lnL>
                    <a:lnR w="6350" cap="flat" cmpd="sng" algn="ctr">
                      <a:solidFill>
                        <a:srgbClr val="D7DCE5"/>
                      </a:solidFill>
                      <a:prstDash val="solid"/>
                      <a:round/>
                      <a:headEnd type="none" w="med" len="med"/>
                      <a:tailEnd type="none" w="med" len="med"/>
                    </a:lnR>
                    <a:lnT w="6350" cap="flat" cmpd="sng" algn="ctr">
                      <a:solidFill>
                        <a:srgbClr val="D7DCE5"/>
                      </a:solidFill>
                      <a:prstDash val="solid"/>
                      <a:round/>
                      <a:headEnd type="none" w="med" len="med"/>
                      <a:tailEnd type="none" w="med" len="med"/>
                    </a:lnT>
                    <a:lnB w="6350" cap="flat" cmpd="sng" algn="ctr">
                      <a:solidFill>
                        <a:srgbClr val="D7DCE5"/>
                      </a:solidFill>
                      <a:prstDash val="solid"/>
                      <a:round/>
                      <a:headEnd type="none" w="med" len="med"/>
                      <a:tailEnd type="none" w="med" len="med"/>
                    </a:lnB>
                  </a:tcPr>
                </a:tc>
                <a:tc>
                  <a:txBody>
                    <a:bodyPr/>
                    <a:lstStyle/>
                    <a:p>
                      <a:pPr indent="0" marL="0">
                        <a:buNone/>
                      </a:pPr>
                      <a:r>
                        <a:rPr lang="en-US" sz="1300" dirty="0">
                          <a:solidFill>
                            <a:srgbClr val="14213D"/>
                          </a:solidFill>
                          <a:latin typeface="+mn-lt" pitchFamily="34" charset="0"/>
                          <a:ea typeface="+mn-lt" pitchFamily="34" charset="-122"/>
                          <a:cs typeface="+mn-lt" pitchFamily="34" charset="-120"/>
                        </a:rPr>
                        <a:t>Post-processed (JPEG)</a:t>
                      </a:r>
                      <a:endParaRPr lang="en-US" sz="1300" dirty="0">
                        <a:latin typeface="+mn-lt" charset="0"/>
                        <a:ea typeface="+mn-lt" charset="0"/>
                        <a:cs typeface="+mn-lt" charset="0"/>
                      </a:endParaRPr>
                    </a:p>
                  </a:txBody>
                  <a:tcPr marL="91440" marR="91440" marT="45720" marB="45720" anchor="ctr">
                    <a:lnL w="6350" cap="flat" cmpd="sng" algn="ctr">
                      <a:solidFill>
                        <a:srgbClr val="D7DCE5"/>
                      </a:solidFill>
                      <a:prstDash val="solid"/>
                      <a:round/>
                      <a:headEnd type="none" w="med" len="med"/>
                      <a:tailEnd type="none" w="med" len="med"/>
                    </a:lnL>
                    <a:lnR w="6350" cap="flat" cmpd="sng" algn="ctr">
                      <a:solidFill>
                        <a:srgbClr val="D7DCE5"/>
                      </a:solidFill>
                      <a:prstDash val="solid"/>
                      <a:round/>
                      <a:headEnd type="none" w="med" len="med"/>
                      <a:tailEnd type="none" w="med" len="med"/>
                    </a:lnR>
                    <a:lnT w="6350" cap="flat" cmpd="sng" algn="ctr">
                      <a:solidFill>
                        <a:srgbClr val="D7DCE5"/>
                      </a:solidFill>
                      <a:prstDash val="solid"/>
                      <a:round/>
                      <a:headEnd type="none" w="med" len="med"/>
                      <a:tailEnd type="none" w="med" len="med"/>
                    </a:lnT>
                    <a:lnB w="6350" cap="flat" cmpd="sng" algn="ctr">
                      <a:solidFill>
                        <a:srgbClr val="D7DCE5"/>
                      </a:solidFill>
                      <a:prstDash val="solid"/>
                      <a:round/>
                      <a:headEnd type="none" w="med" len="med"/>
                      <a:tailEnd type="none" w="med" len="med"/>
                    </a:lnB>
                  </a:tcPr>
                </a:tc>
                <a:tc>
                  <a:txBody>
                    <a:bodyPr/>
                    <a:lstStyle/>
                    <a:p>
                      <a:pPr indent="0" marL="0">
                        <a:buNone/>
                      </a:pPr>
                      <a:r>
                        <a:rPr lang="en-US" sz="1300" dirty="0">
                          <a:solidFill>
                            <a:srgbClr val="14213D"/>
                          </a:solidFill>
                          <a:latin typeface="+mn-lt" pitchFamily="34" charset="0"/>
                          <a:ea typeface="+mn-lt" pitchFamily="34" charset="-122"/>
                          <a:cs typeface="+mn-lt" pitchFamily="34" charset="-120"/>
                        </a:rPr>
                        <a:t>Manual tests only</a:t>
                      </a:r>
                      <a:endParaRPr lang="en-US" sz="1300" dirty="0">
                        <a:latin typeface="+mn-lt" charset="0"/>
                        <a:ea typeface="+mn-lt" charset="0"/>
                        <a:cs typeface="+mn-lt" charset="0"/>
                      </a:endParaRPr>
                    </a:p>
                  </a:txBody>
                  <a:tcPr marL="91440" marR="91440" marT="45720" marB="45720" anchor="ctr">
                    <a:lnL w="6350" cap="flat" cmpd="sng" algn="ctr">
                      <a:solidFill>
                        <a:srgbClr val="D7DCE5"/>
                      </a:solidFill>
                      <a:prstDash val="solid"/>
                      <a:round/>
                      <a:headEnd type="none" w="med" len="med"/>
                      <a:tailEnd type="none" w="med" len="med"/>
                    </a:lnL>
                    <a:lnR w="6350" cap="flat" cmpd="sng" algn="ctr">
                      <a:solidFill>
                        <a:srgbClr val="D7DCE5"/>
                      </a:solidFill>
                      <a:prstDash val="solid"/>
                      <a:round/>
                      <a:headEnd type="none" w="med" len="med"/>
                      <a:tailEnd type="none" w="med" len="med"/>
                    </a:lnR>
                    <a:lnT w="6350" cap="flat" cmpd="sng" algn="ctr">
                      <a:solidFill>
                        <a:srgbClr val="D7DCE5"/>
                      </a:solidFill>
                      <a:prstDash val="solid"/>
                      <a:round/>
                      <a:headEnd type="none" w="med" len="med"/>
                      <a:tailEnd type="none" w="med" len="med"/>
                    </a:lnT>
                    <a:lnB w="6350" cap="flat" cmpd="sng" algn="ctr">
                      <a:solidFill>
                        <a:srgbClr val="D7DCE5"/>
                      </a:solidFill>
                      <a:prstDash val="solid"/>
                      <a:round/>
                      <a:headEnd type="none" w="med" len="med"/>
                      <a:tailEnd type="none" w="med" len="med"/>
                    </a:lnB>
                  </a:tcPr>
                </a:tc>
              </a:tr>
            </a:tbl>
          </a:graphicData>
        </a:graphic>
      </p:graphicFrame>
      <p:sp>
        <p:nvSpPr>
          <p:cNvPr id="13" name="text-105"/>
          <p:cNvSpPr txBox="1"/>
          <p:nvPr/>
        </p:nvSpPr>
        <p:spPr>
          <a:xfrm>
            <a:off x="548640" y="5394960"/>
            <a:ext cx="5303520" cy="640080"/>
          </a:xfrm>
          <a:prstGeom prst="rect">
            <a:avLst/>
          </a:prstGeom>
          <a:noFill/>
          <a:ln/>
        </p:spPr>
        <p:txBody>
          <a:bodyPr wrap="square" lIns="0" tIns="0" rIns="0" bIns="0" rtlCol="0" anchor="t"/>
          <a:lstStyle/>
          <a:p>
            <a:pPr indent="0" marL="0">
              <a:buNone/>
            </a:pPr>
            <a:r>
              <a:rPr lang="en-US" sz="1200" dirty="0">
                <a:solidFill>
                  <a:schemeClr val="accent4"/>
                </a:solidFill>
              </a:rPr>
              <a:t>Variants include JPEG, blur, noise and brightness changes for robustness tests.</a:t>
            </a:r>
            <a:endParaRPr lang="en-US" sz="1200" dirty="0"/>
          </a:p>
        </p:txBody>
      </p:sp>
      <p:sp>
        <p:nvSpPr>
          <p:cNvPr id="14" name="text-106"/>
          <p:cNvSpPr txBox="1"/>
          <p:nvPr/>
        </p:nvSpPr>
        <p:spPr>
          <a:xfrm>
            <a:off x="6309360" y="1463040"/>
            <a:ext cx="5303520" cy="365760"/>
          </a:xfrm>
          <a:prstGeom prst="rect">
            <a:avLst/>
          </a:prstGeom>
          <a:noFill/>
          <a:ln/>
        </p:spPr>
        <p:txBody>
          <a:bodyPr wrap="square" lIns="0" tIns="0" rIns="0" bIns="0" rtlCol="0" anchor="t"/>
          <a:lstStyle/>
          <a:p>
            <a:pPr indent="0" marL="0">
              <a:buNone/>
            </a:pPr>
            <a:r>
              <a:rPr lang="en-US" sz="2000" b="1" dirty="0">
                <a:solidFill>
                  <a:schemeClr val="tx2"/>
                </a:solidFill>
              </a:rPr>
              <a:t>Preprocessing steps</a:t>
            </a:r>
            <a:endParaRPr lang="en-US" sz="2000" dirty="0"/>
          </a:p>
        </p:txBody>
      </p:sp>
      <p:sp>
        <p:nvSpPr>
          <p:cNvPr id="15" name="num-bg-107"/>
          <p:cNvSpPr/>
          <p:nvPr/>
        </p:nvSpPr>
        <p:spPr>
          <a:xfrm>
            <a:off x="6309360" y="2011680"/>
            <a:ext cx="457200" cy="457200"/>
          </a:xfrm>
          <a:prstGeom prst="ellipse">
            <a:avLst/>
          </a:prstGeom>
          <a:solidFill>
            <a:schemeClr val="accent1"/>
          </a:solidFill>
          <a:ln/>
        </p:spPr>
      </p:sp>
      <p:sp>
        <p:nvSpPr>
          <p:cNvPr id="16" name="text-108"/>
          <p:cNvSpPr txBox="1"/>
          <p:nvPr/>
        </p:nvSpPr>
        <p:spPr>
          <a:xfrm>
            <a:off x="6309360" y="20116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17" name="text-109"/>
          <p:cNvSpPr txBox="1"/>
          <p:nvPr/>
        </p:nvSpPr>
        <p:spPr>
          <a:xfrm>
            <a:off x="6995160" y="1965960"/>
            <a:ext cx="4572000" cy="274320"/>
          </a:xfrm>
          <a:prstGeom prst="rect">
            <a:avLst/>
          </a:prstGeom>
          <a:noFill/>
          <a:ln/>
        </p:spPr>
        <p:txBody>
          <a:bodyPr wrap="square" lIns="0" tIns="0" rIns="0" bIns="0" rtlCol="0" anchor="t"/>
          <a:lstStyle/>
          <a:p>
            <a:pPr indent="0" marL="0">
              <a:buNone/>
            </a:pPr>
            <a:r>
              <a:rPr lang="en-US" sz="1600" b="1" dirty="0">
                <a:solidFill>
                  <a:schemeClr val="tx1"/>
                </a:solidFill>
              </a:rPr>
              <a:t>Select files</a:t>
            </a:r>
            <a:endParaRPr lang="en-US" sz="1600" dirty="0"/>
          </a:p>
        </p:txBody>
      </p:sp>
      <p:sp>
        <p:nvSpPr>
          <p:cNvPr id="18" name="text-110"/>
          <p:cNvSpPr txBox="1"/>
          <p:nvPr/>
        </p:nvSpPr>
        <p:spPr>
          <a:xfrm>
            <a:off x="6995160" y="2258568"/>
            <a:ext cx="4572000" cy="457200"/>
          </a:xfrm>
          <a:prstGeom prst="rect">
            <a:avLst/>
          </a:prstGeom>
          <a:noFill/>
          <a:ln/>
        </p:spPr>
        <p:txBody>
          <a:bodyPr wrap="square" lIns="0" tIns="0" rIns="0" bIns="0" rtlCol="0" anchor="t"/>
          <a:lstStyle/>
          <a:p>
            <a:pPr indent="0" marL="0">
              <a:buNone/>
            </a:pPr>
            <a:r>
              <a:rPr lang="en-US" sz="1400" dirty="0">
                <a:solidFill>
                  <a:schemeClr val="accent4"/>
                </a:solidFill>
              </a:rPr>
              <a:t>Regex on names keeps base F, O, B files only</a:t>
            </a:r>
            <a:endParaRPr lang="en-US" sz="1400" dirty="0"/>
          </a:p>
        </p:txBody>
      </p:sp>
      <p:sp>
        <p:nvSpPr>
          <p:cNvPr id="19" name="num-bg-111"/>
          <p:cNvSpPr/>
          <p:nvPr/>
        </p:nvSpPr>
        <p:spPr>
          <a:xfrm>
            <a:off x="6309360" y="2834640"/>
            <a:ext cx="457200" cy="457200"/>
          </a:xfrm>
          <a:prstGeom prst="ellipse">
            <a:avLst/>
          </a:prstGeom>
          <a:solidFill>
            <a:schemeClr val="accent1"/>
          </a:solidFill>
          <a:ln/>
        </p:spPr>
      </p:sp>
      <p:sp>
        <p:nvSpPr>
          <p:cNvPr id="20" name="text-112"/>
          <p:cNvSpPr txBox="1"/>
          <p:nvPr/>
        </p:nvSpPr>
        <p:spPr>
          <a:xfrm>
            <a:off x="6309360" y="28346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21" name="text-113"/>
          <p:cNvSpPr txBox="1"/>
          <p:nvPr/>
        </p:nvSpPr>
        <p:spPr>
          <a:xfrm>
            <a:off x="6995160" y="2788920"/>
            <a:ext cx="4572000" cy="274320"/>
          </a:xfrm>
          <a:prstGeom prst="rect">
            <a:avLst/>
          </a:prstGeom>
          <a:noFill/>
          <a:ln/>
        </p:spPr>
        <p:txBody>
          <a:bodyPr wrap="square" lIns="0" tIns="0" rIns="0" bIns="0" rtlCol="0" anchor="t"/>
          <a:lstStyle/>
          <a:p>
            <a:pPr indent="0" marL="0">
              <a:buNone/>
            </a:pPr>
            <a:r>
              <a:rPr lang="en-US" sz="1600" b="1" dirty="0">
                <a:solidFill>
                  <a:schemeClr val="tx1"/>
                </a:solidFill>
              </a:rPr>
              <a:t>Pick IDs</a:t>
            </a:r>
            <a:endParaRPr lang="en-US" sz="1600" dirty="0"/>
          </a:p>
        </p:txBody>
      </p:sp>
      <p:sp>
        <p:nvSpPr>
          <p:cNvPr id="22" name="text-114"/>
          <p:cNvSpPr txBox="1"/>
          <p:nvPr/>
        </p:nvSpPr>
        <p:spPr>
          <a:xfrm>
            <a:off x="6995160" y="3081528"/>
            <a:ext cx="4572000" cy="457200"/>
          </a:xfrm>
          <a:prstGeom prst="rect">
            <a:avLst/>
          </a:prstGeom>
          <a:noFill/>
          <a:ln/>
        </p:spPr>
        <p:txBody>
          <a:bodyPr wrap="square" lIns="0" tIns="0" rIns="0" bIns="0" rtlCol="0" anchor="t"/>
          <a:lstStyle/>
          <a:p>
            <a:pPr indent="0" marL="0">
              <a:buNone/>
            </a:pPr>
            <a:r>
              <a:rPr lang="en-US" sz="1400" dirty="0">
                <a:solidFill>
                  <a:schemeClr val="accent4"/>
                </a:solidFill>
              </a:rPr>
              <a:t>Only IDs with F and O; evenly spaced via linspace</a:t>
            </a:r>
            <a:endParaRPr lang="en-US" sz="1400" dirty="0"/>
          </a:p>
        </p:txBody>
      </p:sp>
      <p:sp>
        <p:nvSpPr>
          <p:cNvPr id="23" name="num-bg-115"/>
          <p:cNvSpPr/>
          <p:nvPr/>
        </p:nvSpPr>
        <p:spPr>
          <a:xfrm>
            <a:off x="6309360" y="3657600"/>
            <a:ext cx="457200" cy="457200"/>
          </a:xfrm>
          <a:prstGeom prst="ellipse">
            <a:avLst/>
          </a:prstGeom>
          <a:solidFill>
            <a:schemeClr val="accent1"/>
          </a:solidFill>
          <a:ln/>
        </p:spPr>
      </p:sp>
      <p:sp>
        <p:nvSpPr>
          <p:cNvPr id="24" name="text-116"/>
          <p:cNvSpPr txBox="1"/>
          <p:nvPr/>
        </p:nvSpPr>
        <p:spPr>
          <a:xfrm>
            <a:off x="6309360" y="365760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25" name="text-117"/>
          <p:cNvSpPr txBox="1"/>
          <p:nvPr/>
        </p:nvSpPr>
        <p:spPr>
          <a:xfrm>
            <a:off x="6995160" y="3611880"/>
            <a:ext cx="4572000" cy="274320"/>
          </a:xfrm>
          <a:prstGeom prst="rect">
            <a:avLst/>
          </a:prstGeom>
          <a:noFill/>
          <a:ln/>
        </p:spPr>
        <p:txBody>
          <a:bodyPr wrap="square" lIns="0" tIns="0" rIns="0" bIns="0" rtlCol="0" anchor="t"/>
          <a:lstStyle/>
          <a:p>
            <a:pPr indent="0" marL="0">
              <a:buNone/>
            </a:pPr>
            <a:r>
              <a:rPr lang="en-US" sz="1600" b="1" dirty="0">
                <a:solidFill>
                  <a:schemeClr val="tx1"/>
                </a:solidFill>
              </a:rPr>
              <a:t>Read images</a:t>
            </a:r>
            <a:endParaRPr lang="en-US" sz="1600" dirty="0"/>
          </a:p>
        </p:txBody>
      </p:sp>
      <p:sp>
        <p:nvSpPr>
          <p:cNvPr id="26" name="text-118"/>
          <p:cNvSpPr txBox="1"/>
          <p:nvPr/>
        </p:nvSpPr>
        <p:spPr>
          <a:xfrm>
            <a:off x="6995160" y="3904488"/>
            <a:ext cx="4572000" cy="457200"/>
          </a:xfrm>
          <a:prstGeom prst="rect">
            <a:avLst/>
          </a:prstGeom>
          <a:noFill/>
          <a:ln/>
        </p:spPr>
        <p:txBody>
          <a:bodyPr wrap="square" lIns="0" tIns="0" rIns="0" bIns="0" rtlCol="0" anchor="t"/>
          <a:lstStyle/>
          <a:p>
            <a:pPr indent="0" marL="0">
              <a:buNone/>
            </a:pPr>
            <a:r>
              <a:rPr lang="en-US" sz="1400" dirty="0">
                <a:solidFill>
                  <a:schemeClr val="accent4"/>
                </a:solidFill>
              </a:rPr>
              <a:t>BGR colour in, grayscale for SIFT</a:t>
            </a:r>
            <a:endParaRPr lang="en-US" sz="1400" dirty="0"/>
          </a:p>
        </p:txBody>
      </p:sp>
      <p:sp>
        <p:nvSpPr>
          <p:cNvPr id="27" name="num-bg-119"/>
          <p:cNvSpPr/>
          <p:nvPr/>
        </p:nvSpPr>
        <p:spPr>
          <a:xfrm>
            <a:off x="6309360" y="4480560"/>
            <a:ext cx="457200" cy="457200"/>
          </a:xfrm>
          <a:prstGeom prst="ellipse">
            <a:avLst/>
          </a:prstGeom>
          <a:solidFill>
            <a:schemeClr val="accent1"/>
          </a:solidFill>
          <a:ln/>
        </p:spPr>
      </p:sp>
      <p:sp>
        <p:nvSpPr>
          <p:cNvPr id="28" name="text-120"/>
          <p:cNvSpPr txBox="1"/>
          <p:nvPr/>
        </p:nvSpPr>
        <p:spPr>
          <a:xfrm>
            <a:off x="6309360" y="44805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9" name="text-121"/>
          <p:cNvSpPr txBox="1"/>
          <p:nvPr/>
        </p:nvSpPr>
        <p:spPr>
          <a:xfrm>
            <a:off x="6995160" y="4434840"/>
            <a:ext cx="4572000" cy="274320"/>
          </a:xfrm>
          <a:prstGeom prst="rect">
            <a:avLst/>
          </a:prstGeom>
          <a:noFill/>
          <a:ln/>
        </p:spPr>
        <p:txBody>
          <a:bodyPr wrap="square" lIns="0" tIns="0" rIns="0" bIns="0" rtlCol="0" anchor="t"/>
          <a:lstStyle/>
          <a:p>
            <a:pPr indent="0" marL="0">
              <a:buNone/>
            </a:pPr>
            <a:r>
              <a:rPr lang="en-US" sz="1600" b="1" dirty="0">
                <a:solidFill>
                  <a:schemeClr val="tx1"/>
                </a:solidFill>
              </a:rPr>
              <a:t>Clean masks</a:t>
            </a:r>
            <a:endParaRPr lang="en-US" sz="1600" dirty="0"/>
          </a:p>
        </p:txBody>
      </p:sp>
      <p:sp>
        <p:nvSpPr>
          <p:cNvPr id="30" name="text-122"/>
          <p:cNvSpPr txBox="1"/>
          <p:nvPr/>
        </p:nvSpPr>
        <p:spPr>
          <a:xfrm>
            <a:off x="6995160" y="4727448"/>
            <a:ext cx="4572000" cy="457200"/>
          </a:xfrm>
          <a:prstGeom prst="rect">
            <a:avLst/>
          </a:prstGeom>
          <a:noFill/>
          <a:ln/>
        </p:spPr>
        <p:txBody>
          <a:bodyPr wrap="square" lIns="0" tIns="0" rIns="0" bIns="0" rtlCol="0" anchor="t"/>
          <a:lstStyle/>
          <a:p>
            <a:pPr indent="0" marL="0">
              <a:buNone/>
            </a:pPr>
            <a:r>
              <a:rPr lang="en-US" sz="1400" dirty="0">
                <a:solidFill>
                  <a:schemeClr val="accent4"/>
                </a:solidFill>
              </a:rPr>
              <a:t>Binarise at 127; resize with nearest neighbour</a:t>
            </a:r>
            <a:endParaRPr lang="en-US" sz="1400" dirty="0"/>
          </a:p>
        </p:txBody>
      </p:sp>
      <p:sp>
        <p:nvSpPr>
          <p:cNvPr id="31" name="num-bg-123"/>
          <p:cNvSpPr/>
          <p:nvPr/>
        </p:nvSpPr>
        <p:spPr>
          <a:xfrm>
            <a:off x="6309360" y="5303520"/>
            <a:ext cx="457200" cy="457200"/>
          </a:xfrm>
          <a:prstGeom prst="ellipse">
            <a:avLst/>
          </a:prstGeom>
          <a:solidFill>
            <a:schemeClr val="accent1"/>
          </a:solidFill>
          <a:ln/>
        </p:spPr>
      </p:sp>
      <p:sp>
        <p:nvSpPr>
          <p:cNvPr id="32" name="text-124"/>
          <p:cNvSpPr txBox="1"/>
          <p:nvPr/>
        </p:nvSpPr>
        <p:spPr>
          <a:xfrm>
            <a:off x="6309360" y="530352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33" name="text-125"/>
          <p:cNvSpPr txBox="1"/>
          <p:nvPr/>
        </p:nvSpPr>
        <p:spPr>
          <a:xfrm>
            <a:off x="6995160" y="5257800"/>
            <a:ext cx="4572000" cy="274320"/>
          </a:xfrm>
          <a:prstGeom prst="rect">
            <a:avLst/>
          </a:prstGeom>
          <a:noFill/>
          <a:ln/>
        </p:spPr>
        <p:txBody>
          <a:bodyPr wrap="square" lIns="0" tIns="0" rIns="0" bIns="0" rtlCol="0" anchor="t"/>
          <a:lstStyle/>
          <a:p>
            <a:pPr indent="0" marL="0">
              <a:buNone/>
            </a:pPr>
            <a:r>
              <a:rPr lang="en-US" sz="1600" b="1" dirty="0">
                <a:solidFill>
                  <a:schemeClr val="tx1"/>
                </a:solidFill>
              </a:rPr>
              <a:t>Limit size</a:t>
            </a:r>
            <a:endParaRPr lang="en-US" sz="1600" dirty="0"/>
          </a:p>
        </p:txBody>
      </p:sp>
      <p:sp>
        <p:nvSpPr>
          <p:cNvPr id="34" name="text-126"/>
          <p:cNvSpPr txBox="1"/>
          <p:nvPr/>
        </p:nvSpPr>
        <p:spPr>
          <a:xfrm>
            <a:off x="6995160" y="5550408"/>
            <a:ext cx="4572000" cy="457200"/>
          </a:xfrm>
          <a:prstGeom prst="rect">
            <a:avLst/>
          </a:prstGeom>
          <a:noFill/>
          <a:ln/>
        </p:spPr>
        <p:txBody>
          <a:bodyPr wrap="square" lIns="0" tIns="0" rIns="0" bIns="0" rtlCol="0" anchor="t"/>
          <a:lstStyle/>
          <a:p>
            <a:pPr indent="0" marL="0">
              <a:buNone/>
            </a:pPr>
            <a:r>
              <a:rPr lang="en-US" sz="1400" dirty="0">
                <a:solidFill>
                  <a:schemeClr val="accent4"/>
                </a:solidFill>
              </a:rPr>
              <a:t>Longest side capped at 1600 px in the app</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System Architecture</a:t>
            </a:r>
            <a:endParaRPr lang="en-US" sz="3600" dirty="0"/>
          </a:p>
        </p:txBody>
      </p:sp>
      <p:sp>
        <p:nvSpPr>
          <p:cNvPr id="3" name="text-127"/>
          <p:cNvSpPr txBox="1"/>
          <p:nvPr/>
        </p:nvSpPr>
        <p:spPr>
          <a:xfrm>
            <a:off x="731520" y="1463040"/>
            <a:ext cx="3108960" cy="274320"/>
          </a:xfrm>
          <a:prstGeom prst="rect">
            <a:avLst/>
          </a:prstGeom>
          <a:noFill/>
          <a:ln/>
        </p:spPr>
        <p:txBody>
          <a:bodyPr wrap="square" lIns="0" tIns="0" rIns="0" bIns="0" rtlCol="0" anchor="t"/>
          <a:lstStyle/>
          <a:p>
            <a:pPr algn="ctr" indent="0" marL="0">
              <a:buNone/>
            </a:pPr>
            <a:r>
              <a:rPr lang="en-US" sz="1200" dirty="0">
                <a:solidFill>
                  <a:schemeClr val="accent4"/>
                </a:solidFill>
              </a:rPr>
              <a:t>User image (upload or paste)</a:t>
            </a:r>
            <a:endParaRPr lang="en-US" sz="1200" dirty="0"/>
          </a:p>
        </p:txBody>
      </p:sp>
      <p:sp>
        <p:nvSpPr>
          <p:cNvPr id="4" name="text-128"/>
          <p:cNvSpPr txBox="1"/>
          <p:nvPr/>
        </p:nvSpPr>
        <p:spPr>
          <a:xfrm>
            <a:off x="4480560" y="1463040"/>
            <a:ext cx="3108960" cy="274320"/>
          </a:xfrm>
          <a:prstGeom prst="rect">
            <a:avLst/>
          </a:prstGeom>
          <a:noFill/>
          <a:ln/>
        </p:spPr>
        <p:txBody>
          <a:bodyPr wrap="square" lIns="0" tIns="0" rIns="0" bIns="0" rtlCol="0" anchor="t"/>
          <a:lstStyle/>
          <a:p>
            <a:pPr algn="ctr" indent="0" marL="0">
              <a:buNone/>
            </a:pPr>
            <a:r>
              <a:rPr lang="en-US" sz="1200" dirty="0">
                <a:solidFill>
                  <a:schemeClr val="accent4"/>
                </a:solidFill>
              </a:rPr>
              <a:t>CoMoFoD files (F, O, B)</a:t>
            </a:r>
            <a:endParaRPr lang="en-US" sz="1200" dirty="0"/>
          </a:p>
        </p:txBody>
      </p:sp>
      <p:sp>
        <p:nvSpPr>
          <p:cNvPr id="5" name="a1-129"/>
          <p:cNvSpPr/>
          <p:nvPr/>
        </p:nvSpPr>
        <p:spPr>
          <a:xfrm>
            <a:off x="2286000" y="1783080"/>
            <a:ext cx="0" cy="365760"/>
          </a:xfrm>
          <a:prstGeom prst="line">
            <a:avLst/>
          </a:prstGeom>
          <a:noFill/>
          <a:ln w="19050">
            <a:solidFill>
              <a:schemeClr val="accent4"/>
            </a:solidFill>
            <a:prstDash val="solid"/>
            <a:tailEnd type="triangle"/>
          </a:ln>
        </p:spPr>
      </p:sp>
      <p:sp>
        <p:nvSpPr>
          <p:cNvPr id="6" name="a2-130"/>
          <p:cNvSpPr/>
          <p:nvPr/>
        </p:nvSpPr>
        <p:spPr>
          <a:xfrm>
            <a:off x="6035040" y="1783080"/>
            <a:ext cx="0" cy="365760"/>
          </a:xfrm>
          <a:prstGeom prst="line">
            <a:avLst/>
          </a:prstGeom>
          <a:noFill/>
          <a:ln w="19050">
            <a:solidFill>
              <a:schemeClr val="accent4"/>
            </a:solidFill>
            <a:prstDash val="solid"/>
            <a:tailEnd type="triangle"/>
          </a:ln>
        </p:spPr>
      </p:sp>
      <p:sp>
        <p:nvSpPr>
          <p:cNvPr id="7" name="module-131"/>
          <p:cNvSpPr/>
          <p:nvPr/>
        </p:nvSpPr>
        <p:spPr>
          <a:xfrm>
            <a:off x="731520" y="2194560"/>
            <a:ext cx="3108960" cy="1143000"/>
          </a:xfrm>
          <a:prstGeom prst="roundRect">
            <a:avLst>
              <a:gd name="adj" fmla="val 8000"/>
            </a:avLst>
          </a:prstGeom>
          <a:solidFill>
            <a:schemeClr val="accent3"/>
          </a:solidFill>
          <a:ln w="19050">
            <a:solidFill>
              <a:schemeClr val="accent1"/>
            </a:solidFill>
            <a:prstDash val="solid"/>
          </a:ln>
        </p:spPr>
      </p:sp>
      <p:sp>
        <p:nvSpPr>
          <p:cNvPr id="8" name="text-132"/>
          <p:cNvSpPr txBox="1"/>
          <p:nvPr/>
        </p:nvSpPr>
        <p:spPr>
          <a:xfrm>
            <a:off x="731520" y="2304288"/>
            <a:ext cx="3108960" cy="365760"/>
          </a:xfrm>
          <a:prstGeom prst="rect">
            <a:avLst/>
          </a:prstGeom>
          <a:noFill/>
          <a:ln/>
        </p:spPr>
        <p:txBody>
          <a:bodyPr wrap="square" lIns="0" tIns="0" rIns="0" bIns="0" rtlCol="0" anchor="t"/>
          <a:lstStyle/>
          <a:p>
            <a:pPr algn="ctr" indent="0" marL="0">
              <a:buNone/>
            </a:pPr>
            <a:r>
              <a:rPr lang="en-US" sz="1800" b="1" dirty="0">
                <a:solidFill>
                  <a:schemeClr val="tx1"/>
                </a:solidFill>
              </a:rPr>
              <a:t>app.py</a:t>
            </a:r>
            <a:endParaRPr lang="en-US" sz="1800" dirty="0"/>
          </a:p>
        </p:txBody>
      </p:sp>
      <p:sp>
        <p:nvSpPr>
          <p:cNvPr id="9" name="text-133"/>
          <p:cNvSpPr txBox="1"/>
          <p:nvPr/>
        </p:nvSpPr>
        <p:spPr>
          <a:xfrm>
            <a:off x="868680" y="2697480"/>
            <a:ext cx="2834640" cy="594360"/>
          </a:xfrm>
          <a:prstGeom prst="rect">
            <a:avLst/>
          </a:prstGeom>
          <a:noFill/>
          <a:ln/>
        </p:spPr>
        <p:txBody>
          <a:bodyPr wrap="square" lIns="0" tIns="0" rIns="0" bIns="0" rtlCol="0" anchor="t"/>
          <a:lstStyle/>
          <a:p>
            <a:pPr algn="ctr" indent="0" marL="0">
              <a:buNone/>
            </a:pPr>
            <a:r>
              <a:rPr lang="en-US" sz="1300" dirty="0">
                <a:solidFill>
                  <a:schemeClr val="accent4"/>
                </a:solidFill>
              </a:rPr>
              <a:t>Streamlit interface: verdict, overlay, mask, downloads</a:t>
            </a:r>
            <a:endParaRPr lang="en-US" sz="1300" dirty="0"/>
          </a:p>
        </p:txBody>
      </p:sp>
      <p:sp>
        <p:nvSpPr>
          <p:cNvPr id="10" name="module-134"/>
          <p:cNvSpPr/>
          <p:nvPr/>
        </p:nvSpPr>
        <p:spPr>
          <a:xfrm>
            <a:off x="4480560" y="2194560"/>
            <a:ext cx="3108960" cy="1143000"/>
          </a:xfrm>
          <a:prstGeom prst="roundRect">
            <a:avLst>
              <a:gd name="adj" fmla="val 8000"/>
            </a:avLst>
          </a:prstGeom>
          <a:solidFill>
            <a:schemeClr val="accent3"/>
          </a:solidFill>
          <a:ln w="19050">
            <a:solidFill>
              <a:schemeClr val="accent1"/>
            </a:solidFill>
            <a:prstDash val="solid"/>
          </a:ln>
        </p:spPr>
      </p:sp>
      <p:sp>
        <p:nvSpPr>
          <p:cNvPr id="11" name="text-135"/>
          <p:cNvSpPr txBox="1"/>
          <p:nvPr/>
        </p:nvSpPr>
        <p:spPr>
          <a:xfrm>
            <a:off x="4480560" y="2304288"/>
            <a:ext cx="3108960" cy="365760"/>
          </a:xfrm>
          <a:prstGeom prst="rect">
            <a:avLst/>
          </a:prstGeom>
          <a:noFill/>
          <a:ln/>
        </p:spPr>
        <p:txBody>
          <a:bodyPr wrap="square" lIns="0" tIns="0" rIns="0" bIns="0" rtlCol="0" anchor="t"/>
          <a:lstStyle/>
          <a:p>
            <a:pPr algn="ctr" indent="0" marL="0">
              <a:buNone/>
            </a:pPr>
            <a:r>
              <a:rPr lang="en-US" sz="1800" b="1" dirty="0">
                <a:solidFill>
                  <a:schemeClr val="tx1"/>
                </a:solidFill>
              </a:rPr>
              <a:t>evaluate.py</a:t>
            </a:r>
            <a:endParaRPr lang="en-US" sz="1800" dirty="0"/>
          </a:p>
        </p:txBody>
      </p:sp>
      <p:sp>
        <p:nvSpPr>
          <p:cNvPr id="12" name="text-136"/>
          <p:cNvSpPr txBox="1"/>
          <p:nvPr/>
        </p:nvSpPr>
        <p:spPr>
          <a:xfrm>
            <a:off x="4617720" y="2697480"/>
            <a:ext cx="2834640" cy="594360"/>
          </a:xfrm>
          <a:prstGeom prst="rect">
            <a:avLst/>
          </a:prstGeom>
          <a:noFill/>
          <a:ln/>
        </p:spPr>
        <p:txBody>
          <a:bodyPr wrap="square" lIns="0" tIns="0" rIns="0" bIns="0" rtlCol="0" anchor="t"/>
          <a:lstStyle/>
          <a:p>
            <a:pPr algn="ctr" indent="0" marL="0">
              <a:buNone/>
            </a:pPr>
            <a:r>
              <a:rPr lang="en-US" sz="1300" dirty="0">
                <a:solidFill>
                  <a:schemeClr val="accent4"/>
                </a:solidFill>
              </a:rPr>
              <a:t>Batch run: CSV, JSON summary, masks, overlays</a:t>
            </a:r>
            <a:endParaRPr lang="en-US" sz="1300" dirty="0"/>
          </a:p>
        </p:txBody>
      </p:sp>
      <p:sp>
        <p:nvSpPr>
          <p:cNvPr id="13" name="a3-137"/>
          <p:cNvSpPr/>
          <p:nvPr/>
        </p:nvSpPr>
        <p:spPr>
          <a:xfrm>
            <a:off x="2286000" y="3383280"/>
            <a:ext cx="1280160" cy="594360"/>
          </a:xfrm>
          <a:prstGeom prst="line">
            <a:avLst/>
          </a:prstGeom>
          <a:noFill/>
          <a:ln w="19050">
            <a:solidFill>
              <a:schemeClr val="accent4"/>
            </a:solidFill>
            <a:prstDash val="solid"/>
            <a:tailEnd type="triangle"/>
          </a:ln>
        </p:spPr>
      </p:sp>
      <p:sp>
        <p:nvSpPr>
          <p:cNvPr id="14" name="a4-138"/>
          <p:cNvSpPr/>
          <p:nvPr/>
        </p:nvSpPr>
        <p:spPr>
          <a:xfrm flipH="1">
            <a:off x="4754880" y="3383280"/>
            <a:ext cx="1280160" cy="594360"/>
          </a:xfrm>
          <a:prstGeom prst="line">
            <a:avLst/>
          </a:prstGeom>
          <a:noFill/>
          <a:ln w="19050">
            <a:solidFill>
              <a:schemeClr val="accent4"/>
            </a:solidFill>
            <a:prstDash val="solid"/>
            <a:tailEnd type="triangle"/>
          </a:ln>
        </p:spPr>
      </p:sp>
      <p:sp>
        <p:nvSpPr>
          <p:cNvPr id="15" name="module-139"/>
          <p:cNvSpPr/>
          <p:nvPr/>
        </p:nvSpPr>
        <p:spPr>
          <a:xfrm>
            <a:off x="2606040" y="4023360"/>
            <a:ext cx="3108960" cy="1143000"/>
          </a:xfrm>
          <a:prstGeom prst="roundRect">
            <a:avLst>
              <a:gd name="adj" fmla="val 8000"/>
            </a:avLst>
          </a:prstGeom>
          <a:solidFill>
            <a:schemeClr val="accent2">
              <a:alpha val="12000"/>
            </a:schemeClr>
          </a:solidFill>
          <a:ln w="19050">
            <a:solidFill>
              <a:schemeClr val="accent2"/>
            </a:solidFill>
            <a:prstDash val="solid"/>
          </a:ln>
        </p:spPr>
      </p:sp>
      <p:sp>
        <p:nvSpPr>
          <p:cNvPr id="16" name="text-140"/>
          <p:cNvSpPr txBox="1"/>
          <p:nvPr/>
        </p:nvSpPr>
        <p:spPr>
          <a:xfrm>
            <a:off x="2606040" y="4133088"/>
            <a:ext cx="3108960" cy="365760"/>
          </a:xfrm>
          <a:prstGeom prst="rect">
            <a:avLst/>
          </a:prstGeom>
          <a:noFill/>
          <a:ln/>
        </p:spPr>
        <p:txBody>
          <a:bodyPr wrap="square" lIns="0" tIns="0" rIns="0" bIns="0" rtlCol="0" anchor="t"/>
          <a:lstStyle/>
          <a:p>
            <a:pPr algn="ctr" indent="0" marL="0">
              <a:buNone/>
            </a:pPr>
            <a:r>
              <a:rPr lang="en-US" sz="1800" b="1" dirty="0">
                <a:solidFill>
                  <a:schemeClr val="accent2"/>
                </a:solidFill>
              </a:rPr>
              <a:t>detect.py</a:t>
            </a:r>
            <a:endParaRPr lang="en-US" sz="1800" dirty="0"/>
          </a:p>
        </p:txBody>
      </p:sp>
      <p:sp>
        <p:nvSpPr>
          <p:cNvPr id="17" name="text-141"/>
          <p:cNvSpPr txBox="1"/>
          <p:nvPr/>
        </p:nvSpPr>
        <p:spPr>
          <a:xfrm>
            <a:off x="2743200" y="4526280"/>
            <a:ext cx="2834640" cy="594360"/>
          </a:xfrm>
          <a:prstGeom prst="rect">
            <a:avLst/>
          </a:prstGeom>
          <a:noFill/>
          <a:ln/>
        </p:spPr>
        <p:txBody>
          <a:bodyPr wrap="square" lIns="0" tIns="0" rIns="0" bIns="0" rtlCol="0" anchor="t"/>
          <a:lstStyle/>
          <a:p>
            <a:pPr algn="ctr" indent="0" marL="0">
              <a:buNone/>
            </a:pPr>
            <a:r>
              <a:rPr lang="en-US" sz="1300" dirty="0">
                <a:solidFill>
                  <a:schemeClr val="accent4"/>
                </a:solidFill>
              </a:rPr>
              <a:t>SIFT, masked self-matching, RANSAC, mask, metrics</a:t>
            </a:r>
            <a:endParaRPr lang="en-US" sz="1300" dirty="0"/>
          </a:p>
        </p:txBody>
      </p:sp>
      <p:sp>
        <p:nvSpPr>
          <p:cNvPr id="18" name="a5-142"/>
          <p:cNvSpPr/>
          <p:nvPr/>
        </p:nvSpPr>
        <p:spPr>
          <a:xfrm>
            <a:off x="4160520" y="5212080"/>
            <a:ext cx="0" cy="365760"/>
          </a:xfrm>
          <a:prstGeom prst="line">
            <a:avLst/>
          </a:prstGeom>
          <a:noFill/>
          <a:ln w="19050">
            <a:solidFill>
              <a:schemeClr val="accent4"/>
            </a:solidFill>
            <a:prstDash val="solid"/>
            <a:tailEnd type="triangle"/>
          </a:ln>
        </p:spPr>
      </p:sp>
      <p:sp>
        <p:nvSpPr>
          <p:cNvPr id="19" name="lib-143"/>
          <p:cNvSpPr/>
          <p:nvPr/>
        </p:nvSpPr>
        <p:spPr>
          <a:xfrm>
            <a:off x="2606040" y="5623560"/>
            <a:ext cx="3108960" cy="548640"/>
          </a:xfrm>
          <a:prstGeom prst="roundRect">
            <a:avLst>
              <a:gd name="adj" fmla="val 16667"/>
            </a:avLst>
          </a:prstGeom>
          <a:solidFill>
            <a:schemeClr val="bg2"/>
          </a:solidFill>
          <a:ln w="12700">
            <a:solidFill>
              <a:schemeClr val="accent4"/>
            </a:solidFill>
            <a:prstDash val="solid"/>
          </a:ln>
        </p:spPr>
      </p:sp>
      <p:sp>
        <p:nvSpPr>
          <p:cNvPr id="20" name="text-144"/>
          <p:cNvSpPr txBox="1"/>
          <p:nvPr/>
        </p:nvSpPr>
        <p:spPr>
          <a:xfrm>
            <a:off x="2606040" y="5623560"/>
            <a:ext cx="3108960" cy="548640"/>
          </a:xfrm>
          <a:prstGeom prst="rect">
            <a:avLst/>
          </a:prstGeom>
          <a:noFill/>
          <a:ln/>
        </p:spPr>
        <p:txBody>
          <a:bodyPr wrap="square" lIns="0" tIns="0" rIns="0" bIns="0" rtlCol="0" anchor="ctr"/>
          <a:lstStyle/>
          <a:p>
            <a:pPr algn="ctr" indent="0" marL="0">
              <a:buNone/>
            </a:pPr>
            <a:r>
              <a:rPr lang="en-US" sz="1400" b="1" dirty="0">
                <a:solidFill>
                  <a:schemeClr val="tx1"/>
                </a:solidFill>
              </a:rPr>
              <a:t>OpenCV  |  NumPy</a:t>
            </a:r>
            <a:endParaRPr lang="en-US" sz="1400" dirty="0"/>
          </a:p>
        </p:txBody>
      </p:sp>
      <p:sp>
        <p:nvSpPr>
          <p:cNvPr id="21" name="card-145"/>
          <p:cNvSpPr/>
          <p:nvPr/>
        </p:nvSpPr>
        <p:spPr>
          <a:xfrm>
            <a:off x="8138160" y="1463040"/>
            <a:ext cx="3502152" cy="4709160"/>
          </a:xfrm>
          <a:prstGeom prst="roundRect">
            <a:avLst>
              <a:gd name="adj" fmla="val 2611"/>
            </a:avLst>
          </a:prstGeom>
          <a:solidFill>
            <a:schemeClr val="bg2"/>
          </a:solidFill>
          <a:ln/>
        </p:spPr>
      </p:sp>
      <p:sp>
        <p:nvSpPr>
          <p:cNvPr id="22" name="text-146"/>
          <p:cNvSpPr txBox="1"/>
          <p:nvPr/>
        </p:nvSpPr>
        <p:spPr>
          <a:xfrm>
            <a:off x="8412480" y="1691640"/>
            <a:ext cx="3017520" cy="365760"/>
          </a:xfrm>
          <a:prstGeom prst="rect">
            <a:avLst/>
          </a:prstGeom>
          <a:noFill/>
          <a:ln/>
        </p:spPr>
        <p:txBody>
          <a:bodyPr wrap="square" lIns="0" tIns="0" rIns="0" bIns="0" rtlCol="0" anchor="t"/>
          <a:lstStyle/>
          <a:p>
            <a:pPr indent="0" marL="0">
              <a:buNone/>
            </a:pPr>
            <a:r>
              <a:rPr lang="en-US" sz="2000" b="1" dirty="0">
                <a:solidFill>
                  <a:schemeClr val="tx2"/>
                </a:solidFill>
              </a:rPr>
              <a:t>One shared detector</a:t>
            </a:r>
            <a:endParaRPr lang="en-US" sz="2000" dirty="0"/>
          </a:p>
        </p:txBody>
      </p:sp>
      <p:sp>
        <p:nvSpPr>
          <p:cNvPr id="23" name="text-147"/>
          <p:cNvSpPr txBox="1"/>
          <p:nvPr/>
        </p:nvSpPr>
        <p:spPr>
          <a:xfrm>
            <a:off x="8412480" y="2286000"/>
            <a:ext cx="3017520" cy="3657600"/>
          </a:xfrm>
          <a:prstGeom prst="rect">
            <a:avLst/>
          </a:prstGeom>
          <a:noFill/>
          <a:ln/>
        </p:spPr>
        <p:txBody>
          <a:bodyPr wrap="square" lIns="0" tIns="0" rIns="0" bIns="0" rtlCol="0" anchor="t"/>
          <a:lstStyle/>
          <a:p>
            <a:pPr marL="203200" indent="-203200">
              <a:spcAft>
                <a:spcPts val="1200"/>
              </a:spcAft>
              <a:buSzPct val="100000"/>
              <a:buChar char="•"/>
            </a:pPr>
            <a:r>
              <a:rPr lang="en-US" sz="1500" dirty="0">
                <a:solidFill>
                  <a:schemeClr val="tx1"/>
                </a:solidFill>
              </a:rPr>
              <a:t>Experiment numbers and user results come from the same code</a:t>
            </a:r>
            <a:endParaRPr lang="en-US" sz="1500" dirty="0"/>
          </a:p>
          <a:p>
            <a:pPr marL="203200" indent="-203200">
              <a:spcAft>
                <a:spcPts val="1200"/>
              </a:spcAft>
              <a:buSzPct val="100000"/>
              <a:buChar char="•"/>
            </a:pPr>
            <a:r>
              <a:rPr lang="en-US" sz="1500" dirty="0">
                <a:solidFill>
                  <a:schemeClr val="tx1"/>
                </a:solidFill>
              </a:rPr>
              <a:t>Change the detector once and both tools update</a:t>
            </a:r>
            <a:endParaRPr lang="en-US" sz="1500" dirty="0"/>
          </a:p>
          <a:p>
            <a:pPr marL="203200" indent="-203200">
              <a:spcAft>
                <a:spcPts val="1200"/>
              </a:spcAft>
              <a:buSzPct val="100000"/>
              <a:buChar char="•"/>
            </a:pPr>
            <a:r>
              <a:rPr lang="en-US" sz="1500" dirty="0">
                <a:solidFill>
                  <a:schemeClr val="tx1"/>
                </a:solidFill>
              </a:rPr>
              <a:t>Easy to test, tune and compare parameter settings</a:t>
            </a:r>
            <a:endParaRPr lang="en-US" sz="15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Methodology: Detection Pipeline</a:t>
            </a:r>
            <a:endParaRPr lang="en-US" sz="3600" dirty="0"/>
          </a:p>
        </p:txBody>
      </p:sp>
      <p:sp>
        <p:nvSpPr>
          <p:cNvPr id="3" name="card-148"/>
          <p:cNvSpPr/>
          <p:nvPr/>
        </p:nvSpPr>
        <p:spPr>
          <a:xfrm>
            <a:off x="548640" y="1508760"/>
            <a:ext cx="1371600" cy="2834640"/>
          </a:xfrm>
          <a:prstGeom prst="roundRect">
            <a:avLst>
              <a:gd name="adj" fmla="val 6667"/>
            </a:avLst>
          </a:prstGeom>
          <a:solidFill>
            <a:schemeClr val="bg2"/>
          </a:solidFill>
          <a:ln/>
        </p:spPr>
      </p:sp>
      <p:sp>
        <p:nvSpPr>
          <p:cNvPr id="4" name="num-bg-149"/>
          <p:cNvSpPr/>
          <p:nvPr/>
        </p:nvSpPr>
        <p:spPr>
          <a:xfrm>
            <a:off x="1005840" y="1691640"/>
            <a:ext cx="457200" cy="457200"/>
          </a:xfrm>
          <a:prstGeom prst="ellipse">
            <a:avLst/>
          </a:prstGeom>
          <a:solidFill>
            <a:schemeClr val="accent1"/>
          </a:solidFill>
          <a:ln/>
        </p:spPr>
      </p:sp>
      <p:sp>
        <p:nvSpPr>
          <p:cNvPr id="5" name="text-150"/>
          <p:cNvSpPr txBox="1"/>
          <p:nvPr/>
        </p:nvSpPr>
        <p:spPr>
          <a:xfrm>
            <a:off x="1005840" y="16916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6" name="text-151"/>
          <p:cNvSpPr txBox="1"/>
          <p:nvPr/>
        </p:nvSpPr>
        <p:spPr>
          <a:xfrm>
            <a:off x="621792" y="2331720"/>
            <a:ext cx="1225296" cy="640080"/>
          </a:xfrm>
          <a:prstGeom prst="rect">
            <a:avLst/>
          </a:prstGeom>
          <a:noFill/>
          <a:ln/>
        </p:spPr>
        <p:txBody>
          <a:bodyPr wrap="square" lIns="0" tIns="0" rIns="0" bIns="0" rtlCol="0" anchor="t"/>
          <a:lstStyle/>
          <a:p>
            <a:pPr algn="ctr" indent="0" marL="0">
              <a:buNone/>
            </a:pPr>
            <a:r>
              <a:rPr lang="en-US" sz="1500" b="1" dirty="0">
                <a:solidFill>
                  <a:schemeClr val="tx1"/>
                </a:solidFill>
              </a:rPr>
              <a:t>Grayscale</a:t>
            </a:r>
            <a:endParaRPr lang="en-US" sz="1500" dirty="0"/>
          </a:p>
        </p:txBody>
      </p:sp>
      <p:sp>
        <p:nvSpPr>
          <p:cNvPr id="7" name="text-152"/>
          <p:cNvSpPr txBox="1"/>
          <p:nvPr/>
        </p:nvSpPr>
        <p:spPr>
          <a:xfrm>
            <a:off x="640080" y="3017520"/>
            <a:ext cx="1188720" cy="1280160"/>
          </a:xfrm>
          <a:prstGeom prst="rect">
            <a:avLst/>
          </a:prstGeom>
          <a:noFill/>
          <a:ln/>
        </p:spPr>
        <p:txBody>
          <a:bodyPr wrap="square" lIns="0" tIns="0" rIns="0" bIns="0" rtlCol="0" anchor="t"/>
          <a:lstStyle/>
          <a:p>
            <a:pPr algn="ctr" indent="0" marL="0">
              <a:buNone/>
            </a:pPr>
            <a:r>
              <a:rPr lang="en-US" sz="1400" dirty="0">
                <a:solidFill>
                  <a:schemeClr val="accent4"/>
                </a:solidFill>
              </a:rPr>
              <a:t>Convert BGR to intensity for SIFT</a:t>
            </a:r>
            <a:endParaRPr lang="en-US" sz="1400" dirty="0"/>
          </a:p>
        </p:txBody>
      </p:sp>
      <p:sp>
        <p:nvSpPr>
          <p:cNvPr id="8" name="arrow-153"/>
          <p:cNvSpPr/>
          <p:nvPr/>
        </p:nvSpPr>
        <p:spPr>
          <a:xfrm>
            <a:off x="1938528" y="2926080"/>
            <a:ext cx="211836" cy="274320"/>
          </a:xfrm>
          <a:prstGeom prst="rightArrow">
            <a:avLst/>
          </a:prstGeom>
          <a:solidFill>
            <a:schemeClr val="accent4"/>
          </a:solidFill>
          <a:ln/>
        </p:spPr>
      </p:sp>
      <p:sp>
        <p:nvSpPr>
          <p:cNvPr id="9" name="card-154"/>
          <p:cNvSpPr/>
          <p:nvPr/>
        </p:nvSpPr>
        <p:spPr>
          <a:xfrm>
            <a:off x="2168652" y="1508760"/>
            <a:ext cx="1371600" cy="2834640"/>
          </a:xfrm>
          <a:prstGeom prst="roundRect">
            <a:avLst>
              <a:gd name="adj" fmla="val 6667"/>
            </a:avLst>
          </a:prstGeom>
          <a:solidFill>
            <a:schemeClr val="bg2"/>
          </a:solidFill>
          <a:ln/>
        </p:spPr>
      </p:sp>
      <p:sp>
        <p:nvSpPr>
          <p:cNvPr id="10" name="num-bg-155"/>
          <p:cNvSpPr/>
          <p:nvPr/>
        </p:nvSpPr>
        <p:spPr>
          <a:xfrm>
            <a:off x="2625852" y="1691640"/>
            <a:ext cx="457200" cy="457200"/>
          </a:xfrm>
          <a:prstGeom prst="ellipse">
            <a:avLst/>
          </a:prstGeom>
          <a:solidFill>
            <a:schemeClr val="accent1"/>
          </a:solidFill>
          <a:ln/>
        </p:spPr>
      </p:sp>
      <p:sp>
        <p:nvSpPr>
          <p:cNvPr id="11" name="text-156"/>
          <p:cNvSpPr txBox="1"/>
          <p:nvPr/>
        </p:nvSpPr>
        <p:spPr>
          <a:xfrm>
            <a:off x="2625852" y="16916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2" name="text-157"/>
          <p:cNvSpPr txBox="1"/>
          <p:nvPr/>
        </p:nvSpPr>
        <p:spPr>
          <a:xfrm>
            <a:off x="2241804" y="2331720"/>
            <a:ext cx="1225296" cy="640080"/>
          </a:xfrm>
          <a:prstGeom prst="rect">
            <a:avLst/>
          </a:prstGeom>
          <a:noFill/>
          <a:ln/>
        </p:spPr>
        <p:txBody>
          <a:bodyPr wrap="square" lIns="0" tIns="0" rIns="0" bIns="0" rtlCol="0" anchor="t"/>
          <a:lstStyle/>
          <a:p>
            <a:pPr algn="ctr" indent="0" marL="0">
              <a:buNone/>
            </a:pPr>
            <a:r>
              <a:rPr lang="en-US" sz="1500" b="1" dirty="0">
                <a:solidFill>
                  <a:schemeClr val="tx1"/>
                </a:solidFill>
              </a:rPr>
              <a:t>SIFT keypoints</a:t>
            </a:r>
            <a:endParaRPr lang="en-US" sz="1500" dirty="0"/>
          </a:p>
        </p:txBody>
      </p:sp>
      <p:sp>
        <p:nvSpPr>
          <p:cNvPr id="13" name="text-158"/>
          <p:cNvSpPr txBox="1"/>
          <p:nvPr/>
        </p:nvSpPr>
        <p:spPr>
          <a:xfrm>
            <a:off x="2260092" y="3017520"/>
            <a:ext cx="1188720" cy="1280160"/>
          </a:xfrm>
          <a:prstGeom prst="rect">
            <a:avLst/>
          </a:prstGeom>
          <a:noFill/>
          <a:ln/>
        </p:spPr>
        <p:txBody>
          <a:bodyPr wrap="square" lIns="0" tIns="0" rIns="0" bIns="0" rtlCol="0" anchor="t"/>
          <a:lstStyle/>
          <a:p>
            <a:pPr algn="ctr" indent="0" marL="0">
              <a:buNone/>
            </a:pPr>
            <a:r>
              <a:rPr lang="en-US" sz="1400" dirty="0">
                <a:solidFill>
                  <a:schemeClr val="accent4"/>
                </a:solidFill>
              </a:rPr>
              <a:t>Up to 2000 points with 128-value descriptors</a:t>
            </a:r>
            <a:endParaRPr lang="en-US" sz="1400" dirty="0"/>
          </a:p>
        </p:txBody>
      </p:sp>
      <p:sp>
        <p:nvSpPr>
          <p:cNvPr id="14" name="arrow-159"/>
          <p:cNvSpPr/>
          <p:nvPr/>
        </p:nvSpPr>
        <p:spPr>
          <a:xfrm>
            <a:off x="3558540" y="2926080"/>
            <a:ext cx="211836" cy="274320"/>
          </a:xfrm>
          <a:prstGeom prst="rightArrow">
            <a:avLst/>
          </a:prstGeom>
          <a:solidFill>
            <a:schemeClr val="accent4"/>
          </a:solidFill>
          <a:ln/>
        </p:spPr>
      </p:sp>
      <p:sp>
        <p:nvSpPr>
          <p:cNvPr id="15" name="card-160"/>
          <p:cNvSpPr/>
          <p:nvPr/>
        </p:nvSpPr>
        <p:spPr>
          <a:xfrm>
            <a:off x="3788664" y="1508760"/>
            <a:ext cx="1371600" cy="2834640"/>
          </a:xfrm>
          <a:prstGeom prst="roundRect">
            <a:avLst>
              <a:gd name="adj" fmla="val 6667"/>
            </a:avLst>
          </a:prstGeom>
          <a:solidFill>
            <a:schemeClr val="bg2"/>
          </a:solidFill>
          <a:ln/>
        </p:spPr>
      </p:sp>
      <p:sp>
        <p:nvSpPr>
          <p:cNvPr id="16" name="num-bg-161"/>
          <p:cNvSpPr/>
          <p:nvPr/>
        </p:nvSpPr>
        <p:spPr>
          <a:xfrm>
            <a:off x="4245864" y="1691640"/>
            <a:ext cx="457200" cy="457200"/>
          </a:xfrm>
          <a:prstGeom prst="ellipse">
            <a:avLst/>
          </a:prstGeom>
          <a:solidFill>
            <a:schemeClr val="accent1"/>
          </a:solidFill>
          <a:ln/>
        </p:spPr>
      </p:sp>
      <p:sp>
        <p:nvSpPr>
          <p:cNvPr id="17" name="text-162"/>
          <p:cNvSpPr txBox="1"/>
          <p:nvPr/>
        </p:nvSpPr>
        <p:spPr>
          <a:xfrm>
            <a:off x="4245864" y="16916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8" name="text-163"/>
          <p:cNvSpPr txBox="1"/>
          <p:nvPr/>
        </p:nvSpPr>
        <p:spPr>
          <a:xfrm>
            <a:off x="3861816" y="2331720"/>
            <a:ext cx="1225296" cy="640080"/>
          </a:xfrm>
          <a:prstGeom prst="rect">
            <a:avLst/>
          </a:prstGeom>
          <a:noFill/>
          <a:ln/>
        </p:spPr>
        <p:txBody>
          <a:bodyPr wrap="square" lIns="0" tIns="0" rIns="0" bIns="0" rtlCol="0" anchor="t"/>
          <a:lstStyle/>
          <a:p>
            <a:pPr algn="ctr" indent="0" marL="0">
              <a:buNone/>
            </a:pPr>
            <a:r>
              <a:rPr lang="en-US" sz="1500" b="1" dirty="0">
                <a:solidFill>
                  <a:schemeClr val="tx1"/>
                </a:solidFill>
              </a:rPr>
              <a:t>Self-matching</a:t>
            </a:r>
            <a:endParaRPr lang="en-US" sz="1500" dirty="0"/>
          </a:p>
        </p:txBody>
      </p:sp>
      <p:sp>
        <p:nvSpPr>
          <p:cNvPr id="19" name="text-164"/>
          <p:cNvSpPr txBox="1"/>
          <p:nvPr/>
        </p:nvSpPr>
        <p:spPr>
          <a:xfrm>
            <a:off x="3880104" y="3017520"/>
            <a:ext cx="1188720" cy="1280160"/>
          </a:xfrm>
          <a:prstGeom prst="rect">
            <a:avLst/>
          </a:prstGeom>
          <a:noFill/>
          <a:ln/>
        </p:spPr>
        <p:txBody>
          <a:bodyPr wrap="square" lIns="0" tIns="0" rIns="0" bIns="0" rtlCol="0" anchor="t"/>
          <a:lstStyle/>
          <a:p>
            <a:pPr algn="ctr" indent="0" marL="0">
              <a:buNone/>
            </a:pPr>
            <a:r>
              <a:rPr lang="en-US" sz="1400" dirty="0">
                <a:solidFill>
                  <a:schemeClr val="accent4"/>
                </a:solidFill>
              </a:rPr>
              <a:t>Match the image to itself; skip points under 50 px apart</a:t>
            </a:r>
            <a:endParaRPr lang="en-US" sz="1400" dirty="0"/>
          </a:p>
        </p:txBody>
      </p:sp>
      <p:sp>
        <p:nvSpPr>
          <p:cNvPr id="20" name="arrow-165"/>
          <p:cNvSpPr/>
          <p:nvPr/>
        </p:nvSpPr>
        <p:spPr>
          <a:xfrm>
            <a:off x="5178552" y="2926080"/>
            <a:ext cx="211836" cy="274320"/>
          </a:xfrm>
          <a:prstGeom prst="rightArrow">
            <a:avLst/>
          </a:prstGeom>
          <a:solidFill>
            <a:schemeClr val="accent4"/>
          </a:solidFill>
          <a:ln/>
        </p:spPr>
      </p:sp>
      <p:sp>
        <p:nvSpPr>
          <p:cNvPr id="21" name="card-166"/>
          <p:cNvSpPr/>
          <p:nvPr/>
        </p:nvSpPr>
        <p:spPr>
          <a:xfrm>
            <a:off x="5408676" y="1508760"/>
            <a:ext cx="1371600" cy="2834640"/>
          </a:xfrm>
          <a:prstGeom prst="roundRect">
            <a:avLst>
              <a:gd name="adj" fmla="val 6667"/>
            </a:avLst>
          </a:prstGeom>
          <a:solidFill>
            <a:schemeClr val="bg2"/>
          </a:solidFill>
          <a:ln/>
        </p:spPr>
      </p:sp>
      <p:sp>
        <p:nvSpPr>
          <p:cNvPr id="22" name="num-bg-167"/>
          <p:cNvSpPr/>
          <p:nvPr/>
        </p:nvSpPr>
        <p:spPr>
          <a:xfrm>
            <a:off x="5865876" y="1691640"/>
            <a:ext cx="457200" cy="457200"/>
          </a:xfrm>
          <a:prstGeom prst="ellipse">
            <a:avLst/>
          </a:prstGeom>
          <a:solidFill>
            <a:schemeClr val="accent1"/>
          </a:solidFill>
          <a:ln/>
        </p:spPr>
      </p:sp>
      <p:sp>
        <p:nvSpPr>
          <p:cNvPr id="23" name="text-168"/>
          <p:cNvSpPr txBox="1"/>
          <p:nvPr/>
        </p:nvSpPr>
        <p:spPr>
          <a:xfrm>
            <a:off x="5865876" y="16916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4" name="text-169"/>
          <p:cNvSpPr txBox="1"/>
          <p:nvPr/>
        </p:nvSpPr>
        <p:spPr>
          <a:xfrm>
            <a:off x="5481828" y="2331720"/>
            <a:ext cx="1225296" cy="640080"/>
          </a:xfrm>
          <a:prstGeom prst="rect">
            <a:avLst/>
          </a:prstGeom>
          <a:noFill/>
          <a:ln/>
        </p:spPr>
        <p:txBody>
          <a:bodyPr wrap="square" lIns="0" tIns="0" rIns="0" bIns="0" rtlCol="0" anchor="t"/>
          <a:lstStyle/>
          <a:p>
            <a:pPr algn="ctr" indent="0" marL="0">
              <a:buNone/>
            </a:pPr>
            <a:r>
              <a:rPr lang="en-US" sz="1500" b="1" dirty="0">
                <a:solidFill>
                  <a:schemeClr val="tx1"/>
                </a:solidFill>
              </a:rPr>
              <a:t>Ratio test</a:t>
            </a:r>
            <a:endParaRPr lang="en-US" sz="1500" dirty="0"/>
          </a:p>
        </p:txBody>
      </p:sp>
      <p:sp>
        <p:nvSpPr>
          <p:cNvPr id="25" name="text-170"/>
          <p:cNvSpPr txBox="1"/>
          <p:nvPr/>
        </p:nvSpPr>
        <p:spPr>
          <a:xfrm>
            <a:off x="5500116" y="3017520"/>
            <a:ext cx="1188720" cy="1280160"/>
          </a:xfrm>
          <a:prstGeom prst="rect">
            <a:avLst/>
          </a:prstGeom>
          <a:noFill/>
          <a:ln/>
        </p:spPr>
        <p:txBody>
          <a:bodyPr wrap="square" lIns="0" tIns="0" rIns="0" bIns="0" rtlCol="0" anchor="t"/>
          <a:lstStyle/>
          <a:p>
            <a:pPr algn="ctr" indent="0" marL="0">
              <a:buNone/>
            </a:pPr>
            <a:r>
              <a:rPr lang="en-US" sz="1400" dirty="0">
                <a:solidFill>
                  <a:schemeClr val="accent4"/>
                </a:solidFill>
              </a:rPr>
              <a:t>Keep a match if d1 &lt; 0.75 x d2</a:t>
            </a:r>
            <a:endParaRPr lang="en-US" sz="1400" dirty="0"/>
          </a:p>
        </p:txBody>
      </p:sp>
      <p:sp>
        <p:nvSpPr>
          <p:cNvPr id="26" name="arrow-171"/>
          <p:cNvSpPr/>
          <p:nvPr/>
        </p:nvSpPr>
        <p:spPr>
          <a:xfrm>
            <a:off x="6798564" y="2926080"/>
            <a:ext cx="211836" cy="274320"/>
          </a:xfrm>
          <a:prstGeom prst="rightArrow">
            <a:avLst/>
          </a:prstGeom>
          <a:solidFill>
            <a:schemeClr val="accent4"/>
          </a:solidFill>
          <a:ln/>
        </p:spPr>
      </p:sp>
      <p:sp>
        <p:nvSpPr>
          <p:cNvPr id="27" name="card-172"/>
          <p:cNvSpPr/>
          <p:nvPr/>
        </p:nvSpPr>
        <p:spPr>
          <a:xfrm>
            <a:off x="7028688" y="1508760"/>
            <a:ext cx="1371600" cy="2834640"/>
          </a:xfrm>
          <a:prstGeom prst="roundRect">
            <a:avLst>
              <a:gd name="adj" fmla="val 6667"/>
            </a:avLst>
          </a:prstGeom>
          <a:solidFill>
            <a:schemeClr val="bg2"/>
          </a:solidFill>
          <a:ln/>
        </p:spPr>
      </p:sp>
      <p:sp>
        <p:nvSpPr>
          <p:cNvPr id="28" name="num-bg-173"/>
          <p:cNvSpPr/>
          <p:nvPr/>
        </p:nvSpPr>
        <p:spPr>
          <a:xfrm>
            <a:off x="7485888" y="1691640"/>
            <a:ext cx="457200" cy="457200"/>
          </a:xfrm>
          <a:prstGeom prst="ellipse">
            <a:avLst/>
          </a:prstGeom>
          <a:solidFill>
            <a:schemeClr val="accent1"/>
          </a:solidFill>
          <a:ln/>
        </p:spPr>
      </p:sp>
      <p:sp>
        <p:nvSpPr>
          <p:cNvPr id="29" name="text-174"/>
          <p:cNvSpPr txBox="1"/>
          <p:nvPr/>
        </p:nvSpPr>
        <p:spPr>
          <a:xfrm>
            <a:off x="7485888" y="16916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30" name="text-175"/>
          <p:cNvSpPr txBox="1"/>
          <p:nvPr/>
        </p:nvSpPr>
        <p:spPr>
          <a:xfrm>
            <a:off x="7101840" y="2331720"/>
            <a:ext cx="1225296" cy="640080"/>
          </a:xfrm>
          <a:prstGeom prst="rect">
            <a:avLst/>
          </a:prstGeom>
          <a:noFill/>
          <a:ln/>
        </p:spPr>
        <p:txBody>
          <a:bodyPr wrap="square" lIns="0" tIns="0" rIns="0" bIns="0" rtlCol="0" anchor="t"/>
          <a:lstStyle/>
          <a:p>
            <a:pPr algn="ctr" indent="0" marL="0">
              <a:buNone/>
            </a:pPr>
            <a:r>
              <a:rPr lang="en-US" sz="1500" b="1" dirty="0">
                <a:solidFill>
                  <a:schemeClr val="tx1"/>
                </a:solidFill>
              </a:rPr>
              <a:t>RANSAC</a:t>
            </a:r>
            <a:endParaRPr lang="en-US" sz="1500" dirty="0"/>
          </a:p>
        </p:txBody>
      </p:sp>
      <p:sp>
        <p:nvSpPr>
          <p:cNvPr id="31" name="text-176"/>
          <p:cNvSpPr txBox="1"/>
          <p:nvPr/>
        </p:nvSpPr>
        <p:spPr>
          <a:xfrm>
            <a:off x="7120128" y="3017520"/>
            <a:ext cx="1188720" cy="1280160"/>
          </a:xfrm>
          <a:prstGeom prst="rect">
            <a:avLst/>
          </a:prstGeom>
          <a:noFill/>
          <a:ln/>
        </p:spPr>
        <p:txBody>
          <a:bodyPr wrap="square" lIns="0" tIns="0" rIns="0" bIns="0" rtlCol="0" anchor="t"/>
          <a:lstStyle/>
          <a:p>
            <a:pPr algn="ctr" indent="0" marL="0">
              <a:buNone/>
            </a:pPr>
            <a:r>
              <a:rPr lang="en-US" sz="1400" dirty="0">
                <a:solidFill>
                  <a:schemeClr val="accent4"/>
                </a:solidFill>
              </a:rPr>
              <a:t>Fit scale, rotation, shift; count inliers</a:t>
            </a:r>
            <a:endParaRPr lang="en-US" sz="1400" dirty="0"/>
          </a:p>
        </p:txBody>
      </p:sp>
      <p:sp>
        <p:nvSpPr>
          <p:cNvPr id="32" name="arrow-177"/>
          <p:cNvSpPr/>
          <p:nvPr/>
        </p:nvSpPr>
        <p:spPr>
          <a:xfrm>
            <a:off x="8418576" y="2926080"/>
            <a:ext cx="211836" cy="274320"/>
          </a:xfrm>
          <a:prstGeom prst="rightArrow">
            <a:avLst/>
          </a:prstGeom>
          <a:solidFill>
            <a:schemeClr val="accent4"/>
          </a:solidFill>
          <a:ln/>
        </p:spPr>
      </p:sp>
      <p:sp>
        <p:nvSpPr>
          <p:cNvPr id="33" name="card-178"/>
          <p:cNvSpPr/>
          <p:nvPr/>
        </p:nvSpPr>
        <p:spPr>
          <a:xfrm>
            <a:off x="8648700" y="1508760"/>
            <a:ext cx="1371600" cy="2834640"/>
          </a:xfrm>
          <a:prstGeom prst="roundRect">
            <a:avLst>
              <a:gd name="adj" fmla="val 6667"/>
            </a:avLst>
          </a:prstGeom>
          <a:solidFill>
            <a:schemeClr val="bg2"/>
          </a:solidFill>
          <a:ln/>
        </p:spPr>
      </p:sp>
      <p:sp>
        <p:nvSpPr>
          <p:cNvPr id="34" name="num-bg-179"/>
          <p:cNvSpPr/>
          <p:nvPr/>
        </p:nvSpPr>
        <p:spPr>
          <a:xfrm>
            <a:off x="9105900" y="1691640"/>
            <a:ext cx="457200" cy="457200"/>
          </a:xfrm>
          <a:prstGeom prst="ellipse">
            <a:avLst/>
          </a:prstGeom>
          <a:solidFill>
            <a:schemeClr val="accent1"/>
          </a:solidFill>
          <a:ln/>
        </p:spPr>
      </p:sp>
      <p:sp>
        <p:nvSpPr>
          <p:cNvPr id="35" name="text-180"/>
          <p:cNvSpPr txBox="1"/>
          <p:nvPr/>
        </p:nvSpPr>
        <p:spPr>
          <a:xfrm>
            <a:off x="9105900" y="16916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6</a:t>
            </a:r>
            <a:endParaRPr lang="en-US" sz="1600" dirty="0"/>
          </a:p>
        </p:txBody>
      </p:sp>
      <p:sp>
        <p:nvSpPr>
          <p:cNvPr id="36" name="text-181"/>
          <p:cNvSpPr txBox="1"/>
          <p:nvPr/>
        </p:nvSpPr>
        <p:spPr>
          <a:xfrm>
            <a:off x="8721852" y="2331720"/>
            <a:ext cx="1225296" cy="640080"/>
          </a:xfrm>
          <a:prstGeom prst="rect">
            <a:avLst/>
          </a:prstGeom>
          <a:noFill/>
          <a:ln/>
        </p:spPr>
        <p:txBody>
          <a:bodyPr wrap="square" lIns="0" tIns="0" rIns="0" bIns="0" rtlCol="0" anchor="t"/>
          <a:lstStyle/>
          <a:p>
            <a:pPr algn="ctr" indent="0" marL="0">
              <a:buNone/>
            </a:pPr>
            <a:r>
              <a:rPr lang="en-US" sz="1500" b="1" dirty="0">
                <a:solidFill>
                  <a:schemeClr val="tx1"/>
                </a:solidFill>
              </a:rPr>
              <a:t>Decision</a:t>
            </a:r>
            <a:endParaRPr lang="en-US" sz="1500" dirty="0"/>
          </a:p>
        </p:txBody>
      </p:sp>
      <p:sp>
        <p:nvSpPr>
          <p:cNvPr id="37" name="text-182"/>
          <p:cNvSpPr txBox="1"/>
          <p:nvPr/>
        </p:nvSpPr>
        <p:spPr>
          <a:xfrm>
            <a:off x="8740140" y="3017520"/>
            <a:ext cx="1188720" cy="1280160"/>
          </a:xfrm>
          <a:prstGeom prst="rect">
            <a:avLst/>
          </a:prstGeom>
          <a:noFill/>
          <a:ln/>
        </p:spPr>
        <p:txBody>
          <a:bodyPr wrap="square" lIns="0" tIns="0" rIns="0" bIns="0" rtlCol="0" anchor="t"/>
          <a:lstStyle/>
          <a:p>
            <a:pPr algn="ctr" indent="0" marL="0">
              <a:buNone/>
            </a:pPr>
            <a:r>
              <a:rPr lang="en-US" sz="1400" dirty="0">
                <a:solidFill>
                  <a:schemeClr val="accent4"/>
                </a:solidFill>
              </a:rPr>
              <a:t>Flag the image if inliers are 8 or more</a:t>
            </a:r>
            <a:endParaRPr lang="en-US" sz="1400" dirty="0"/>
          </a:p>
        </p:txBody>
      </p:sp>
      <p:sp>
        <p:nvSpPr>
          <p:cNvPr id="38" name="arrow-183"/>
          <p:cNvSpPr/>
          <p:nvPr/>
        </p:nvSpPr>
        <p:spPr>
          <a:xfrm>
            <a:off x="10038588" y="2926080"/>
            <a:ext cx="211836" cy="274320"/>
          </a:xfrm>
          <a:prstGeom prst="rightArrow">
            <a:avLst/>
          </a:prstGeom>
          <a:solidFill>
            <a:schemeClr val="accent4"/>
          </a:solidFill>
          <a:ln/>
        </p:spPr>
      </p:sp>
      <p:sp>
        <p:nvSpPr>
          <p:cNvPr id="39" name="card-184"/>
          <p:cNvSpPr/>
          <p:nvPr/>
        </p:nvSpPr>
        <p:spPr>
          <a:xfrm>
            <a:off x="10268712" y="1508760"/>
            <a:ext cx="1371600" cy="2834640"/>
          </a:xfrm>
          <a:prstGeom prst="roundRect">
            <a:avLst>
              <a:gd name="adj" fmla="val 6667"/>
            </a:avLst>
          </a:prstGeom>
          <a:solidFill>
            <a:schemeClr val="accent2">
              <a:alpha val="12000"/>
            </a:schemeClr>
          </a:solidFill>
          <a:ln/>
        </p:spPr>
      </p:sp>
      <p:sp>
        <p:nvSpPr>
          <p:cNvPr id="40" name="num-bg-185"/>
          <p:cNvSpPr/>
          <p:nvPr/>
        </p:nvSpPr>
        <p:spPr>
          <a:xfrm>
            <a:off x="10725912" y="1691640"/>
            <a:ext cx="457200" cy="457200"/>
          </a:xfrm>
          <a:prstGeom prst="ellipse">
            <a:avLst/>
          </a:prstGeom>
          <a:solidFill>
            <a:schemeClr val="accent2"/>
          </a:solidFill>
          <a:ln/>
        </p:spPr>
      </p:sp>
      <p:sp>
        <p:nvSpPr>
          <p:cNvPr id="41" name="text-186"/>
          <p:cNvSpPr txBox="1"/>
          <p:nvPr/>
        </p:nvSpPr>
        <p:spPr>
          <a:xfrm>
            <a:off x="10725912" y="169164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7</a:t>
            </a:r>
            <a:endParaRPr lang="en-US" sz="1600" dirty="0"/>
          </a:p>
        </p:txBody>
      </p:sp>
      <p:sp>
        <p:nvSpPr>
          <p:cNvPr id="42" name="text-187"/>
          <p:cNvSpPr txBox="1"/>
          <p:nvPr/>
        </p:nvSpPr>
        <p:spPr>
          <a:xfrm>
            <a:off x="10341864" y="2331720"/>
            <a:ext cx="1225296" cy="640080"/>
          </a:xfrm>
          <a:prstGeom prst="rect">
            <a:avLst/>
          </a:prstGeom>
          <a:noFill/>
          <a:ln/>
        </p:spPr>
        <p:txBody>
          <a:bodyPr wrap="square" lIns="0" tIns="0" rIns="0" bIns="0" rtlCol="0" anchor="t"/>
          <a:lstStyle/>
          <a:p>
            <a:pPr algn="ctr" indent="0" marL="0">
              <a:buNone/>
            </a:pPr>
            <a:r>
              <a:rPr lang="en-US" sz="1500" b="1" dirty="0">
                <a:solidFill>
                  <a:schemeClr val="tx1"/>
                </a:solidFill>
              </a:rPr>
              <a:t>Mask + overlay</a:t>
            </a:r>
            <a:endParaRPr lang="en-US" sz="1500" dirty="0"/>
          </a:p>
        </p:txBody>
      </p:sp>
      <p:sp>
        <p:nvSpPr>
          <p:cNvPr id="43" name="text-188"/>
          <p:cNvSpPr txBox="1"/>
          <p:nvPr/>
        </p:nvSpPr>
        <p:spPr>
          <a:xfrm>
            <a:off x="10360152" y="3017520"/>
            <a:ext cx="1188720" cy="1280160"/>
          </a:xfrm>
          <a:prstGeom prst="rect">
            <a:avLst/>
          </a:prstGeom>
          <a:noFill/>
          <a:ln/>
        </p:spPr>
        <p:txBody>
          <a:bodyPr wrap="square" lIns="0" tIns="0" rIns="0" bIns="0" rtlCol="0" anchor="t"/>
          <a:lstStyle/>
          <a:p>
            <a:pPr algn="ctr" indent="0" marL="0">
              <a:buNone/>
            </a:pPr>
            <a:r>
              <a:rPr lang="en-US" sz="1400" dirty="0">
                <a:solidFill>
                  <a:schemeClr val="accent4"/>
                </a:solidFill>
              </a:rPr>
              <a:t>Hulls of inliers, dilate, red tint</a:t>
            </a:r>
            <a:endParaRPr lang="en-US" sz="1400" dirty="0"/>
          </a:p>
        </p:txBody>
      </p:sp>
      <p:sp>
        <p:nvSpPr>
          <p:cNvPr id="44" name="card-189"/>
          <p:cNvSpPr/>
          <p:nvPr/>
        </p:nvSpPr>
        <p:spPr>
          <a:xfrm>
            <a:off x="548640" y="4709160"/>
            <a:ext cx="5394960" cy="1371600"/>
          </a:xfrm>
          <a:prstGeom prst="roundRect">
            <a:avLst>
              <a:gd name="adj" fmla="val 6667"/>
            </a:avLst>
          </a:prstGeom>
          <a:solidFill>
            <a:schemeClr val="accent1">
              <a:alpha val="12000"/>
            </a:schemeClr>
          </a:solidFill>
          <a:ln/>
        </p:spPr>
      </p:sp>
      <p:sp>
        <p:nvSpPr>
          <p:cNvPr id="45" name="text-190"/>
          <p:cNvSpPr txBox="1"/>
          <p:nvPr/>
        </p:nvSpPr>
        <p:spPr>
          <a:xfrm>
            <a:off x="822960" y="4709160"/>
            <a:ext cx="4937760" cy="1371600"/>
          </a:xfrm>
          <a:prstGeom prst="rect">
            <a:avLst/>
          </a:prstGeom>
          <a:noFill/>
          <a:ln/>
        </p:spPr>
        <p:txBody>
          <a:bodyPr wrap="square" lIns="0" tIns="0" rIns="0" bIns="0" rtlCol="0" anchor="ctr"/>
          <a:lstStyle/>
          <a:p>
            <a:pPr indent="0" marL="0">
              <a:buNone/>
            </a:pPr>
            <a:r>
              <a:rPr lang="en-US" sz="1800" b="1" dirty="0">
                <a:solidFill>
                  <a:schemeClr val="tx2"/>
                </a:solidFill>
              </a:rPr>
              <a:t>Input  </a:t>
            </a:r>
            <a:pPr indent="0" marL="0">
              <a:buNone/>
            </a:pPr>
            <a:r>
              <a:rPr lang="en-US" sz="1800" dirty="0">
                <a:solidFill>
                  <a:schemeClr val="tx1"/>
                </a:solidFill>
              </a:rPr>
              <a:t>any image (BGR), uploaded, pasted or from CoMoFoD</a:t>
            </a:r>
            <a:endParaRPr lang="en-US" sz="1800" dirty="0"/>
          </a:p>
        </p:txBody>
      </p:sp>
      <p:sp>
        <p:nvSpPr>
          <p:cNvPr id="46" name="card-191"/>
          <p:cNvSpPr/>
          <p:nvPr/>
        </p:nvSpPr>
        <p:spPr>
          <a:xfrm>
            <a:off x="6245352" y="4709160"/>
            <a:ext cx="5394960" cy="1371600"/>
          </a:xfrm>
          <a:prstGeom prst="roundRect">
            <a:avLst>
              <a:gd name="adj" fmla="val 6667"/>
            </a:avLst>
          </a:prstGeom>
          <a:solidFill>
            <a:schemeClr val="accent2">
              <a:alpha val="12000"/>
            </a:schemeClr>
          </a:solidFill>
          <a:ln/>
        </p:spPr>
      </p:sp>
      <p:sp>
        <p:nvSpPr>
          <p:cNvPr id="47" name="text-192"/>
          <p:cNvSpPr txBox="1"/>
          <p:nvPr/>
        </p:nvSpPr>
        <p:spPr>
          <a:xfrm>
            <a:off x="6519672" y="4709160"/>
            <a:ext cx="4937760" cy="1371600"/>
          </a:xfrm>
          <a:prstGeom prst="rect">
            <a:avLst/>
          </a:prstGeom>
          <a:noFill/>
          <a:ln/>
        </p:spPr>
        <p:txBody>
          <a:bodyPr wrap="square" lIns="0" tIns="0" rIns="0" bIns="0" rtlCol="0" anchor="ctr"/>
          <a:lstStyle/>
          <a:p>
            <a:pPr indent="0" marL="0">
              <a:buNone/>
            </a:pPr>
            <a:r>
              <a:rPr lang="en-US" sz="1800" b="1" dirty="0">
                <a:solidFill>
                  <a:schemeClr val="accent2"/>
                </a:solidFill>
              </a:rPr>
              <a:t>Output  </a:t>
            </a:r>
            <a:pPr indent="0" marL="0">
              <a:buNone/>
            </a:pPr>
            <a:r>
              <a:rPr lang="en-US" sz="1800" dirty="0">
                <a:solidFill>
                  <a:schemeClr val="tx1"/>
                </a:solidFill>
              </a:rPr>
              <a:t>verdict, reason, mask, overlay and the copy transform</a:t>
            </a:r>
            <a:endParaRPr lang="en-US" sz="18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SIFT Features and Self-Matching</a:t>
            </a:r>
            <a:endParaRPr lang="en-US" sz="3600" dirty="0"/>
          </a:p>
        </p:txBody>
      </p:sp>
      <p:sp>
        <p:nvSpPr>
          <p:cNvPr id="3" name="card-193"/>
          <p:cNvSpPr/>
          <p:nvPr/>
        </p:nvSpPr>
        <p:spPr>
          <a:xfrm>
            <a:off x="548640" y="1463040"/>
            <a:ext cx="3566160" cy="4023360"/>
          </a:xfrm>
          <a:prstGeom prst="roundRect">
            <a:avLst>
              <a:gd name="adj" fmla="val 2564"/>
            </a:avLst>
          </a:prstGeom>
          <a:solidFill>
            <a:schemeClr val="bg2"/>
          </a:solidFill>
          <a:ln/>
        </p:spPr>
      </p:sp>
      <p:sp>
        <p:nvSpPr>
          <p:cNvPr id="4" name="icon-bg-194"/>
          <p:cNvSpPr/>
          <p:nvPr/>
        </p:nvSpPr>
        <p:spPr>
          <a:xfrm>
            <a:off x="822960" y="1691640"/>
            <a:ext cx="594360" cy="594360"/>
          </a:xfrm>
          <a:prstGeom prst="ellipse">
            <a:avLst/>
          </a:prstGeom>
          <a:solidFill>
            <a:schemeClr val="accent1"/>
          </a:solidFill>
          <a:ln/>
        </p:spPr>
      </p:sp>
      <p:pic>
        <p:nvPicPr>
          <p:cNvPr id="5" name="icon-195" descr="Eye icon">    </p:cNvPr>
          <p:cNvPicPr>
            <a:picLocks noChangeAspect="1"/>
          </p:cNvPicPr>
          <p:nvPr/>
        </p:nvPicPr>
        <p:blipFill>
          <a:blip r:embed="rId1"/>
          <a:stretch>
            <a:fillRect/>
          </a:stretch>
        </p:blipFill>
        <p:spPr>
          <a:xfrm>
            <a:off x="983437" y="1852117"/>
            <a:ext cx="273406" cy="273406"/>
          </a:xfrm>
          <a:prstGeom prst="rect">
            <a:avLst/>
          </a:prstGeom>
        </p:spPr>
      </p:pic>
      <p:sp>
        <p:nvSpPr>
          <p:cNvPr id="6" name="text-196"/>
          <p:cNvSpPr txBox="1"/>
          <p:nvPr/>
        </p:nvSpPr>
        <p:spPr>
          <a:xfrm>
            <a:off x="1554480" y="1691640"/>
            <a:ext cx="2377440" cy="594360"/>
          </a:xfrm>
          <a:prstGeom prst="rect">
            <a:avLst/>
          </a:prstGeom>
          <a:noFill/>
          <a:ln/>
        </p:spPr>
        <p:txBody>
          <a:bodyPr wrap="square" lIns="0" tIns="0" rIns="0" bIns="0" rtlCol="0" anchor="ctr"/>
          <a:lstStyle/>
          <a:p>
            <a:pPr indent="0" marL="0">
              <a:buNone/>
            </a:pPr>
            <a:r>
              <a:rPr lang="en-US" sz="1900" b="1" dirty="0">
                <a:solidFill>
                  <a:schemeClr val="tx1"/>
                </a:solidFill>
              </a:rPr>
              <a:t>SIFT keypoints</a:t>
            </a:r>
            <a:endParaRPr lang="en-US" sz="1900" dirty="0"/>
          </a:p>
        </p:txBody>
      </p:sp>
      <p:sp>
        <p:nvSpPr>
          <p:cNvPr id="7" name="text-197"/>
          <p:cNvSpPr txBox="1"/>
          <p:nvPr/>
        </p:nvSpPr>
        <p:spPr>
          <a:xfrm>
            <a:off x="822960" y="2560320"/>
            <a:ext cx="3017520" cy="2834640"/>
          </a:xfrm>
          <a:prstGeom prst="rect">
            <a:avLst/>
          </a:prstGeom>
          <a:noFill/>
          <a:ln/>
        </p:spPr>
        <p:txBody>
          <a:bodyPr wrap="square" lIns="0" tIns="0" rIns="0" bIns="0" rtlCol="0" anchor="t"/>
          <a:lstStyle/>
          <a:p>
            <a:pPr marL="203200" indent="-203200">
              <a:spcAft>
                <a:spcPts val="1400"/>
              </a:spcAft>
              <a:buSzPct val="100000"/>
              <a:buChar char="•"/>
            </a:pPr>
            <a:r>
              <a:rPr lang="en-US" sz="1600" dirty="0">
                <a:solidFill>
                  <a:schemeClr val="tx1"/>
                </a:solidFill>
              </a:rPr>
              <a:t>Scale- and rotation-invariant points</a:t>
            </a:r>
            <a:endParaRPr lang="en-US" sz="1600" dirty="0"/>
          </a:p>
          <a:p>
            <a:pPr marL="203200" indent="-203200">
              <a:spcAft>
                <a:spcPts val="1400"/>
              </a:spcAft>
              <a:buSzPct val="100000"/>
              <a:buChar char="•"/>
            </a:pPr>
            <a:r>
              <a:rPr lang="en-US" sz="1600" dirty="0">
                <a:solidFill>
                  <a:schemeClr val="tx1"/>
                </a:solidFill>
              </a:rPr>
              <a:t>nfeatures = 2000, contrastThreshold = 0.02 to reach low-contrast areas</a:t>
            </a:r>
            <a:endParaRPr lang="en-US" sz="1600" dirty="0"/>
          </a:p>
          <a:p>
            <a:pPr marL="203200" indent="-203200">
              <a:spcAft>
                <a:spcPts val="1400"/>
              </a:spcAft>
              <a:buSzPct val="100000"/>
              <a:buChar char="•"/>
            </a:pPr>
            <a:r>
              <a:rPr lang="en-US" sz="1600" dirty="0">
                <a:solidFill>
                  <a:schemeClr val="tx1"/>
                </a:solidFill>
              </a:rPr>
              <a:t>Under 8 keypoints: stop with a reason</a:t>
            </a:r>
            <a:endParaRPr lang="en-US" sz="1600" dirty="0"/>
          </a:p>
        </p:txBody>
      </p:sp>
      <p:sp>
        <p:nvSpPr>
          <p:cNvPr id="8" name="card-198"/>
          <p:cNvSpPr/>
          <p:nvPr/>
        </p:nvSpPr>
        <p:spPr>
          <a:xfrm>
            <a:off x="4311396" y="1463040"/>
            <a:ext cx="3566160" cy="4023360"/>
          </a:xfrm>
          <a:prstGeom prst="roundRect">
            <a:avLst>
              <a:gd name="adj" fmla="val 2564"/>
            </a:avLst>
          </a:prstGeom>
          <a:solidFill>
            <a:schemeClr val="bg2"/>
          </a:solidFill>
          <a:ln/>
        </p:spPr>
      </p:sp>
      <p:sp>
        <p:nvSpPr>
          <p:cNvPr id="9" name="icon-bg-199"/>
          <p:cNvSpPr/>
          <p:nvPr/>
        </p:nvSpPr>
        <p:spPr>
          <a:xfrm>
            <a:off x="4585716" y="1691640"/>
            <a:ext cx="594360" cy="594360"/>
          </a:xfrm>
          <a:prstGeom prst="ellipse">
            <a:avLst/>
          </a:prstGeom>
          <a:solidFill>
            <a:schemeClr val="accent1"/>
          </a:solidFill>
          <a:ln/>
        </p:spPr>
      </p:sp>
      <p:pic>
        <p:nvPicPr>
          <p:cNvPr id="10" name="icon-200" descr="LayerGroup icon">    </p:cNvPr>
          <p:cNvPicPr>
            <a:picLocks noChangeAspect="1"/>
          </p:cNvPicPr>
          <p:nvPr/>
        </p:nvPicPr>
        <p:blipFill>
          <a:blip r:embed="rId2"/>
          <a:stretch>
            <a:fillRect/>
          </a:stretch>
        </p:blipFill>
        <p:spPr>
          <a:xfrm>
            <a:off x="4746193" y="1852117"/>
            <a:ext cx="273406" cy="273406"/>
          </a:xfrm>
          <a:prstGeom prst="rect">
            <a:avLst/>
          </a:prstGeom>
        </p:spPr>
      </p:pic>
      <p:sp>
        <p:nvSpPr>
          <p:cNvPr id="11" name="text-201"/>
          <p:cNvSpPr txBox="1"/>
          <p:nvPr/>
        </p:nvSpPr>
        <p:spPr>
          <a:xfrm>
            <a:off x="5317236" y="1691640"/>
            <a:ext cx="2377440" cy="594360"/>
          </a:xfrm>
          <a:prstGeom prst="rect">
            <a:avLst/>
          </a:prstGeom>
          <a:noFill/>
          <a:ln/>
        </p:spPr>
        <p:txBody>
          <a:bodyPr wrap="square" lIns="0" tIns="0" rIns="0" bIns="0" rtlCol="0" anchor="ctr"/>
          <a:lstStyle/>
          <a:p>
            <a:pPr indent="0" marL="0">
              <a:buNone/>
            </a:pPr>
            <a:r>
              <a:rPr lang="en-US" sz="1900" b="1" dirty="0">
                <a:solidFill>
                  <a:schemeClr val="tx1"/>
                </a:solidFill>
              </a:rPr>
              <a:t>Distance-masked matching</a:t>
            </a:r>
            <a:endParaRPr lang="en-US" sz="1900" dirty="0"/>
          </a:p>
        </p:txBody>
      </p:sp>
      <p:sp>
        <p:nvSpPr>
          <p:cNvPr id="12" name="text-202"/>
          <p:cNvSpPr txBox="1"/>
          <p:nvPr/>
        </p:nvSpPr>
        <p:spPr>
          <a:xfrm>
            <a:off x="4585716" y="2560320"/>
            <a:ext cx="3017520" cy="2834640"/>
          </a:xfrm>
          <a:prstGeom prst="rect">
            <a:avLst/>
          </a:prstGeom>
          <a:noFill/>
          <a:ln/>
        </p:spPr>
        <p:txBody>
          <a:bodyPr wrap="square" lIns="0" tIns="0" rIns="0" bIns="0" rtlCol="0" anchor="t"/>
          <a:lstStyle/>
          <a:p>
            <a:pPr marL="203200" indent="-203200">
              <a:spcAft>
                <a:spcPts val="1400"/>
              </a:spcAft>
              <a:buSzPct val="100000"/>
              <a:buChar char="•"/>
            </a:pPr>
            <a:r>
              <a:rPr lang="en-US" sz="1600" dirty="0">
                <a:solidFill>
                  <a:schemeClr val="tx1"/>
                </a:solidFill>
              </a:rPr>
              <a:t>Image matched against itself</a:t>
            </a:r>
            <a:endParaRPr lang="en-US" sz="1600" dirty="0"/>
          </a:p>
          <a:p>
            <a:pPr marL="203200" indent="-203200">
              <a:spcAft>
                <a:spcPts val="1400"/>
              </a:spcAft>
              <a:buSzPct val="100000"/>
              <a:buChar char="•"/>
            </a:pPr>
            <a:r>
              <a:rPr lang="en-US" sz="1600" dirty="0">
                <a:solidFill>
                  <a:schemeClr val="tx1"/>
                </a:solidFill>
              </a:rPr>
              <a:t>n x n mask: 0 if two points are under 50 px apart, diagonal always 0</a:t>
            </a:r>
            <a:endParaRPr lang="en-US" sz="1600" dirty="0"/>
          </a:p>
          <a:p>
            <a:pPr marL="203200" indent="-203200">
              <a:spcAft>
                <a:spcPts val="1400"/>
              </a:spcAft>
              <a:buSzPct val="100000"/>
              <a:buChar char="•"/>
            </a:pPr>
            <a:r>
              <a:rPr lang="en-US" sz="1600" dirty="0">
                <a:solidFill>
                  <a:schemeClr val="tx1"/>
                </a:solidFill>
              </a:rPr>
              <a:t>BFMatcher kNN (k = 2) with this mask</a:t>
            </a:r>
            <a:endParaRPr lang="en-US" sz="1600" dirty="0"/>
          </a:p>
        </p:txBody>
      </p:sp>
      <p:sp>
        <p:nvSpPr>
          <p:cNvPr id="13" name="card-203"/>
          <p:cNvSpPr/>
          <p:nvPr/>
        </p:nvSpPr>
        <p:spPr>
          <a:xfrm>
            <a:off x="8074152" y="1463040"/>
            <a:ext cx="3566160" cy="4023360"/>
          </a:xfrm>
          <a:prstGeom prst="roundRect">
            <a:avLst>
              <a:gd name="adj" fmla="val 2564"/>
            </a:avLst>
          </a:prstGeom>
          <a:solidFill>
            <a:schemeClr val="bg2"/>
          </a:solidFill>
          <a:ln/>
        </p:spPr>
      </p:sp>
      <p:sp>
        <p:nvSpPr>
          <p:cNvPr id="14" name="icon-bg-204"/>
          <p:cNvSpPr/>
          <p:nvPr/>
        </p:nvSpPr>
        <p:spPr>
          <a:xfrm>
            <a:off x="8348472" y="1691640"/>
            <a:ext cx="594360" cy="594360"/>
          </a:xfrm>
          <a:prstGeom prst="ellipse">
            <a:avLst/>
          </a:prstGeom>
          <a:solidFill>
            <a:schemeClr val="accent1"/>
          </a:solidFill>
          <a:ln/>
        </p:spPr>
      </p:sp>
      <p:pic>
        <p:nvPicPr>
          <p:cNvPr id="15" name="icon-205" descr="CheckCircle icon">    </p:cNvPr>
          <p:cNvPicPr>
            <a:picLocks noChangeAspect="1"/>
          </p:cNvPicPr>
          <p:nvPr/>
        </p:nvPicPr>
        <p:blipFill>
          <a:blip r:embed="rId3"/>
          <a:stretch>
            <a:fillRect/>
          </a:stretch>
        </p:blipFill>
        <p:spPr>
          <a:xfrm>
            <a:off x="8508949" y="1852117"/>
            <a:ext cx="273406" cy="273406"/>
          </a:xfrm>
          <a:prstGeom prst="rect">
            <a:avLst/>
          </a:prstGeom>
        </p:spPr>
      </p:pic>
      <p:sp>
        <p:nvSpPr>
          <p:cNvPr id="16" name="text-206"/>
          <p:cNvSpPr txBox="1"/>
          <p:nvPr/>
        </p:nvSpPr>
        <p:spPr>
          <a:xfrm>
            <a:off x="9079992" y="1691640"/>
            <a:ext cx="2377440" cy="594360"/>
          </a:xfrm>
          <a:prstGeom prst="rect">
            <a:avLst/>
          </a:prstGeom>
          <a:noFill/>
          <a:ln/>
        </p:spPr>
        <p:txBody>
          <a:bodyPr wrap="square" lIns="0" tIns="0" rIns="0" bIns="0" rtlCol="0" anchor="ctr"/>
          <a:lstStyle/>
          <a:p>
            <a:pPr indent="0" marL="0">
              <a:buNone/>
            </a:pPr>
            <a:r>
              <a:rPr lang="en-US" sz="1900" b="1" dirty="0">
                <a:solidFill>
                  <a:schemeClr val="tx1"/>
                </a:solidFill>
              </a:rPr>
              <a:t>Lowe ratio test</a:t>
            </a:r>
            <a:endParaRPr lang="en-US" sz="1900" dirty="0"/>
          </a:p>
        </p:txBody>
      </p:sp>
      <p:sp>
        <p:nvSpPr>
          <p:cNvPr id="17" name="text-207"/>
          <p:cNvSpPr txBox="1"/>
          <p:nvPr/>
        </p:nvSpPr>
        <p:spPr>
          <a:xfrm>
            <a:off x="8348472" y="2560320"/>
            <a:ext cx="3017520" cy="2834640"/>
          </a:xfrm>
          <a:prstGeom prst="rect">
            <a:avLst/>
          </a:prstGeom>
          <a:noFill/>
          <a:ln/>
        </p:spPr>
        <p:txBody>
          <a:bodyPr wrap="square" lIns="0" tIns="0" rIns="0" bIns="0" rtlCol="0" anchor="t"/>
          <a:lstStyle/>
          <a:p>
            <a:pPr marL="203200" indent="-203200">
              <a:spcAft>
                <a:spcPts val="1400"/>
              </a:spcAft>
              <a:buSzPct val="100000"/>
              <a:buChar char="•"/>
            </a:pPr>
            <a:r>
              <a:rPr lang="en-US" sz="1600" dirty="0">
                <a:solidFill>
                  <a:schemeClr val="tx1"/>
                </a:solidFill>
              </a:rPr>
              <a:t>Keep a match if best is clearly better than second best</a:t>
            </a:r>
            <a:endParaRPr lang="en-US" sz="1600" dirty="0"/>
          </a:p>
          <a:p>
            <a:pPr marL="203200" indent="-203200">
              <a:spcAft>
                <a:spcPts val="1400"/>
              </a:spcAft>
              <a:buSzPct val="100000"/>
              <a:buChar char="•"/>
            </a:pPr>
            <a:r>
              <a:rPr lang="en-US" sz="1600" dirty="0">
                <a:solidFill>
                  <a:schemeClr val="tx1"/>
                </a:solidFill>
              </a:rPr>
              <a:t>Self-matches dropped as a safeguard</a:t>
            </a:r>
            <a:endParaRPr lang="en-US" sz="1600" dirty="0"/>
          </a:p>
          <a:p>
            <a:pPr marL="203200" indent="-203200">
              <a:spcAft>
                <a:spcPts val="1400"/>
              </a:spcAft>
              <a:buSzPct val="100000"/>
              <a:buChar char="•"/>
            </a:pPr>
            <a:r>
              <a:rPr lang="en-US" sz="1600" dirty="0">
                <a:solidFill>
                  <a:schemeClr val="tx1"/>
                </a:solidFill>
              </a:rPr>
              <a:t>Under 3 survivors: stop with a reason</a:t>
            </a:r>
            <a:endParaRPr lang="en-US" sz="1600" dirty="0"/>
          </a:p>
        </p:txBody>
      </p:sp>
      <p:sp>
        <p:nvSpPr>
          <p:cNvPr id="18" name="card-208"/>
          <p:cNvSpPr/>
          <p:nvPr/>
        </p:nvSpPr>
        <p:spPr>
          <a:xfrm>
            <a:off x="548640" y="5623560"/>
            <a:ext cx="11091672" cy="548640"/>
          </a:xfrm>
          <a:prstGeom prst="roundRect">
            <a:avLst>
              <a:gd name="adj" fmla="val 16667"/>
            </a:avLst>
          </a:prstGeom>
          <a:solidFill>
            <a:schemeClr val="accent1">
              <a:alpha val="12000"/>
            </a:schemeClr>
          </a:solidFill>
          <a:ln/>
        </p:spPr>
      </p:sp>
      <p:sp>
        <p:nvSpPr>
          <p:cNvPr id="19" name="text-209"/>
          <p:cNvSpPr txBox="1"/>
          <p:nvPr/>
        </p:nvSpPr>
        <p:spPr>
          <a:xfrm>
            <a:off x="548640" y="5623560"/>
            <a:ext cx="11091672" cy="548640"/>
          </a:xfrm>
          <a:prstGeom prst="rect">
            <a:avLst/>
          </a:prstGeom>
          <a:noFill/>
          <a:ln/>
        </p:spPr>
        <p:txBody>
          <a:bodyPr wrap="square" lIns="0" tIns="0" rIns="0" bIns="0" rtlCol="0" anchor="ctr"/>
          <a:lstStyle/>
          <a:p>
            <a:pPr algn="ctr" indent="0" marL="0">
              <a:buNone/>
            </a:pPr>
            <a:r>
              <a:rPr lang="en-US" sz="1600" b="1" dirty="0">
                <a:solidFill>
                  <a:schemeClr val="tx2"/>
                </a:solidFill>
              </a:rPr>
              <a:t>Keep match if  d1 &lt; 0.75 x d2     |     forbidden pair if distance &lt; 50 px</a:t>
            </a:r>
            <a:endParaRPr lang="en-US" sz="16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RANSAC, Decision and Mask</a:t>
            </a:r>
            <a:endParaRPr lang="en-US" sz="3600" dirty="0"/>
          </a:p>
        </p:txBody>
      </p:sp>
      <p:sp>
        <p:nvSpPr>
          <p:cNvPr id="3" name="card-210"/>
          <p:cNvSpPr/>
          <p:nvPr/>
        </p:nvSpPr>
        <p:spPr>
          <a:xfrm>
            <a:off x="548640" y="1463040"/>
            <a:ext cx="5852160" cy="4663440"/>
          </a:xfrm>
          <a:prstGeom prst="roundRect">
            <a:avLst>
              <a:gd name="adj" fmla="val 1961"/>
            </a:avLst>
          </a:prstGeom>
          <a:solidFill>
            <a:schemeClr val="bg2"/>
          </a:solidFill>
          <a:ln/>
        </p:spPr>
      </p:sp>
      <p:sp>
        <p:nvSpPr>
          <p:cNvPr id="4" name="icon-bg-211"/>
          <p:cNvSpPr/>
          <p:nvPr/>
        </p:nvSpPr>
        <p:spPr>
          <a:xfrm>
            <a:off x="822960" y="1691640"/>
            <a:ext cx="594360" cy="594360"/>
          </a:xfrm>
          <a:prstGeom prst="ellipse">
            <a:avLst/>
          </a:prstGeom>
          <a:solidFill>
            <a:schemeClr val="accent1"/>
          </a:solidFill>
          <a:ln/>
        </p:spPr>
      </p:sp>
      <p:pic>
        <p:nvPicPr>
          <p:cNvPr id="5" name="icon-212" descr="ProjectDiagram icon">    </p:cNvPr>
          <p:cNvPicPr>
            <a:picLocks noChangeAspect="1"/>
          </p:cNvPicPr>
          <p:nvPr/>
        </p:nvPicPr>
        <p:blipFill>
          <a:blip r:embed="rId1"/>
          <a:stretch>
            <a:fillRect/>
          </a:stretch>
        </p:blipFill>
        <p:spPr>
          <a:xfrm>
            <a:off x="983437" y="1852117"/>
            <a:ext cx="273406" cy="273406"/>
          </a:xfrm>
          <a:prstGeom prst="rect">
            <a:avLst/>
          </a:prstGeom>
        </p:spPr>
      </p:pic>
      <p:sp>
        <p:nvSpPr>
          <p:cNvPr id="6" name="text-213"/>
          <p:cNvSpPr txBox="1"/>
          <p:nvPr/>
        </p:nvSpPr>
        <p:spPr>
          <a:xfrm>
            <a:off x="1600200" y="1691640"/>
            <a:ext cx="4572000" cy="594360"/>
          </a:xfrm>
          <a:prstGeom prst="rect">
            <a:avLst/>
          </a:prstGeom>
          <a:noFill/>
          <a:ln/>
        </p:spPr>
        <p:txBody>
          <a:bodyPr wrap="square" lIns="0" tIns="0" rIns="0" bIns="0" rtlCol="0" anchor="ctr"/>
          <a:lstStyle/>
          <a:p>
            <a:pPr indent="0" marL="0">
              <a:buNone/>
            </a:pPr>
            <a:r>
              <a:rPr lang="en-US" sz="2000" b="1" dirty="0">
                <a:solidFill>
                  <a:schemeClr val="tx1"/>
                </a:solidFill>
              </a:rPr>
              <a:t>RANSAC similarity transform</a:t>
            </a:r>
            <a:endParaRPr lang="en-US" sz="2000" dirty="0"/>
          </a:p>
        </p:txBody>
      </p:sp>
      <p:sp>
        <p:nvSpPr>
          <p:cNvPr id="7" name="eq-bg-214"/>
          <p:cNvSpPr/>
          <p:nvPr/>
        </p:nvSpPr>
        <p:spPr>
          <a:xfrm>
            <a:off x="822960" y="2514600"/>
            <a:ext cx="5303520" cy="868680"/>
          </a:xfrm>
          <a:prstGeom prst="roundRect">
            <a:avLst>
              <a:gd name="adj" fmla="val 8421"/>
            </a:avLst>
          </a:prstGeom>
          <a:solidFill>
            <a:schemeClr val="bg1"/>
          </a:solidFill>
          <a:ln/>
        </p:spPr>
      </p:sp>
      <p:sp>
        <p:nvSpPr>
          <p:cNvPr id="8" name="equation-215"/>
          <p:cNvSpPr txBox="1"/>
          <p:nvPr/>
        </p:nvSpPr>
        <p:spPr>
          <a:xfrm>
            <a:off x="822960" y="2514600"/>
            <a:ext cx="5303520" cy="868680"/>
          </a:xfrm>
          <a:prstGeom prst="rect">
            <a:avLst/>
          </a:prstGeom>
          <a:noFill/>
          <a:ln/>
        </p:spPr>
        <p:txBody>
          <a:bodyPr wrap="square" lIns="0" tIns="0" rIns="0" bIns="0" rtlCol="0" anchor="ctr"/>
          <a:lstStyle/>
          <a:p>
            <a:pPr algn="ctr" indent="0" marL="0">
              <a:buNone/>
            </a:pPr>
            <a:r>
              <a:rPr lang="en-US" sz="2800" i="1" dirty="0">
                <a:solidFill>
                  <a:schemeClr val="tx2"/>
                </a:solidFill>
                <a:latin typeface="Cambria" pitchFamily="34" charset="0"/>
                <a:ea typeface="Cambria" pitchFamily="34" charset="-122"/>
                <a:cs typeface="Cambria" pitchFamily="34" charset="-120"/>
              </a:rPr>
              <a:t>q = s · R(θ) · p + t</a:t>
            </a:r>
            <a:endParaRPr lang="en-US" sz="2800" dirty="0"/>
          </a:p>
        </p:txBody>
      </p:sp>
      <p:sp>
        <p:nvSpPr>
          <p:cNvPr id="9" name="text-216"/>
          <p:cNvSpPr txBox="1"/>
          <p:nvPr/>
        </p:nvSpPr>
        <p:spPr>
          <a:xfrm>
            <a:off x="822960" y="3611880"/>
            <a:ext cx="5303520" cy="2468880"/>
          </a:xfrm>
          <a:prstGeom prst="rect">
            <a:avLst/>
          </a:prstGeom>
          <a:noFill/>
          <a:ln/>
        </p:spPr>
        <p:txBody>
          <a:bodyPr wrap="square" lIns="0" tIns="0" rIns="0" bIns="0" rtlCol="0" anchor="t"/>
          <a:lstStyle/>
          <a:p>
            <a:pPr marL="203200" indent="-203200">
              <a:spcAft>
                <a:spcPts val="1100"/>
              </a:spcAft>
              <a:buSzPct val="100000"/>
              <a:buChar char="•"/>
            </a:pPr>
            <a:r>
              <a:rPr lang="en-US" sz="1700" b="1" dirty="0">
                <a:solidFill>
                  <a:schemeClr val="tx1"/>
                </a:solidFill>
              </a:rPr>
              <a:t>4 parameters: </a:t>
            </a:r>
            <a:pPr indent="0" marL="0">
              <a:spcAft>
                <a:spcPts val="1100"/>
              </a:spcAft>
              <a:buNone/>
            </a:pPr>
            <a:r>
              <a:rPr lang="en-US" sz="1700" dirty="0">
                <a:solidFill>
                  <a:schemeClr val="tx1"/>
                </a:solidFill>
              </a:rPr>
              <a:t>scale, rotation, shift x, shift y.</a:t>
            </a:r>
            <a:endParaRPr lang="en-US" sz="1700" dirty="0"/>
          </a:p>
          <a:p>
            <a:pPr marL="203200" indent="-203200">
              <a:spcAft>
                <a:spcPts val="1100"/>
              </a:spcAft>
              <a:buSzPct val="100000"/>
              <a:buChar char="•"/>
            </a:pPr>
            <a:r>
              <a:rPr lang="en-US" sz="1700" b="1" dirty="0">
                <a:solidFill>
                  <a:schemeClr val="tx1"/>
                </a:solidFill>
              </a:rPr>
              <a:t>Inlier: </a:t>
            </a:r>
            <a:pPr indent="0" marL="0">
              <a:spcAft>
                <a:spcPts val="1100"/>
              </a:spcAft>
              <a:buNone/>
            </a:pPr>
            <a:r>
              <a:rPr lang="en-US" sz="1700" dirty="0">
                <a:solidFill>
                  <a:schemeClr val="tx1"/>
                </a:solidFill>
              </a:rPr>
              <a:t>transformed point lands within 5 px of its match.</a:t>
            </a:r>
            <a:endParaRPr lang="en-US" sz="1700" dirty="0"/>
          </a:p>
          <a:p>
            <a:pPr marL="203200" indent="-203200">
              <a:spcAft>
                <a:spcPts val="1100"/>
              </a:spcAft>
              <a:buSzPct val="100000"/>
              <a:buChar char="•"/>
            </a:pPr>
            <a:r>
              <a:rPr lang="en-US" sz="1700" b="1" dirty="0">
                <a:solidFill>
                  <a:schemeClr val="tx1"/>
                </a:solidFill>
              </a:rPr>
              <a:t>Search: </a:t>
            </a:r>
            <a:pPr indent="0" marL="0">
              <a:spcAft>
                <a:spcPts val="1100"/>
              </a:spcAft>
              <a:buNone/>
            </a:pPr>
            <a:r>
              <a:rPr lang="en-US" sz="1700" dirty="0">
                <a:solidFill>
                  <a:schemeClr val="tx1"/>
                </a:solidFill>
              </a:rPr>
              <a:t>3000 iterations, confidence 0.99, 10 refinements.</a:t>
            </a:r>
            <a:endParaRPr lang="en-US" sz="1700" dirty="0"/>
          </a:p>
          <a:p>
            <a:pPr marL="203200" indent="-203200">
              <a:spcAft>
                <a:spcPts val="1100"/>
              </a:spcAft>
              <a:buSzPct val="100000"/>
              <a:buChar char="•"/>
            </a:pPr>
            <a:r>
              <a:rPr lang="en-US" sz="1700" b="1" dirty="0">
                <a:solidFill>
                  <a:schemeClr val="tx1"/>
                </a:solidFill>
              </a:rPr>
              <a:t>Result: </a:t>
            </a:r>
            <a:pPr indent="0" marL="0">
              <a:spcAft>
                <a:spcPts val="1100"/>
              </a:spcAft>
              <a:buNone/>
            </a:pPr>
            <a:r>
              <a:rPr lang="en-US" sz="1700" dirty="0">
                <a:solidFill>
                  <a:schemeClr val="tx1"/>
                </a:solidFill>
              </a:rPr>
              <a:t>the app shows scale, angle and shift.</a:t>
            </a:r>
            <a:endParaRPr lang="en-US" sz="1700" dirty="0"/>
          </a:p>
        </p:txBody>
      </p:sp>
      <p:sp>
        <p:nvSpPr>
          <p:cNvPr id="10" name="card-217"/>
          <p:cNvSpPr/>
          <p:nvPr/>
        </p:nvSpPr>
        <p:spPr>
          <a:xfrm>
            <a:off x="6675120" y="1463040"/>
            <a:ext cx="4965192" cy="2103120"/>
          </a:xfrm>
          <a:prstGeom prst="roundRect">
            <a:avLst>
              <a:gd name="adj" fmla="val 4348"/>
            </a:avLst>
          </a:prstGeom>
          <a:solidFill>
            <a:schemeClr val="bg2"/>
          </a:solidFill>
          <a:ln/>
        </p:spPr>
      </p:sp>
      <p:sp>
        <p:nvSpPr>
          <p:cNvPr id="11" name="text-218"/>
          <p:cNvSpPr txBox="1"/>
          <p:nvPr/>
        </p:nvSpPr>
        <p:spPr>
          <a:xfrm>
            <a:off x="6949440" y="1645920"/>
            <a:ext cx="4389120" cy="365760"/>
          </a:xfrm>
          <a:prstGeom prst="rect">
            <a:avLst/>
          </a:prstGeom>
          <a:noFill/>
          <a:ln/>
        </p:spPr>
        <p:txBody>
          <a:bodyPr wrap="square" lIns="0" tIns="0" rIns="0" bIns="0" rtlCol="0" anchor="t"/>
          <a:lstStyle/>
          <a:p>
            <a:pPr indent="0" marL="0">
              <a:buNone/>
            </a:pPr>
            <a:r>
              <a:rPr lang="en-US" sz="2000" b="1" dirty="0">
                <a:solidFill>
                  <a:schemeClr val="tx1"/>
                </a:solidFill>
              </a:rPr>
              <a:t>Decision rule</a:t>
            </a:r>
            <a:endParaRPr lang="en-US" sz="2000" dirty="0"/>
          </a:p>
        </p:txBody>
      </p:sp>
      <p:sp>
        <p:nvSpPr>
          <p:cNvPr id="12" name="text-219"/>
          <p:cNvSpPr txBox="1"/>
          <p:nvPr/>
        </p:nvSpPr>
        <p:spPr>
          <a:xfrm>
            <a:off x="6949440" y="2103120"/>
            <a:ext cx="4389120" cy="685800"/>
          </a:xfrm>
          <a:prstGeom prst="rect">
            <a:avLst/>
          </a:prstGeom>
          <a:noFill/>
          <a:ln/>
        </p:spPr>
        <p:txBody>
          <a:bodyPr wrap="square" lIns="0" tIns="0" rIns="0" bIns="0" rtlCol="0" anchor="t"/>
          <a:lstStyle/>
          <a:p>
            <a:pPr indent="0" marL="0">
              <a:buNone/>
            </a:pPr>
            <a:r>
              <a:rPr lang="en-US" sz="3600" b="1" dirty="0">
                <a:solidFill>
                  <a:schemeClr val="accent2"/>
                </a:solidFill>
                <a:latin typeface="Cambria" pitchFamily="34" charset="0"/>
                <a:ea typeface="Cambria" pitchFamily="34" charset="-122"/>
                <a:cs typeface="Cambria" pitchFamily="34" charset="-120"/>
              </a:rPr>
              <a:t>inliers ≥ 8</a:t>
            </a:r>
            <a:endParaRPr lang="en-US" sz="3600" dirty="0"/>
          </a:p>
        </p:txBody>
      </p:sp>
      <p:sp>
        <p:nvSpPr>
          <p:cNvPr id="13" name="text-220"/>
          <p:cNvSpPr txBox="1"/>
          <p:nvPr/>
        </p:nvSpPr>
        <p:spPr>
          <a:xfrm>
            <a:off x="6949440" y="2834640"/>
            <a:ext cx="4389120" cy="594360"/>
          </a:xfrm>
          <a:prstGeom prst="rect">
            <a:avLst/>
          </a:prstGeom>
          <a:noFill/>
          <a:ln/>
        </p:spPr>
        <p:txBody>
          <a:bodyPr wrap="square" lIns="0" tIns="0" rIns="0" bIns="0" rtlCol="0" anchor="t"/>
          <a:lstStyle/>
          <a:p>
            <a:pPr indent="0" marL="0">
              <a:buNone/>
            </a:pPr>
            <a:r>
              <a:rPr lang="en-US" sz="1400" dirty="0">
                <a:solidFill>
                  <a:schemeClr val="accent4"/>
                </a:solidFill>
              </a:rPr>
              <a:t>Suspected forgery. The inlier count acts as confidence.</a:t>
            </a:r>
            <a:endParaRPr lang="en-US" sz="1400" dirty="0"/>
          </a:p>
        </p:txBody>
      </p:sp>
      <p:sp>
        <p:nvSpPr>
          <p:cNvPr id="14" name="card-221"/>
          <p:cNvSpPr/>
          <p:nvPr/>
        </p:nvSpPr>
        <p:spPr>
          <a:xfrm>
            <a:off x="6675120" y="3749040"/>
            <a:ext cx="4965192" cy="2377440"/>
          </a:xfrm>
          <a:prstGeom prst="roundRect">
            <a:avLst>
              <a:gd name="adj" fmla="val 3846"/>
            </a:avLst>
          </a:prstGeom>
          <a:solidFill>
            <a:schemeClr val="bg2"/>
          </a:solidFill>
          <a:ln/>
        </p:spPr>
      </p:sp>
      <p:sp>
        <p:nvSpPr>
          <p:cNvPr id="15" name="text-222"/>
          <p:cNvSpPr txBox="1"/>
          <p:nvPr/>
        </p:nvSpPr>
        <p:spPr>
          <a:xfrm>
            <a:off x="6949440" y="3931920"/>
            <a:ext cx="4389120" cy="365760"/>
          </a:xfrm>
          <a:prstGeom prst="rect">
            <a:avLst/>
          </a:prstGeom>
          <a:noFill/>
          <a:ln/>
        </p:spPr>
        <p:txBody>
          <a:bodyPr wrap="square" lIns="0" tIns="0" rIns="0" bIns="0" rtlCol="0" anchor="t"/>
          <a:lstStyle/>
          <a:p>
            <a:pPr indent="0" marL="0">
              <a:buNone/>
            </a:pPr>
            <a:r>
              <a:rPr lang="en-US" sz="2000" b="1" dirty="0">
                <a:solidFill>
                  <a:schemeClr val="tx1"/>
                </a:solidFill>
              </a:rPr>
              <a:t>Mask and overlay</a:t>
            </a:r>
            <a:endParaRPr lang="en-US" sz="2000" dirty="0"/>
          </a:p>
        </p:txBody>
      </p:sp>
      <p:sp>
        <p:nvSpPr>
          <p:cNvPr id="16" name="num-bg-223"/>
          <p:cNvSpPr/>
          <p:nvPr/>
        </p:nvSpPr>
        <p:spPr>
          <a:xfrm>
            <a:off x="6949440" y="4480560"/>
            <a:ext cx="365760" cy="365760"/>
          </a:xfrm>
          <a:prstGeom prst="ellipse">
            <a:avLst/>
          </a:prstGeom>
          <a:solidFill>
            <a:schemeClr val="accent1"/>
          </a:solidFill>
          <a:ln/>
        </p:spPr>
      </p:sp>
      <p:sp>
        <p:nvSpPr>
          <p:cNvPr id="17" name="text-224"/>
          <p:cNvSpPr txBox="1"/>
          <p:nvPr/>
        </p:nvSpPr>
        <p:spPr>
          <a:xfrm>
            <a:off x="6949440" y="4480560"/>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1</a:t>
            </a:r>
            <a:endParaRPr lang="en-US" sz="1300" dirty="0"/>
          </a:p>
        </p:txBody>
      </p:sp>
      <p:sp>
        <p:nvSpPr>
          <p:cNvPr id="18" name="text-225"/>
          <p:cNvSpPr txBox="1"/>
          <p:nvPr/>
        </p:nvSpPr>
        <p:spPr>
          <a:xfrm>
            <a:off x="7452360" y="4480560"/>
            <a:ext cx="4023360" cy="365760"/>
          </a:xfrm>
          <a:prstGeom prst="rect">
            <a:avLst/>
          </a:prstGeom>
          <a:noFill/>
          <a:ln/>
        </p:spPr>
        <p:txBody>
          <a:bodyPr wrap="square" lIns="0" tIns="0" rIns="0" bIns="0" rtlCol="0" anchor="ctr"/>
          <a:lstStyle/>
          <a:p>
            <a:pPr indent="0" marL="0">
              <a:buNone/>
            </a:pPr>
            <a:r>
              <a:rPr lang="en-US" sz="1400" dirty="0">
                <a:solidFill>
                  <a:schemeClr val="tx1"/>
                </a:solidFill>
              </a:rPr>
              <a:t>Fill convex hulls of source and destination inliers</a:t>
            </a:r>
            <a:endParaRPr lang="en-US" sz="1400" dirty="0"/>
          </a:p>
        </p:txBody>
      </p:sp>
      <p:sp>
        <p:nvSpPr>
          <p:cNvPr id="19" name="num-bg-226"/>
          <p:cNvSpPr/>
          <p:nvPr/>
        </p:nvSpPr>
        <p:spPr>
          <a:xfrm>
            <a:off x="6949440" y="5010912"/>
            <a:ext cx="365760" cy="365760"/>
          </a:xfrm>
          <a:prstGeom prst="ellipse">
            <a:avLst/>
          </a:prstGeom>
          <a:solidFill>
            <a:schemeClr val="accent1"/>
          </a:solidFill>
          <a:ln/>
        </p:spPr>
      </p:sp>
      <p:sp>
        <p:nvSpPr>
          <p:cNvPr id="20" name="text-227"/>
          <p:cNvSpPr txBox="1"/>
          <p:nvPr/>
        </p:nvSpPr>
        <p:spPr>
          <a:xfrm>
            <a:off x="6949440" y="5010912"/>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2</a:t>
            </a:r>
            <a:endParaRPr lang="en-US" sz="1300" dirty="0"/>
          </a:p>
        </p:txBody>
      </p:sp>
      <p:sp>
        <p:nvSpPr>
          <p:cNvPr id="21" name="text-228"/>
          <p:cNvSpPr txBox="1"/>
          <p:nvPr/>
        </p:nvSpPr>
        <p:spPr>
          <a:xfrm>
            <a:off x="7452360" y="5010912"/>
            <a:ext cx="4023360" cy="365760"/>
          </a:xfrm>
          <a:prstGeom prst="rect">
            <a:avLst/>
          </a:prstGeom>
          <a:noFill/>
          <a:ln/>
        </p:spPr>
        <p:txBody>
          <a:bodyPr wrap="square" lIns="0" tIns="0" rIns="0" bIns="0" rtlCol="0" anchor="ctr"/>
          <a:lstStyle/>
          <a:p>
            <a:pPr indent="0" marL="0">
              <a:buNone/>
            </a:pPr>
            <a:r>
              <a:rPr lang="en-US" sz="1400" dirty="0">
                <a:solidFill>
                  <a:schemeClr val="tx1"/>
                </a:solidFill>
              </a:rPr>
              <a:t>Dilate with a 17 px ellipse</a:t>
            </a:r>
            <a:endParaRPr lang="en-US" sz="1400" dirty="0"/>
          </a:p>
        </p:txBody>
      </p:sp>
      <p:sp>
        <p:nvSpPr>
          <p:cNvPr id="22" name="num-bg-229"/>
          <p:cNvSpPr/>
          <p:nvPr/>
        </p:nvSpPr>
        <p:spPr>
          <a:xfrm>
            <a:off x="6949440" y="5541264"/>
            <a:ext cx="365760" cy="365760"/>
          </a:xfrm>
          <a:prstGeom prst="ellipse">
            <a:avLst/>
          </a:prstGeom>
          <a:solidFill>
            <a:schemeClr val="accent1"/>
          </a:solidFill>
          <a:ln/>
        </p:spPr>
      </p:sp>
      <p:sp>
        <p:nvSpPr>
          <p:cNvPr id="23" name="text-230"/>
          <p:cNvSpPr txBox="1"/>
          <p:nvPr/>
        </p:nvSpPr>
        <p:spPr>
          <a:xfrm>
            <a:off x="6949440" y="5541264"/>
            <a:ext cx="365760" cy="365760"/>
          </a:xfrm>
          <a:prstGeom prst="rect">
            <a:avLst/>
          </a:prstGeom>
          <a:noFill/>
          <a:ln/>
        </p:spPr>
        <p:txBody>
          <a:bodyPr wrap="square" lIns="0" tIns="0" rIns="0" bIns="0" rtlCol="0" anchor="ctr"/>
          <a:lstStyle/>
          <a:p>
            <a:pPr algn="ctr" indent="0" marL="0">
              <a:buNone/>
            </a:pPr>
            <a:r>
              <a:rPr lang="en-US" sz="1300" b="1" dirty="0">
                <a:solidFill>
                  <a:schemeClr val="bg1"/>
                </a:solidFill>
              </a:rPr>
              <a:t>3</a:t>
            </a:r>
            <a:endParaRPr lang="en-US" sz="1300" dirty="0"/>
          </a:p>
        </p:txBody>
      </p:sp>
      <p:sp>
        <p:nvSpPr>
          <p:cNvPr id="24" name="text-231"/>
          <p:cNvSpPr txBox="1"/>
          <p:nvPr/>
        </p:nvSpPr>
        <p:spPr>
          <a:xfrm>
            <a:off x="7452360" y="5541264"/>
            <a:ext cx="4023360" cy="365760"/>
          </a:xfrm>
          <a:prstGeom prst="rect">
            <a:avLst/>
          </a:prstGeom>
          <a:noFill/>
          <a:ln/>
        </p:spPr>
        <p:txBody>
          <a:bodyPr wrap="square" lIns="0" tIns="0" rIns="0" bIns="0" rtlCol="0" anchor="ctr"/>
          <a:lstStyle/>
          <a:p>
            <a:pPr indent="0" marL="0">
              <a:buNone/>
            </a:pPr>
            <a:r>
              <a:rPr lang="en-US" sz="1400" dirty="0">
                <a:solidFill>
                  <a:schemeClr val="tx1"/>
                </a:solidFill>
              </a:rPr>
              <a:t>Tint red (42%) and draw boxes</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Detector Parameters</a:t>
            </a:r>
            <a:endParaRPr lang="en-US" sz="3600" dirty="0"/>
          </a:p>
        </p:txBody>
      </p:sp>
      <p:graphicFrame>
        <p:nvGraphicFramePr>
          <p:cNvPr id="12" name="param-table"/>
          <p:cNvGraphicFramePr>
            <a:graphicFrameLocks noGrp="1"/>
          </p:cNvGraphicFramePr>
          <p:nvPr>
            <p:extLst>
              <p:ext uri="{D42A27DB-BD31-4B8C-83A1-F6EECF244321}">
                <p14:modId xmlns:p14="http://schemas.microsoft.com/office/powerpoint/2010/main" val="1579011935"/>
              </p:ext>
            </p:extLst>
          </p:nvPr>
        </p:nvGraphicFramePr>
        <p:xfrm>
          <a:off x="548640" y="1508760"/>
          <a:ext cx="11091672" cy="914400"/>
        </p:xfrm>
        <a:graphic>
          <a:graphicData uri="http://schemas.openxmlformats.org/drawingml/2006/table">
            <a:tbl>
              <a:tblPr/>
              <a:tblGrid>
                <a:gridCol w="2286000"/>
                <a:gridCol w="1188720"/>
                <a:gridCol w="3566160"/>
                <a:gridCol w="4050792"/>
              </a:tblGrid>
              <a:tr h="585216">
                <a:tc>
                  <a:txBody>
                    <a:bodyPr/>
                    <a:lstStyle/>
                    <a:p>
                      <a:pPr indent="0" marL="0">
                        <a:buNone/>
                      </a:pPr>
                      <a:r>
                        <a:rPr lang="en-US" sz="1400" b="1" dirty="0">
                          <a:solidFill>
                            <a:srgbClr val="FFFFFF"/>
                          </a:solidFill>
                          <a:latin typeface="+mn-lt" pitchFamily="34" charset="0"/>
                          <a:ea typeface="+mn-lt" pitchFamily="34" charset="-122"/>
                          <a:cs typeface="+mn-lt" pitchFamily="34" charset="-120"/>
                        </a:rPr>
                        <a:t>Parameter</a:t>
                      </a:r>
                      <a:endParaRPr lang="en-US" sz="1400" dirty="0">
                        <a:latin typeface="+mn-lt" charset="0"/>
                        <a:ea typeface="+mn-lt" charset="0"/>
                        <a:cs typeface="+mn-lt" charset="0"/>
                      </a:endParaRPr>
                    </a:p>
                  </a:txBody>
                  <a:tcPr marL="91440" marR="91440" marT="45720" marB="45720" anchor="ctr">
                    <a:lnL w="6350" cap="flat" cmpd="sng" algn="ctr">
                      <a:solidFill>
                        <a:srgbClr val="D7DCE5"/>
                      </a:solidFill>
                      <a:prstDash val="solid"/>
                      <a:round/>
                      <a:headEnd type="none" w="med" len="med"/>
                      <a:tailEnd type="none" w="med" len="med"/>
                    </a:lnL>
                    <a:lnR w="6350" cap="flat" cmpd="sng" algn="ctr">
                      <a:solidFill>
                        <a:srgbClr val="D7DCE5"/>
                      </a:solidFill>
                      <a:prstDash val="solid"/>
                      <a:round/>
                      <a:headEnd type="none" w="med" len="med"/>
                      <a:tailEnd type="none" w="med" len="med"/>
                    </a:lnR>
                    <a:lnT w="6350" cap="flat" cmpd="sng" algn="ctr">
                      <a:solidFill>
                        <a:srgbClr val="D7DCE5"/>
                      </a:solidFill>
                      <a:prstDash val="solid"/>
                      <a:round/>
                      <a:headEnd type="none" w="med" len="med"/>
                      <a:tailEnd type="none" w="med" len="med"/>
                    </a:lnT>
                    <a:lnB w="6350" cap="flat" cmpd="sng" algn="ctr">
                      <a:solidFill>
                        <a:srgbClr val="D7DCE5"/>
                      </a:solidFill>
                      <a:prstDash val="solid"/>
                      <a:round/>
                      <a:headEnd type="none" w="med" len="med"/>
                      <a:tailEnd type="none" w="med" len="med"/>
                    </a:lnB>
                    <a:solidFill>
                      <a:srgbClr val="0F766E"/>
                    </a:solidFill>
                  </a:tcPr>
                </a:tc>
                <a:tc>
                  <a:txBody>
                    <a:bodyPr/>
                    <a:lstStyle/>
                    <a:p>
                      <a:pPr indent="0" marL="0">
                        <a:buNone/>
                      </a:pPr>
                      <a:r>
                        <a:rPr lang="en-US" sz="1400" b="1" dirty="0">
                          <a:solidFill>
                            <a:srgbClr val="FFFFFF"/>
                          </a:solidFill>
                          <a:latin typeface="+mn-lt" pitchFamily="34" charset="0"/>
                          <a:ea typeface="+mn-lt" pitchFamily="34" charset="-122"/>
                          <a:cs typeface="+mn-lt" pitchFamily="34" charset="-120"/>
                        </a:rPr>
                        <a:t>Default</a:t>
                      </a:r>
                      <a:endParaRPr lang="en-US" sz="1400" dirty="0">
                        <a:latin typeface="+mn-lt" charset="0"/>
                        <a:ea typeface="+mn-lt" charset="0"/>
                        <a:cs typeface="+mn-lt" charset="0"/>
                      </a:endParaRPr>
                    </a:p>
                  </a:txBody>
                  <a:tcPr marL="91440" marR="91440" marT="45720" marB="45720" anchor="ctr">
                    <a:lnL w="6350" cap="flat" cmpd="sng" algn="ctr">
                      <a:solidFill>
                        <a:srgbClr val="D7DCE5"/>
                      </a:solidFill>
                      <a:prstDash val="solid"/>
                      <a:round/>
                      <a:headEnd type="none" w="med" len="med"/>
                      <a:tailEnd type="none" w="med" len="med"/>
                    </a:lnL>
                    <a:lnR w="6350" cap="flat" cmpd="sng" algn="ctr">
                      <a:solidFill>
                        <a:srgbClr val="D7DCE5"/>
                      </a:solidFill>
                      <a:prstDash val="solid"/>
                      <a:round/>
                      <a:headEnd type="none" w="med" len="med"/>
                      <a:tailEnd type="none" w="med" len="med"/>
                    </a:lnR>
                    <a:lnT w="6350" cap="flat" cmpd="sng" algn="ctr">
                      <a:solidFill>
                        <a:srgbClr val="D7DCE5"/>
                      </a:solidFill>
                      <a:prstDash val="solid"/>
                      <a:round/>
                      <a:headEnd type="none" w="med" len="med"/>
                      <a:tailEnd type="none" w="med" len="med"/>
                    </a:lnT>
                    <a:lnB w="6350" cap="flat" cmpd="sng" algn="ctr">
                      <a:solidFill>
                        <a:srgbClr val="D7DCE5"/>
                      </a:solidFill>
                      <a:prstDash val="solid"/>
                      <a:round/>
                      <a:headEnd type="none" w="med" len="med"/>
                      <a:tailEnd type="none" w="med" len="med"/>
                    </a:lnB>
                    <a:solidFill>
                      <a:srgbClr val="0F766E"/>
                    </a:solidFill>
                  </a:tcPr>
                </a:tc>
                <a:tc>
                  <a:txBody>
                    <a:bodyPr/>
                    <a:lstStyle/>
                    <a:p>
                      <a:pPr indent="0" marL="0">
                        <a:buNone/>
                      </a:pPr>
                      <a:r>
                        <a:rPr lang="en-US" sz="1400" b="1" dirty="0">
                          <a:solidFill>
                            <a:srgbClr val="FFFFFF"/>
                          </a:solidFill>
                          <a:latin typeface="+mn-lt" pitchFamily="34" charset="0"/>
                          <a:ea typeface="+mn-lt" pitchFamily="34" charset="-122"/>
                          <a:cs typeface="+mn-lt" pitchFamily="34" charset="-120"/>
                        </a:rPr>
                        <a:t>Controls</a:t>
                      </a:r>
                      <a:endParaRPr lang="en-US" sz="1400" dirty="0">
                        <a:latin typeface="+mn-lt" charset="0"/>
                        <a:ea typeface="+mn-lt" charset="0"/>
                        <a:cs typeface="+mn-lt" charset="0"/>
                      </a:endParaRPr>
                    </a:p>
                  </a:txBody>
                  <a:tcPr marL="91440" marR="91440" marT="45720" marB="45720" anchor="ctr">
                    <a:lnL w="6350" cap="flat" cmpd="sng" algn="ctr">
                      <a:solidFill>
                        <a:srgbClr val="D7DCE5"/>
                      </a:solidFill>
                      <a:prstDash val="solid"/>
                      <a:round/>
                      <a:headEnd type="none" w="med" len="med"/>
                      <a:tailEnd type="none" w="med" len="med"/>
                    </a:lnL>
                    <a:lnR w="6350" cap="flat" cmpd="sng" algn="ctr">
                      <a:solidFill>
                        <a:srgbClr val="D7DCE5"/>
                      </a:solidFill>
                      <a:prstDash val="solid"/>
                      <a:round/>
                      <a:headEnd type="none" w="med" len="med"/>
                      <a:tailEnd type="none" w="med" len="med"/>
                    </a:lnR>
                    <a:lnT w="6350" cap="flat" cmpd="sng" algn="ctr">
                      <a:solidFill>
                        <a:srgbClr val="D7DCE5"/>
                      </a:solidFill>
                      <a:prstDash val="solid"/>
                      <a:round/>
                      <a:headEnd type="none" w="med" len="med"/>
                      <a:tailEnd type="none" w="med" len="med"/>
                    </a:lnT>
                    <a:lnB w="6350" cap="flat" cmpd="sng" algn="ctr">
                      <a:solidFill>
                        <a:srgbClr val="D7DCE5"/>
                      </a:solidFill>
                      <a:prstDash val="solid"/>
                      <a:round/>
                      <a:headEnd type="none" w="med" len="med"/>
                      <a:tailEnd type="none" w="med" len="med"/>
                    </a:lnB>
                    <a:solidFill>
                      <a:srgbClr val="0F766E"/>
                    </a:solidFill>
                  </a:tcPr>
                </a:tc>
                <a:tc>
                  <a:txBody>
                    <a:bodyPr/>
                    <a:lstStyle/>
                    <a:p>
                      <a:pPr indent="0" marL="0">
                        <a:buNone/>
                      </a:pPr>
                      <a:r>
                        <a:rPr lang="en-US" sz="1400" b="1" dirty="0">
                          <a:solidFill>
                            <a:srgbClr val="FFFFFF"/>
                          </a:solidFill>
                          <a:latin typeface="+mn-lt" pitchFamily="34" charset="0"/>
                          <a:ea typeface="+mn-lt" pitchFamily="34" charset="-122"/>
                          <a:cs typeface="+mn-lt" pitchFamily="34" charset="-120"/>
                        </a:rPr>
                        <a:t>Raising it usually</a:t>
                      </a:r>
                      <a:endParaRPr lang="en-US" sz="1400" dirty="0">
                        <a:latin typeface="+mn-lt" charset="0"/>
                        <a:ea typeface="+mn-lt" charset="0"/>
                        <a:cs typeface="+mn-lt" charset="0"/>
                      </a:endParaRPr>
                    </a:p>
                  </a:txBody>
                  <a:tcPr marL="91440" marR="91440" marT="45720" marB="45720" anchor="ctr">
                    <a:lnL w="6350" cap="flat" cmpd="sng" algn="ctr">
                      <a:solidFill>
                        <a:srgbClr val="D7DCE5"/>
                      </a:solidFill>
                      <a:prstDash val="solid"/>
                      <a:round/>
                      <a:headEnd type="none" w="med" len="med"/>
                      <a:tailEnd type="none" w="med" len="med"/>
                    </a:lnL>
                    <a:lnR w="6350" cap="flat" cmpd="sng" algn="ctr">
                      <a:solidFill>
                        <a:srgbClr val="D7DCE5"/>
                      </a:solidFill>
                      <a:prstDash val="solid"/>
                      <a:round/>
                      <a:headEnd type="none" w="med" len="med"/>
                      <a:tailEnd type="none" w="med" len="med"/>
                    </a:lnR>
                    <a:lnT w="6350" cap="flat" cmpd="sng" algn="ctr">
                      <a:solidFill>
                        <a:srgbClr val="D7DCE5"/>
                      </a:solidFill>
                      <a:prstDash val="solid"/>
                      <a:round/>
                      <a:headEnd type="none" w="med" len="med"/>
                      <a:tailEnd type="none" w="med" len="med"/>
                    </a:lnT>
                    <a:lnB w="6350" cap="flat" cmpd="sng" algn="ctr">
                      <a:solidFill>
                        <a:srgbClr val="D7DCE5"/>
                      </a:solidFill>
                      <a:prstDash val="solid"/>
                      <a:round/>
                      <a:headEnd type="none" w="med" len="med"/>
                      <a:tailEnd type="none" w="med" len="med"/>
                    </a:lnB>
                    <a:solidFill>
                      <a:srgbClr val="0F766E"/>
                    </a:solidFill>
                  </a:tcPr>
                </a:tc>
              </a:tr>
              <a:tr h="585216">
                <a:tc>
                  <a:txBody>
                    <a:bodyPr/>
                    <a:lstStyle/>
                    <a:p>
                      <a:pPr indent="0" marL="0">
                        <a:buNone/>
                      </a:pPr>
                      <a:r>
                        <a:rPr lang="en-US" sz="1400" b="1" dirty="0">
                          <a:solidFill>
                            <a:srgbClr val="14213D"/>
                          </a:solidFill>
                          <a:latin typeface="+mn-lt" pitchFamily="34" charset="0"/>
                          <a:ea typeface="+mn-lt" pitchFamily="34" charset="-122"/>
                          <a:cs typeface="+mn-lt" pitchFamily="34" charset="-120"/>
                        </a:rPr>
                        <a:t>nfeatures</a:t>
                      </a:r>
                      <a:endParaRPr lang="en-US" sz="1400" dirty="0">
                        <a:latin typeface="+mn-lt" charset="0"/>
                        <a:ea typeface="+mn-lt" charset="0"/>
                        <a:cs typeface="+mn-lt" charset="0"/>
                      </a:endParaRPr>
                    </a:p>
                  </a:txBody>
                  <a:tcPr marL="91440" marR="91440" marT="45720" marB="45720" anchor="ctr">
                    <a:lnL w="6350" cap="flat" cmpd="sng" algn="ctr">
                      <a:solidFill>
                        <a:srgbClr val="D7DCE5"/>
                      </a:solidFill>
                      <a:prstDash val="solid"/>
                      <a:round/>
                      <a:headEnd type="none" w="med" len="med"/>
                      <a:tailEnd type="none" w="med" len="med"/>
                    </a:lnL>
                    <a:lnR w="6350" cap="flat" cmpd="sng" algn="ctr">
                      <a:solidFill>
                        <a:srgbClr val="D7DCE5"/>
                      </a:solidFill>
                      <a:prstDash val="solid"/>
                      <a:round/>
                      <a:headEnd type="none" w="med" len="med"/>
                      <a:tailEnd type="none" w="med" len="med"/>
                    </a:lnR>
                    <a:lnT w="6350" cap="flat" cmpd="sng" algn="ctr">
                      <a:solidFill>
                        <a:srgbClr val="D7DCE5"/>
                      </a:solidFill>
                      <a:prstDash val="solid"/>
                      <a:round/>
                      <a:headEnd type="none" w="med" len="med"/>
                      <a:tailEnd type="none" w="med" len="med"/>
                    </a:lnT>
                    <a:lnB w="6350" cap="flat" cmpd="sng" algn="ctr">
                      <a:solidFill>
                        <a:srgbClr val="D7DCE5"/>
                      </a:solidFill>
                      <a:prstDash val="solid"/>
                      <a:round/>
                      <a:headEnd type="none" w="med" len="med"/>
                      <a:tailEnd type="none" w="med" len="med"/>
                    </a:lnB>
                  </a:tcPr>
                </a:tc>
                <a:tc>
                  <a:txBody>
                    <a:bodyPr/>
                    <a:lstStyle/>
                    <a:p>
                      <a:pPr indent="0" marL="0">
                        <a:buNone/>
                      </a:pPr>
                      <a:r>
                        <a:rPr lang="en-US" sz="1400" dirty="0">
                          <a:solidFill>
                            <a:srgbClr val="14213D"/>
                          </a:solidFill>
                          <a:latin typeface="+mn-lt" pitchFamily="34" charset="0"/>
                          <a:ea typeface="+mn-lt" pitchFamily="34" charset="-122"/>
                          <a:cs typeface="+mn-lt" pitchFamily="34" charset="-120"/>
                        </a:rPr>
                        <a:t>2000</a:t>
                      </a:r>
                      <a:endParaRPr lang="en-US" sz="1400" dirty="0">
                        <a:latin typeface="+mn-lt" charset="0"/>
                        <a:ea typeface="+mn-lt" charset="0"/>
                        <a:cs typeface="+mn-lt" charset="0"/>
                      </a:endParaRPr>
                    </a:p>
                  </a:txBody>
                  <a:tcPr marL="91440" marR="91440" marT="45720" marB="45720" anchor="ctr">
                    <a:lnL w="6350" cap="flat" cmpd="sng" algn="ctr">
                      <a:solidFill>
                        <a:srgbClr val="D7DCE5"/>
                      </a:solidFill>
                      <a:prstDash val="solid"/>
                      <a:round/>
                      <a:headEnd type="none" w="med" len="med"/>
                      <a:tailEnd type="none" w="med" len="med"/>
                    </a:lnL>
                    <a:lnR w="6350" cap="flat" cmpd="sng" algn="ctr">
                      <a:solidFill>
                        <a:srgbClr val="D7DCE5"/>
                      </a:solidFill>
                      <a:prstDash val="solid"/>
                      <a:round/>
                      <a:headEnd type="none" w="med" len="med"/>
                      <a:tailEnd type="none" w="med" len="med"/>
                    </a:lnR>
                    <a:lnT w="6350" cap="flat" cmpd="sng" algn="ctr">
                      <a:solidFill>
                        <a:srgbClr val="D7DCE5"/>
                      </a:solidFill>
                      <a:prstDash val="solid"/>
                      <a:round/>
                      <a:headEnd type="none" w="med" len="med"/>
                      <a:tailEnd type="none" w="med" len="med"/>
                    </a:lnT>
                    <a:lnB w="6350" cap="flat" cmpd="sng" algn="ctr">
                      <a:solidFill>
                        <a:srgbClr val="D7DCE5"/>
                      </a:solidFill>
                      <a:prstDash val="solid"/>
                      <a:round/>
                      <a:headEnd type="none" w="med" len="med"/>
                      <a:tailEnd type="none" w="med" len="med"/>
                    </a:lnB>
                  </a:tcPr>
                </a:tc>
                <a:tc>
                  <a:txBody>
                    <a:bodyPr/>
                    <a:lstStyle/>
                    <a:p>
                      <a:pPr indent="0" marL="0">
                        <a:buNone/>
                      </a:pPr>
                      <a:r>
                        <a:rPr lang="en-US" sz="1400" dirty="0">
                          <a:solidFill>
                            <a:srgbClr val="14213D"/>
                          </a:solidFill>
                          <a:latin typeface="+mn-lt" pitchFamily="34" charset="0"/>
                          <a:ea typeface="+mn-lt" pitchFamily="34" charset="-122"/>
                          <a:cs typeface="+mn-lt" pitchFamily="34" charset="-120"/>
                        </a:rPr>
                        <a:t>Maximum SIFT keypoints</a:t>
                      </a:r>
                      <a:endParaRPr lang="en-US" sz="1400" dirty="0">
                        <a:latin typeface="+mn-lt" charset="0"/>
                        <a:ea typeface="+mn-lt" charset="0"/>
                        <a:cs typeface="+mn-lt" charset="0"/>
                      </a:endParaRPr>
                    </a:p>
                  </a:txBody>
                  <a:tcPr marL="91440" marR="91440" marT="45720" marB="45720" anchor="ctr">
                    <a:lnL w="6350" cap="flat" cmpd="sng" algn="ctr">
                      <a:solidFill>
                        <a:srgbClr val="D7DCE5"/>
                      </a:solidFill>
                      <a:prstDash val="solid"/>
                      <a:round/>
                      <a:headEnd type="none" w="med" len="med"/>
                      <a:tailEnd type="none" w="med" len="med"/>
                    </a:lnL>
                    <a:lnR w="6350" cap="flat" cmpd="sng" algn="ctr">
                      <a:solidFill>
                        <a:srgbClr val="D7DCE5"/>
                      </a:solidFill>
                      <a:prstDash val="solid"/>
                      <a:round/>
                      <a:headEnd type="none" w="med" len="med"/>
                      <a:tailEnd type="none" w="med" len="med"/>
                    </a:lnR>
                    <a:lnT w="6350" cap="flat" cmpd="sng" algn="ctr">
                      <a:solidFill>
                        <a:srgbClr val="D7DCE5"/>
                      </a:solidFill>
                      <a:prstDash val="solid"/>
                      <a:round/>
                      <a:headEnd type="none" w="med" len="med"/>
                      <a:tailEnd type="none" w="med" len="med"/>
                    </a:lnT>
                    <a:lnB w="6350" cap="flat" cmpd="sng" algn="ctr">
                      <a:solidFill>
                        <a:srgbClr val="D7DCE5"/>
                      </a:solidFill>
                      <a:prstDash val="solid"/>
                      <a:round/>
                      <a:headEnd type="none" w="med" len="med"/>
                      <a:tailEnd type="none" w="med" len="med"/>
                    </a:lnB>
                  </a:tcPr>
                </a:tc>
                <a:tc>
                  <a:txBody>
                    <a:bodyPr/>
                    <a:lstStyle/>
                    <a:p>
                      <a:pPr indent="0" marL="0">
                        <a:buNone/>
                      </a:pPr>
                      <a:r>
                        <a:rPr lang="en-US" sz="1400" dirty="0">
                          <a:solidFill>
                            <a:srgbClr val="14213D"/>
                          </a:solidFill>
                          <a:latin typeface="+mn-lt" pitchFamily="34" charset="0"/>
                          <a:ea typeface="+mn-lt" pitchFamily="34" charset="-122"/>
                          <a:cs typeface="+mn-lt" pitchFamily="34" charset="-120"/>
                        </a:rPr>
                        <a:t>Finds clones in weak texture; slower, more memory</a:t>
                      </a:r>
                      <a:endParaRPr lang="en-US" sz="1400" dirty="0">
                        <a:latin typeface="+mn-lt" charset="0"/>
                        <a:ea typeface="+mn-lt" charset="0"/>
                        <a:cs typeface="+mn-lt" charset="0"/>
                      </a:endParaRPr>
                    </a:p>
                  </a:txBody>
                  <a:tcPr marL="91440" marR="91440" marT="45720" marB="45720" anchor="ctr">
                    <a:lnL w="6350" cap="flat" cmpd="sng" algn="ctr">
                      <a:solidFill>
                        <a:srgbClr val="D7DCE5"/>
                      </a:solidFill>
                      <a:prstDash val="solid"/>
                      <a:round/>
                      <a:headEnd type="none" w="med" len="med"/>
                      <a:tailEnd type="none" w="med" len="med"/>
                    </a:lnL>
                    <a:lnR w="6350" cap="flat" cmpd="sng" algn="ctr">
                      <a:solidFill>
                        <a:srgbClr val="D7DCE5"/>
                      </a:solidFill>
                      <a:prstDash val="solid"/>
                      <a:round/>
                      <a:headEnd type="none" w="med" len="med"/>
                      <a:tailEnd type="none" w="med" len="med"/>
                    </a:lnR>
                    <a:lnT w="6350" cap="flat" cmpd="sng" algn="ctr">
                      <a:solidFill>
                        <a:srgbClr val="D7DCE5"/>
                      </a:solidFill>
                      <a:prstDash val="solid"/>
                      <a:round/>
                      <a:headEnd type="none" w="med" len="med"/>
                      <a:tailEnd type="none" w="med" len="med"/>
                    </a:lnT>
                    <a:lnB w="6350" cap="flat" cmpd="sng" algn="ctr">
                      <a:solidFill>
                        <a:srgbClr val="D7DCE5"/>
                      </a:solidFill>
                      <a:prstDash val="solid"/>
                      <a:round/>
                      <a:headEnd type="none" w="med" len="med"/>
                      <a:tailEnd type="none" w="med" len="med"/>
                    </a:lnB>
                  </a:tcPr>
                </a:tc>
              </a:tr>
              <a:tr h="585216">
                <a:tc>
                  <a:txBody>
                    <a:bodyPr/>
                    <a:lstStyle/>
                    <a:p>
                      <a:pPr indent="0" marL="0">
                        <a:buNone/>
                      </a:pPr>
                      <a:r>
                        <a:rPr lang="en-US" sz="1400" b="1" dirty="0">
                          <a:solidFill>
                            <a:srgbClr val="14213D"/>
                          </a:solidFill>
                          <a:latin typeface="+mn-lt" pitchFamily="34" charset="0"/>
                          <a:ea typeface="+mn-lt" pitchFamily="34" charset="-122"/>
                          <a:cs typeface="+mn-lt" pitchFamily="34" charset="-120"/>
                        </a:rPr>
                        <a:t>min_distance</a:t>
                      </a:r>
                      <a:endParaRPr lang="en-US" sz="1400" dirty="0">
                        <a:latin typeface="+mn-lt" charset="0"/>
                        <a:ea typeface="+mn-lt" charset="0"/>
                        <a:cs typeface="+mn-lt" charset="0"/>
                      </a:endParaRPr>
                    </a:p>
                  </a:txBody>
                  <a:tcPr marL="91440" marR="91440" marT="45720" marB="45720" anchor="ctr">
                    <a:lnL w="6350" cap="flat" cmpd="sng" algn="ctr">
                      <a:solidFill>
                        <a:srgbClr val="D7DCE5"/>
                      </a:solidFill>
                      <a:prstDash val="solid"/>
                      <a:round/>
                      <a:headEnd type="none" w="med" len="med"/>
                      <a:tailEnd type="none" w="med" len="med"/>
                    </a:lnL>
                    <a:lnR w="6350" cap="flat" cmpd="sng" algn="ctr">
                      <a:solidFill>
                        <a:srgbClr val="D7DCE5"/>
                      </a:solidFill>
                      <a:prstDash val="solid"/>
                      <a:round/>
                      <a:headEnd type="none" w="med" len="med"/>
                      <a:tailEnd type="none" w="med" len="med"/>
                    </a:lnR>
                    <a:lnT w="6350" cap="flat" cmpd="sng" algn="ctr">
                      <a:solidFill>
                        <a:srgbClr val="D7DCE5"/>
                      </a:solidFill>
                      <a:prstDash val="solid"/>
                      <a:round/>
                      <a:headEnd type="none" w="med" len="med"/>
                      <a:tailEnd type="none" w="med" len="med"/>
                    </a:lnT>
                    <a:lnB w="6350" cap="flat" cmpd="sng" algn="ctr">
                      <a:solidFill>
                        <a:srgbClr val="D7DCE5"/>
                      </a:solidFill>
                      <a:prstDash val="solid"/>
                      <a:round/>
                      <a:headEnd type="none" w="med" len="med"/>
                      <a:tailEnd type="none" w="med" len="med"/>
                    </a:lnB>
                  </a:tcPr>
                </a:tc>
                <a:tc>
                  <a:txBody>
                    <a:bodyPr/>
                    <a:lstStyle/>
                    <a:p>
                      <a:pPr indent="0" marL="0">
                        <a:buNone/>
                      </a:pPr>
                      <a:r>
                        <a:rPr lang="en-US" sz="1400" dirty="0">
                          <a:solidFill>
                            <a:srgbClr val="14213D"/>
                          </a:solidFill>
                          <a:latin typeface="+mn-lt" pitchFamily="34" charset="0"/>
                          <a:ea typeface="+mn-lt" pitchFamily="34" charset="-122"/>
                          <a:cs typeface="+mn-lt" pitchFamily="34" charset="-120"/>
                        </a:rPr>
                        <a:t>50 px</a:t>
                      </a:r>
                      <a:endParaRPr lang="en-US" sz="1400" dirty="0">
                        <a:latin typeface="+mn-lt" charset="0"/>
                        <a:ea typeface="+mn-lt" charset="0"/>
                        <a:cs typeface="+mn-lt" charset="0"/>
                      </a:endParaRPr>
                    </a:p>
                  </a:txBody>
                  <a:tcPr marL="91440" marR="91440" marT="45720" marB="45720" anchor="ctr">
                    <a:lnL w="6350" cap="flat" cmpd="sng" algn="ctr">
                      <a:solidFill>
                        <a:srgbClr val="D7DCE5"/>
                      </a:solidFill>
                      <a:prstDash val="solid"/>
                      <a:round/>
                      <a:headEnd type="none" w="med" len="med"/>
                      <a:tailEnd type="none" w="med" len="med"/>
                    </a:lnL>
                    <a:lnR w="6350" cap="flat" cmpd="sng" algn="ctr">
                      <a:solidFill>
                        <a:srgbClr val="D7DCE5"/>
                      </a:solidFill>
                      <a:prstDash val="solid"/>
                      <a:round/>
                      <a:headEnd type="none" w="med" len="med"/>
                      <a:tailEnd type="none" w="med" len="med"/>
                    </a:lnR>
                    <a:lnT w="6350" cap="flat" cmpd="sng" algn="ctr">
                      <a:solidFill>
                        <a:srgbClr val="D7DCE5"/>
                      </a:solidFill>
                      <a:prstDash val="solid"/>
                      <a:round/>
                      <a:headEnd type="none" w="med" len="med"/>
                      <a:tailEnd type="none" w="med" len="med"/>
                    </a:lnT>
                    <a:lnB w="6350" cap="flat" cmpd="sng" algn="ctr">
                      <a:solidFill>
                        <a:srgbClr val="D7DCE5"/>
                      </a:solidFill>
                      <a:prstDash val="solid"/>
                      <a:round/>
                      <a:headEnd type="none" w="med" len="med"/>
                      <a:tailEnd type="none" w="med" len="med"/>
                    </a:lnB>
                  </a:tcPr>
                </a:tc>
                <a:tc>
                  <a:txBody>
                    <a:bodyPr/>
                    <a:lstStyle/>
                    <a:p>
                      <a:pPr indent="0" marL="0">
                        <a:buNone/>
                      </a:pPr>
                      <a:r>
                        <a:rPr lang="en-US" sz="1400" dirty="0">
                          <a:solidFill>
                            <a:srgbClr val="14213D"/>
                          </a:solidFill>
                          <a:latin typeface="+mn-lt" pitchFamily="34" charset="0"/>
                          <a:ea typeface="+mn-lt" pitchFamily="34" charset="-122"/>
                          <a:cs typeface="+mn-lt" pitchFamily="34" charset="-120"/>
                        </a:rPr>
                        <a:t>Minimum separation of matched points</a:t>
                      </a:r>
                      <a:endParaRPr lang="en-US" sz="1400" dirty="0">
                        <a:latin typeface="+mn-lt" charset="0"/>
                        <a:ea typeface="+mn-lt" charset="0"/>
                        <a:cs typeface="+mn-lt" charset="0"/>
                      </a:endParaRPr>
                    </a:p>
                  </a:txBody>
                  <a:tcPr marL="91440" marR="91440" marT="45720" marB="45720" anchor="ctr">
                    <a:lnL w="6350" cap="flat" cmpd="sng" algn="ctr">
                      <a:solidFill>
                        <a:srgbClr val="D7DCE5"/>
                      </a:solidFill>
                      <a:prstDash val="solid"/>
                      <a:round/>
                      <a:headEnd type="none" w="med" len="med"/>
                      <a:tailEnd type="none" w="med" len="med"/>
                    </a:lnL>
                    <a:lnR w="6350" cap="flat" cmpd="sng" algn="ctr">
                      <a:solidFill>
                        <a:srgbClr val="D7DCE5"/>
                      </a:solidFill>
                      <a:prstDash val="solid"/>
                      <a:round/>
                      <a:headEnd type="none" w="med" len="med"/>
                      <a:tailEnd type="none" w="med" len="med"/>
                    </a:lnR>
                    <a:lnT w="6350" cap="flat" cmpd="sng" algn="ctr">
                      <a:solidFill>
                        <a:srgbClr val="D7DCE5"/>
                      </a:solidFill>
                      <a:prstDash val="solid"/>
                      <a:round/>
                      <a:headEnd type="none" w="med" len="med"/>
                      <a:tailEnd type="none" w="med" len="med"/>
                    </a:lnT>
                    <a:lnB w="6350" cap="flat" cmpd="sng" algn="ctr">
                      <a:solidFill>
                        <a:srgbClr val="D7DCE5"/>
                      </a:solidFill>
                      <a:prstDash val="solid"/>
                      <a:round/>
                      <a:headEnd type="none" w="med" len="med"/>
                      <a:tailEnd type="none" w="med" len="med"/>
                    </a:lnB>
                  </a:tcPr>
                </a:tc>
                <a:tc>
                  <a:txBody>
                    <a:bodyPr/>
                    <a:lstStyle/>
                    <a:p>
                      <a:pPr indent="0" marL="0">
                        <a:buNone/>
                      </a:pPr>
                      <a:r>
                        <a:rPr lang="en-US" sz="1400" dirty="0">
                          <a:solidFill>
                            <a:srgbClr val="14213D"/>
                          </a:solidFill>
                          <a:latin typeface="+mn-lt" pitchFamily="34" charset="0"/>
                          <a:ea typeface="+mn-lt" pitchFamily="34" charset="-122"/>
                          <a:cs typeface="+mn-lt" pitchFamily="34" charset="-120"/>
                        </a:rPr>
                        <a:t>Ignores near look-alikes; may miss close clones</a:t>
                      </a:r>
                      <a:endParaRPr lang="en-US" sz="1400" dirty="0">
                        <a:latin typeface="+mn-lt" charset="0"/>
                        <a:ea typeface="+mn-lt" charset="0"/>
                        <a:cs typeface="+mn-lt" charset="0"/>
                      </a:endParaRPr>
                    </a:p>
                  </a:txBody>
                  <a:tcPr marL="91440" marR="91440" marT="45720" marB="45720" anchor="ctr">
                    <a:lnL w="6350" cap="flat" cmpd="sng" algn="ctr">
                      <a:solidFill>
                        <a:srgbClr val="D7DCE5"/>
                      </a:solidFill>
                      <a:prstDash val="solid"/>
                      <a:round/>
                      <a:headEnd type="none" w="med" len="med"/>
                      <a:tailEnd type="none" w="med" len="med"/>
                    </a:lnL>
                    <a:lnR w="6350" cap="flat" cmpd="sng" algn="ctr">
                      <a:solidFill>
                        <a:srgbClr val="D7DCE5"/>
                      </a:solidFill>
                      <a:prstDash val="solid"/>
                      <a:round/>
                      <a:headEnd type="none" w="med" len="med"/>
                      <a:tailEnd type="none" w="med" len="med"/>
                    </a:lnR>
                    <a:lnT w="6350" cap="flat" cmpd="sng" algn="ctr">
                      <a:solidFill>
                        <a:srgbClr val="D7DCE5"/>
                      </a:solidFill>
                      <a:prstDash val="solid"/>
                      <a:round/>
                      <a:headEnd type="none" w="med" len="med"/>
                      <a:tailEnd type="none" w="med" len="med"/>
                    </a:lnT>
                    <a:lnB w="6350" cap="flat" cmpd="sng" algn="ctr">
                      <a:solidFill>
                        <a:srgbClr val="D7DCE5"/>
                      </a:solidFill>
                      <a:prstDash val="solid"/>
                      <a:round/>
                      <a:headEnd type="none" w="med" len="med"/>
                      <a:tailEnd type="none" w="med" len="med"/>
                    </a:lnB>
                  </a:tcPr>
                </a:tc>
              </a:tr>
              <a:tr h="585216">
                <a:tc>
                  <a:txBody>
                    <a:bodyPr/>
                    <a:lstStyle/>
                    <a:p>
                      <a:pPr indent="0" marL="0">
                        <a:buNone/>
                      </a:pPr>
                      <a:r>
                        <a:rPr lang="en-US" sz="1400" b="1" dirty="0">
                          <a:solidFill>
                            <a:srgbClr val="14213D"/>
                          </a:solidFill>
                          <a:latin typeface="+mn-lt" pitchFamily="34" charset="0"/>
                          <a:ea typeface="+mn-lt" pitchFamily="34" charset="-122"/>
                          <a:cs typeface="+mn-lt" pitchFamily="34" charset="-120"/>
                        </a:rPr>
                        <a:t>ratio</a:t>
                      </a:r>
                      <a:endParaRPr lang="en-US" sz="1400" dirty="0">
                        <a:latin typeface="+mn-lt" charset="0"/>
                        <a:ea typeface="+mn-lt" charset="0"/>
                        <a:cs typeface="+mn-lt" charset="0"/>
                      </a:endParaRPr>
                    </a:p>
                  </a:txBody>
                  <a:tcPr marL="91440" marR="91440" marT="45720" marB="45720" anchor="ctr">
                    <a:lnL w="6350" cap="flat" cmpd="sng" algn="ctr">
                      <a:solidFill>
                        <a:srgbClr val="D7DCE5"/>
                      </a:solidFill>
                      <a:prstDash val="solid"/>
                      <a:round/>
                      <a:headEnd type="none" w="med" len="med"/>
                      <a:tailEnd type="none" w="med" len="med"/>
                    </a:lnL>
                    <a:lnR w="6350" cap="flat" cmpd="sng" algn="ctr">
                      <a:solidFill>
                        <a:srgbClr val="D7DCE5"/>
                      </a:solidFill>
                      <a:prstDash val="solid"/>
                      <a:round/>
                      <a:headEnd type="none" w="med" len="med"/>
                      <a:tailEnd type="none" w="med" len="med"/>
                    </a:lnR>
                    <a:lnT w="6350" cap="flat" cmpd="sng" algn="ctr">
                      <a:solidFill>
                        <a:srgbClr val="D7DCE5"/>
                      </a:solidFill>
                      <a:prstDash val="solid"/>
                      <a:round/>
                      <a:headEnd type="none" w="med" len="med"/>
                      <a:tailEnd type="none" w="med" len="med"/>
                    </a:lnT>
                    <a:lnB w="6350" cap="flat" cmpd="sng" algn="ctr">
                      <a:solidFill>
                        <a:srgbClr val="D7DCE5"/>
                      </a:solidFill>
                      <a:prstDash val="solid"/>
                      <a:round/>
                      <a:headEnd type="none" w="med" len="med"/>
                      <a:tailEnd type="none" w="med" len="med"/>
                    </a:lnB>
                  </a:tcPr>
                </a:tc>
                <a:tc>
                  <a:txBody>
                    <a:bodyPr/>
                    <a:lstStyle/>
                    <a:p>
                      <a:pPr indent="0" marL="0">
                        <a:buNone/>
                      </a:pPr>
                      <a:r>
                        <a:rPr lang="en-US" sz="1400" dirty="0">
                          <a:solidFill>
                            <a:srgbClr val="14213D"/>
                          </a:solidFill>
                          <a:latin typeface="+mn-lt" pitchFamily="34" charset="0"/>
                          <a:ea typeface="+mn-lt" pitchFamily="34" charset="-122"/>
                          <a:cs typeface="+mn-lt" pitchFamily="34" charset="-120"/>
                        </a:rPr>
                        <a:t>0.75</a:t>
                      </a:r>
                      <a:endParaRPr lang="en-US" sz="1400" dirty="0">
                        <a:latin typeface="+mn-lt" charset="0"/>
                        <a:ea typeface="+mn-lt" charset="0"/>
                        <a:cs typeface="+mn-lt" charset="0"/>
                      </a:endParaRPr>
                    </a:p>
                  </a:txBody>
                  <a:tcPr marL="91440" marR="91440" marT="45720" marB="45720" anchor="ctr">
                    <a:lnL w="6350" cap="flat" cmpd="sng" algn="ctr">
                      <a:solidFill>
                        <a:srgbClr val="D7DCE5"/>
                      </a:solidFill>
                      <a:prstDash val="solid"/>
                      <a:round/>
                      <a:headEnd type="none" w="med" len="med"/>
                      <a:tailEnd type="none" w="med" len="med"/>
                    </a:lnL>
                    <a:lnR w="6350" cap="flat" cmpd="sng" algn="ctr">
                      <a:solidFill>
                        <a:srgbClr val="D7DCE5"/>
                      </a:solidFill>
                      <a:prstDash val="solid"/>
                      <a:round/>
                      <a:headEnd type="none" w="med" len="med"/>
                      <a:tailEnd type="none" w="med" len="med"/>
                    </a:lnR>
                    <a:lnT w="6350" cap="flat" cmpd="sng" algn="ctr">
                      <a:solidFill>
                        <a:srgbClr val="D7DCE5"/>
                      </a:solidFill>
                      <a:prstDash val="solid"/>
                      <a:round/>
                      <a:headEnd type="none" w="med" len="med"/>
                      <a:tailEnd type="none" w="med" len="med"/>
                    </a:lnT>
                    <a:lnB w="6350" cap="flat" cmpd="sng" algn="ctr">
                      <a:solidFill>
                        <a:srgbClr val="D7DCE5"/>
                      </a:solidFill>
                      <a:prstDash val="solid"/>
                      <a:round/>
                      <a:headEnd type="none" w="med" len="med"/>
                      <a:tailEnd type="none" w="med" len="med"/>
                    </a:lnB>
                  </a:tcPr>
                </a:tc>
                <a:tc>
                  <a:txBody>
                    <a:bodyPr/>
                    <a:lstStyle/>
                    <a:p>
                      <a:pPr indent="0" marL="0">
                        <a:buNone/>
                      </a:pPr>
                      <a:r>
                        <a:rPr lang="en-US" sz="1400" dirty="0">
                          <a:solidFill>
                            <a:srgbClr val="14213D"/>
                          </a:solidFill>
                          <a:latin typeface="+mn-lt" pitchFamily="34" charset="0"/>
                          <a:ea typeface="+mn-lt" pitchFamily="34" charset="-122"/>
                          <a:cs typeface="+mn-lt" pitchFamily="34" charset="-120"/>
                        </a:rPr>
                        <a:t>Ratio-test threshold</a:t>
                      </a:r>
                      <a:endParaRPr lang="en-US" sz="1400" dirty="0">
                        <a:latin typeface="+mn-lt" charset="0"/>
                        <a:ea typeface="+mn-lt" charset="0"/>
                        <a:cs typeface="+mn-lt" charset="0"/>
                      </a:endParaRPr>
                    </a:p>
                  </a:txBody>
                  <a:tcPr marL="91440" marR="91440" marT="45720" marB="45720" anchor="ctr">
                    <a:lnL w="6350" cap="flat" cmpd="sng" algn="ctr">
                      <a:solidFill>
                        <a:srgbClr val="D7DCE5"/>
                      </a:solidFill>
                      <a:prstDash val="solid"/>
                      <a:round/>
                      <a:headEnd type="none" w="med" len="med"/>
                      <a:tailEnd type="none" w="med" len="med"/>
                    </a:lnL>
                    <a:lnR w="6350" cap="flat" cmpd="sng" algn="ctr">
                      <a:solidFill>
                        <a:srgbClr val="D7DCE5"/>
                      </a:solidFill>
                      <a:prstDash val="solid"/>
                      <a:round/>
                      <a:headEnd type="none" w="med" len="med"/>
                      <a:tailEnd type="none" w="med" len="med"/>
                    </a:lnR>
                    <a:lnT w="6350" cap="flat" cmpd="sng" algn="ctr">
                      <a:solidFill>
                        <a:srgbClr val="D7DCE5"/>
                      </a:solidFill>
                      <a:prstDash val="solid"/>
                      <a:round/>
                      <a:headEnd type="none" w="med" len="med"/>
                      <a:tailEnd type="none" w="med" len="med"/>
                    </a:lnT>
                    <a:lnB w="6350" cap="flat" cmpd="sng" algn="ctr">
                      <a:solidFill>
                        <a:srgbClr val="D7DCE5"/>
                      </a:solidFill>
                      <a:prstDash val="solid"/>
                      <a:round/>
                      <a:headEnd type="none" w="med" len="med"/>
                      <a:tailEnd type="none" w="med" len="med"/>
                    </a:lnB>
                  </a:tcPr>
                </a:tc>
                <a:tc>
                  <a:txBody>
                    <a:bodyPr/>
                    <a:lstStyle/>
                    <a:p>
                      <a:pPr indent="0" marL="0">
                        <a:buNone/>
                      </a:pPr>
                      <a:r>
                        <a:rPr lang="en-US" sz="1400" dirty="0">
                          <a:solidFill>
                            <a:srgbClr val="14213D"/>
                          </a:solidFill>
                          <a:latin typeface="+mn-lt" pitchFamily="34" charset="0"/>
                          <a:ea typeface="+mn-lt" pitchFamily="34" charset="-122"/>
                          <a:cs typeface="+mn-lt" pitchFamily="34" charset="-120"/>
                        </a:rPr>
                        <a:t>Keeps more matches, so more noise</a:t>
                      </a:r>
                      <a:endParaRPr lang="en-US" sz="1400" dirty="0">
                        <a:latin typeface="+mn-lt" charset="0"/>
                        <a:ea typeface="+mn-lt" charset="0"/>
                        <a:cs typeface="+mn-lt" charset="0"/>
                      </a:endParaRPr>
                    </a:p>
                  </a:txBody>
                  <a:tcPr marL="91440" marR="91440" marT="45720" marB="45720" anchor="ctr">
                    <a:lnL w="6350" cap="flat" cmpd="sng" algn="ctr">
                      <a:solidFill>
                        <a:srgbClr val="D7DCE5"/>
                      </a:solidFill>
                      <a:prstDash val="solid"/>
                      <a:round/>
                      <a:headEnd type="none" w="med" len="med"/>
                      <a:tailEnd type="none" w="med" len="med"/>
                    </a:lnL>
                    <a:lnR w="6350" cap="flat" cmpd="sng" algn="ctr">
                      <a:solidFill>
                        <a:srgbClr val="D7DCE5"/>
                      </a:solidFill>
                      <a:prstDash val="solid"/>
                      <a:round/>
                      <a:headEnd type="none" w="med" len="med"/>
                      <a:tailEnd type="none" w="med" len="med"/>
                    </a:lnR>
                    <a:lnT w="6350" cap="flat" cmpd="sng" algn="ctr">
                      <a:solidFill>
                        <a:srgbClr val="D7DCE5"/>
                      </a:solidFill>
                      <a:prstDash val="solid"/>
                      <a:round/>
                      <a:headEnd type="none" w="med" len="med"/>
                      <a:tailEnd type="none" w="med" len="med"/>
                    </a:lnT>
                    <a:lnB w="6350" cap="flat" cmpd="sng" algn="ctr">
                      <a:solidFill>
                        <a:srgbClr val="D7DCE5"/>
                      </a:solidFill>
                      <a:prstDash val="solid"/>
                      <a:round/>
                      <a:headEnd type="none" w="med" len="med"/>
                      <a:tailEnd type="none" w="med" len="med"/>
                    </a:lnB>
                  </a:tcPr>
                </a:tc>
              </a:tr>
              <a:tr h="585216">
                <a:tc>
                  <a:txBody>
                    <a:bodyPr/>
                    <a:lstStyle/>
                    <a:p>
                      <a:pPr indent="0" marL="0">
                        <a:buNone/>
                      </a:pPr>
                      <a:r>
                        <a:rPr lang="en-US" sz="1400" b="1" dirty="0">
                          <a:solidFill>
                            <a:srgbClr val="14213D"/>
                          </a:solidFill>
                          <a:latin typeface="+mn-lt" pitchFamily="34" charset="0"/>
                          <a:ea typeface="+mn-lt" pitchFamily="34" charset="-122"/>
                          <a:cs typeface="+mn-lt" pitchFamily="34" charset="-120"/>
                        </a:rPr>
                        <a:t>ransac_threshold</a:t>
                      </a:r>
                      <a:endParaRPr lang="en-US" sz="1400" dirty="0">
                        <a:latin typeface="+mn-lt" charset="0"/>
                        <a:ea typeface="+mn-lt" charset="0"/>
                        <a:cs typeface="+mn-lt" charset="0"/>
                      </a:endParaRPr>
                    </a:p>
                  </a:txBody>
                  <a:tcPr marL="91440" marR="91440" marT="45720" marB="45720" anchor="ctr">
                    <a:lnL w="6350" cap="flat" cmpd="sng" algn="ctr">
                      <a:solidFill>
                        <a:srgbClr val="D7DCE5"/>
                      </a:solidFill>
                      <a:prstDash val="solid"/>
                      <a:round/>
                      <a:headEnd type="none" w="med" len="med"/>
                      <a:tailEnd type="none" w="med" len="med"/>
                    </a:lnL>
                    <a:lnR w="6350" cap="flat" cmpd="sng" algn="ctr">
                      <a:solidFill>
                        <a:srgbClr val="D7DCE5"/>
                      </a:solidFill>
                      <a:prstDash val="solid"/>
                      <a:round/>
                      <a:headEnd type="none" w="med" len="med"/>
                      <a:tailEnd type="none" w="med" len="med"/>
                    </a:lnR>
                    <a:lnT w="6350" cap="flat" cmpd="sng" algn="ctr">
                      <a:solidFill>
                        <a:srgbClr val="D7DCE5"/>
                      </a:solidFill>
                      <a:prstDash val="solid"/>
                      <a:round/>
                      <a:headEnd type="none" w="med" len="med"/>
                      <a:tailEnd type="none" w="med" len="med"/>
                    </a:lnT>
                    <a:lnB w="6350" cap="flat" cmpd="sng" algn="ctr">
                      <a:solidFill>
                        <a:srgbClr val="D7DCE5"/>
                      </a:solidFill>
                      <a:prstDash val="solid"/>
                      <a:round/>
                      <a:headEnd type="none" w="med" len="med"/>
                      <a:tailEnd type="none" w="med" len="med"/>
                    </a:lnB>
                  </a:tcPr>
                </a:tc>
                <a:tc>
                  <a:txBody>
                    <a:bodyPr/>
                    <a:lstStyle/>
                    <a:p>
                      <a:pPr indent="0" marL="0">
                        <a:buNone/>
                      </a:pPr>
                      <a:r>
                        <a:rPr lang="en-US" sz="1400" dirty="0">
                          <a:solidFill>
                            <a:srgbClr val="14213D"/>
                          </a:solidFill>
                          <a:latin typeface="+mn-lt" pitchFamily="34" charset="0"/>
                          <a:ea typeface="+mn-lt" pitchFamily="34" charset="-122"/>
                          <a:cs typeface="+mn-lt" pitchFamily="34" charset="-120"/>
                        </a:rPr>
                        <a:t>5 px</a:t>
                      </a:r>
                      <a:endParaRPr lang="en-US" sz="1400" dirty="0">
                        <a:latin typeface="+mn-lt" charset="0"/>
                        <a:ea typeface="+mn-lt" charset="0"/>
                        <a:cs typeface="+mn-lt" charset="0"/>
                      </a:endParaRPr>
                    </a:p>
                  </a:txBody>
                  <a:tcPr marL="91440" marR="91440" marT="45720" marB="45720" anchor="ctr">
                    <a:lnL w="6350" cap="flat" cmpd="sng" algn="ctr">
                      <a:solidFill>
                        <a:srgbClr val="D7DCE5"/>
                      </a:solidFill>
                      <a:prstDash val="solid"/>
                      <a:round/>
                      <a:headEnd type="none" w="med" len="med"/>
                      <a:tailEnd type="none" w="med" len="med"/>
                    </a:lnL>
                    <a:lnR w="6350" cap="flat" cmpd="sng" algn="ctr">
                      <a:solidFill>
                        <a:srgbClr val="D7DCE5"/>
                      </a:solidFill>
                      <a:prstDash val="solid"/>
                      <a:round/>
                      <a:headEnd type="none" w="med" len="med"/>
                      <a:tailEnd type="none" w="med" len="med"/>
                    </a:lnR>
                    <a:lnT w="6350" cap="flat" cmpd="sng" algn="ctr">
                      <a:solidFill>
                        <a:srgbClr val="D7DCE5"/>
                      </a:solidFill>
                      <a:prstDash val="solid"/>
                      <a:round/>
                      <a:headEnd type="none" w="med" len="med"/>
                      <a:tailEnd type="none" w="med" len="med"/>
                    </a:lnT>
                    <a:lnB w="6350" cap="flat" cmpd="sng" algn="ctr">
                      <a:solidFill>
                        <a:srgbClr val="D7DCE5"/>
                      </a:solidFill>
                      <a:prstDash val="solid"/>
                      <a:round/>
                      <a:headEnd type="none" w="med" len="med"/>
                      <a:tailEnd type="none" w="med" len="med"/>
                    </a:lnB>
                  </a:tcPr>
                </a:tc>
                <a:tc>
                  <a:txBody>
                    <a:bodyPr/>
                    <a:lstStyle/>
                    <a:p>
                      <a:pPr indent="0" marL="0">
                        <a:buNone/>
                      </a:pPr>
                      <a:r>
                        <a:rPr lang="en-US" sz="1400" dirty="0">
                          <a:solidFill>
                            <a:srgbClr val="14213D"/>
                          </a:solidFill>
                          <a:latin typeface="+mn-lt" pitchFamily="34" charset="0"/>
                          <a:ea typeface="+mn-lt" pitchFamily="34" charset="-122"/>
                          <a:cs typeface="+mn-lt" pitchFamily="34" charset="-120"/>
                        </a:rPr>
                        <a:t>Allowed distance from the transform</a:t>
                      </a:r>
                      <a:endParaRPr lang="en-US" sz="1400" dirty="0">
                        <a:latin typeface="+mn-lt" charset="0"/>
                        <a:ea typeface="+mn-lt" charset="0"/>
                        <a:cs typeface="+mn-lt" charset="0"/>
                      </a:endParaRPr>
                    </a:p>
                  </a:txBody>
                  <a:tcPr marL="91440" marR="91440" marT="45720" marB="45720" anchor="ctr">
                    <a:lnL w="6350" cap="flat" cmpd="sng" algn="ctr">
                      <a:solidFill>
                        <a:srgbClr val="D7DCE5"/>
                      </a:solidFill>
                      <a:prstDash val="solid"/>
                      <a:round/>
                      <a:headEnd type="none" w="med" len="med"/>
                      <a:tailEnd type="none" w="med" len="med"/>
                    </a:lnL>
                    <a:lnR w="6350" cap="flat" cmpd="sng" algn="ctr">
                      <a:solidFill>
                        <a:srgbClr val="D7DCE5"/>
                      </a:solidFill>
                      <a:prstDash val="solid"/>
                      <a:round/>
                      <a:headEnd type="none" w="med" len="med"/>
                      <a:tailEnd type="none" w="med" len="med"/>
                    </a:lnR>
                    <a:lnT w="6350" cap="flat" cmpd="sng" algn="ctr">
                      <a:solidFill>
                        <a:srgbClr val="D7DCE5"/>
                      </a:solidFill>
                      <a:prstDash val="solid"/>
                      <a:round/>
                      <a:headEnd type="none" w="med" len="med"/>
                      <a:tailEnd type="none" w="med" len="med"/>
                    </a:lnT>
                    <a:lnB w="6350" cap="flat" cmpd="sng" algn="ctr">
                      <a:solidFill>
                        <a:srgbClr val="D7DCE5"/>
                      </a:solidFill>
                      <a:prstDash val="solid"/>
                      <a:round/>
                      <a:headEnd type="none" w="med" len="med"/>
                      <a:tailEnd type="none" w="med" len="med"/>
                    </a:lnB>
                  </a:tcPr>
                </a:tc>
                <a:tc>
                  <a:txBody>
                    <a:bodyPr/>
                    <a:lstStyle/>
                    <a:p>
                      <a:pPr indent="0" marL="0">
                        <a:buNone/>
                      </a:pPr>
                      <a:r>
                        <a:rPr lang="en-US" sz="1400" dirty="0">
                          <a:solidFill>
                            <a:srgbClr val="14213D"/>
                          </a:solidFill>
                          <a:latin typeface="+mn-lt" pitchFamily="34" charset="0"/>
                          <a:ea typeface="+mn-lt" pitchFamily="34" charset="-122"/>
                          <a:cs typeface="+mn-lt" pitchFamily="34" charset="-120"/>
                        </a:rPr>
                        <a:t>Tolerates rotation and scale; admits false inliers</a:t>
                      </a:r>
                      <a:endParaRPr lang="en-US" sz="1400" dirty="0">
                        <a:latin typeface="+mn-lt" charset="0"/>
                        <a:ea typeface="+mn-lt" charset="0"/>
                        <a:cs typeface="+mn-lt" charset="0"/>
                      </a:endParaRPr>
                    </a:p>
                  </a:txBody>
                  <a:tcPr marL="91440" marR="91440" marT="45720" marB="45720" anchor="ctr">
                    <a:lnL w="6350" cap="flat" cmpd="sng" algn="ctr">
                      <a:solidFill>
                        <a:srgbClr val="D7DCE5"/>
                      </a:solidFill>
                      <a:prstDash val="solid"/>
                      <a:round/>
                      <a:headEnd type="none" w="med" len="med"/>
                      <a:tailEnd type="none" w="med" len="med"/>
                    </a:lnL>
                    <a:lnR w="6350" cap="flat" cmpd="sng" algn="ctr">
                      <a:solidFill>
                        <a:srgbClr val="D7DCE5"/>
                      </a:solidFill>
                      <a:prstDash val="solid"/>
                      <a:round/>
                      <a:headEnd type="none" w="med" len="med"/>
                      <a:tailEnd type="none" w="med" len="med"/>
                    </a:lnR>
                    <a:lnT w="6350" cap="flat" cmpd="sng" algn="ctr">
                      <a:solidFill>
                        <a:srgbClr val="D7DCE5"/>
                      </a:solidFill>
                      <a:prstDash val="solid"/>
                      <a:round/>
                      <a:headEnd type="none" w="med" len="med"/>
                      <a:tailEnd type="none" w="med" len="med"/>
                    </a:lnT>
                    <a:lnB w="6350" cap="flat" cmpd="sng" algn="ctr">
                      <a:solidFill>
                        <a:srgbClr val="D7DCE5"/>
                      </a:solidFill>
                      <a:prstDash val="solid"/>
                      <a:round/>
                      <a:headEnd type="none" w="med" len="med"/>
                      <a:tailEnd type="none" w="med" len="med"/>
                    </a:lnB>
                  </a:tcPr>
                </a:tc>
              </a:tr>
              <a:tr h="585216">
                <a:tc>
                  <a:txBody>
                    <a:bodyPr/>
                    <a:lstStyle/>
                    <a:p>
                      <a:pPr indent="0" marL="0">
                        <a:buNone/>
                      </a:pPr>
                      <a:r>
                        <a:rPr lang="en-US" sz="1400" b="1" dirty="0">
                          <a:solidFill>
                            <a:srgbClr val="14213D"/>
                          </a:solidFill>
                          <a:latin typeface="+mn-lt" pitchFamily="34" charset="0"/>
                          <a:ea typeface="+mn-lt" pitchFamily="34" charset="-122"/>
                          <a:cs typeface="+mn-lt" pitchFamily="34" charset="-120"/>
                        </a:rPr>
                        <a:t>min_inliers</a:t>
                      </a:r>
                      <a:endParaRPr lang="en-US" sz="1400" dirty="0">
                        <a:latin typeface="+mn-lt" charset="0"/>
                        <a:ea typeface="+mn-lt" charset="0"/>
                        <a:cs typeface="+mn-lt" charset="0"/>
                      </a:endParaRPr>
                    </a:p>
                  </a:txBody>
                  <a:tcPr marL="91440" marR="91440" marT="45720" marB="45720" anchor="ctr">
                    <a:lnL w="6350" cap="flat" cmpd="sng" algn="ctr">
                      <a:solidFill>
                        <a:srgbClr val="D7DCE5"/>
                      </a:solidFill>
                      <a:prstDash val="solid"/>
                      <a:round/>
                      <a:headEnd type="none" w="med" len="med"/>
                      <a:tailEnd type="none" w="med" len="med"/>
                    </a:lnL>
                    <a:lnR w="6350" cap="flat" cmpd="sng" algn="ctr">
                      <a:solidFill>
                        <a:srgbClr val="D7DCE5"/>
                      </a:solidFill>
                      <a:prstDash val="solid"/>
                      <a:round/>
                      <a:headEnd type="none" w="med" len="med"/>
                      <a:tailEnd type="none" w="med" len="med"/>
                    </a:lnR>
                    <a:lnT w="6350" cap="flat" cmpd="sng" algn="ctr">
                      <a:solidFill>
                        <a:srgbClr val="D7DCE5"/>
                      </a:solidFill>
                      <a:prstDash val="solid"/>
                      <a:round/>
                      <a:headEnd type="none" w="med" len="med"/>
                      <a:tailEnd type="none" w="med" len="med"/>
                    </a:lnT>
                    <a:lnB w="6350" cap="flat" cmpd="sng" algn="ctr">
                      <a:solidFill>
                        <a:srgbClr val="D7DCE5"/>
                      </a:solidFill>
                      <a:prstDash val="solid"/>
                      <a:round/>
                      <a:headEnd type="none" w="med" len="med"/>
                      <a:tailEnd type="none" w="med" len="med"/>
                    </a:lnB>
                  </a:tcPr>
                </a:tc>
                <a:tc>
                  <a:txBody>
                    <a:bodyPr/>
                    <a:lstStyle/>
                    <a:p>
                      <a:pPr indent="0" marL="0">
                        <a:buNone/>
                      </a:pPr>
                      <a:r>
                        <a:rPr lang="en-US" sz="1400" dirty="0">
                          <a:solidFill>
                            <a:srgbClr val="14213D"/>
                          </a:solidFill>
                          <a:latin typeface="+mn-lt" pitchFamily="34" charset="0"/>
                          <a:ea typeface="+mn-lt" pitchFamily="34" charset="-122"/>
                          <a:cs typeface="+mn-lt" pitchFamily="34" charset="-120"/>
                        </a:rPr>
                        <a:t>8</a:t>
                      </a:r>
                      <a:endParaRPr lang="en-US" sz="1400" dirty="0">
                        <a:latin typeface="+mn-lt" charset="0"/>
                        <a:ea typeface="+mn-lt" charset="0"/>
                        <a:cs typeface="+mn-lt" charset="0"/>
                      </a:endParaRPr>
                    </a:p>
                  </a:txBody>
                  <a:tcPr marL="91440" marR="91440" marT="45720" marB="45720" anchor="ctr">
                    <a:lnL w="6350" cap="flat" cmpd="sng" algn="ctr">
                      <a:solidFill>
                        <a:srgbClr val="D7DCE5"/>
                      </a:solidFill>
                      <a:prstDash val="solid"/>
                      <a:round/>
                      <a:headEnd type="none" w="med" len="med"/>
                      <a:tailEnd type="none" w="med" len="med"/>
                    </a:lnL>
                    <a:lnR w="6350" cap="flat" cmpd="sng" algn="ctr">
                      <a:solidFill>
                        <a:srgbClr val="D7DCE5"/>
                      </a:solidFill>
                      <a:prstDash val="solid"/>
                      <a:round/>
                      <a:headEnd type="none" w="med" len="med"/>
                      <a:tailEnd type="none" w="med" len="med"/>
                    </a:lnR>
                    <a:lnT w="6350" cap="flat" cmpd="sng" algn="ctr">
                      <a:solidFill>
                        <a:srgbClr val="D7DCE5"/>
                      </a:solidFill>
                      <a:prstDash val="solid"/>
                      <a:round/>
                      <a:headEnd type="none" w="med" len="med"/>
                      <a:tailEnd type="none" w="med" len="med"/>
                    </a:lnT>
                    <a:lnB w="6350" cap="flat" cmpd="sng" algn="ctr">
                      <a:solidFill>
                        <a:srgbClr val="D7DCE5"/>
                      </a:solidFill>
                      <a:prstDash val="solid"/>
                      <a:round/>
                      <a:headEnd type="none" w="med" len="med"/>
                      <a:tailEnd type="none" w="med" len="med"/>
                    </a:lnB>
                  </a:tcPr>
                </a:tc>
                <a:tc>
                  <a:txBody>
                    <a:bodyPr/>
                    <a:lstStyle/>
                    <a:p>
                      <a:pPr indent="0" marL="0">
                        <a:buNone/>
                      </a:pPr>
                      <a:r>
                        <a:rPr lang="en-US" sz="1400" dirty="0">
                          <a:solidFill>
                            <a:srgbClr val="14213D"/>
                          </a:solidFill>
                          <a:latin typeface="+mn-lt" pitchFamily="34" charset="0"/>
                          <a:ea typeface="+mn-lt" pitchFamily="34" charset="-122"/>
                          <a:cs typeface="+mn-lt" pitchFamily="34" charset="-120"/>
                        </a:rPr>
                        <a:t>Inliers needed to flag an image</a:t>
                      </a:r>
                      <a:endParaRPr lang="en-US" sz="1400" dirty="0">
                        <a:latin typeface="+mn-lt" charset="0"/>
                        <a:ea typeface="+mn-lt" charset="0"/>
                        <a:cs typeface="+mn-lt" charset="0"/>
                      </a:endParaRPr>
                    </a:p>
                  </a:txBody>
                  <a:tcPr marL="91440" marR="91440" marT="45720" marB="45720" anchor="ctr">
                    <a:lnL w="6350" cap="flat" cmpd="sng" algn="ctr">
                      <a:solidFill>
                        <a:srgbClr val="D7DCE5"/>
                      </a:solidFill>
                      <a:prstDash val="solid"/>
                      <a:round/>
                      <a:headEnd type="none" w="med" len="med"/>
                      <a:tailEnd type="none" w="med" len="med"/>
                    </a:lnL>
                    <a:lnR w="6350" cap="flat" cmpd="sng" algn="ctr">
                      <a:solidFill>
                        <a:srgbClr val="D7DCE5"/>
                      </a:solidFill>
                      <a:prstDash val="solid"/>
                      <a:round/>
                      <a:headEnd type="none" w="med" len="med"/>
                      <a:tailEnd type="none" w="med" len="med"/>
                    </a:lnR>
                    <a:lnT w="6350" cap="flat" cmpd="sng" algn="ctr">
                      <a:solidFill>
                        <a:srgbClr val="D7DCE5"/>
                      </a:solidFill>
                      <a:prstDash val="solid"/>
                      <a:round/>
                      <a:headEnd type="none" w="med" len="med"/>
                      <a:tailEnd type="none" w="med" len="med"/>
                    </a:lnT>
                    <a:lnB w="6350" cap="flat" cmpd="sng" algn="ctr">
                      <a:solidFill>
                        <a:srgbClr val="D7DCE5"/>
                      </a:solidFill>
                      <a:prstDash val="solid"/>
                      <a:round/>
                      <a:headEnd type="none" w="med" len="med"/>
                      <a:tailEnd type="none" w="med" len="med"/>
                    </a:lnB>
                  </a:tcPr>
                </a:tc>
                <a:tc>
                  <a:txBody>
                    <a:bodyPr/>
                    <a:lstStyle/>
                    <a:p>
                      <a:pPr indent="0" marL="0">
                        <a:buNone/>
                      </a:pPr>
                      <a:r>
                        <a:rPr lang="en-US" sz="1400" dirty="0">
                          <a:solidFill>
                            <a:srgbClr val="14213D"/>
                          </a:solidFill>
                          <a:latin typeface="+mn-lt" pitchFamily="34" charset="0"/>
                          <a:ea typeface="+mn-lt" pitchFamily="34" charset="-122"/>
                          <a:cs typeface="+mn-lt" pitchFamily="34" charset="-120"/>
                        </a:rPr>
                        <a:t>Fewer false alarms; may miss small clones</a:t>
                      </a:r>
                      <a:endParaRPr lang="en-US" sz="1400" dirty="0">
                        <a:latin typeface="+mn-lt" charset="0"/>
                        <a:ea typeface="+mn-lt" charset="0"/>
                        <a:cs typeface="+mn-lt" charset="0"/>
                      </a:endParaRPr>
                    </a:p>
                  </a:txBody>
                  <a:tcPr marL="91440" marR="91440" marT="45720" marB="45720" anchor="ctr">
                    <a:lnL w="6350" cap="flat" cmpd="sng" algn="ctr">
                      <a:solidFill>
                        <a:srgbClr val="D7DCE5"/>
                      </a:solidFill>
                      <a:prstDash val="solid"/>
                      <a:round/>
                      <a:headEnd type="none" w="med" len="med"/>
                      <a:tailEnd type="none" w="med" len="med"/>
                    </a:lnL>
                    <a:lnR w="6350" cap="flat" cmpd="sng" algn="ctr">
                      <a:solidFill>
                        <a:srgbClr val="D7DCE5"/>
                      </a:solidFill>
                      <a:prstDash val="solid"/>
                      <a:round/>
                      <a:headEnd type="none" w="med" len="med"/>
                      <a:tailEnd type="none" w="med" len="med"/>
                    </a:lnR>
                    <a:lnT w="6350" cap="flat" cmpd="sng" algn="ctr">
                      <a:solidFill>
                        <a:srgbClr val="D7DCE5"/>
                      </a:solidFill>
                      <a:prstDash val="solid"/>
                      <a:round/>
                      <a:headEnd type="none" w="med" len="med"/>
                      <a:tailEnd type="none" w="med" len="med"/>
                    </a:lnT>
                    <a:lnB w="6350" cap="flat" cmpd="sng" algn="ctr">
                      <a:solidFill>
                        <a:srgbClr val="D7DCE5"/>
                      </a:solidFill>
                      <a:prstDash val="solid"/>
                      <a:round/>
                      <a:headEnd type="none" w="med" len="med"/>
                      <a:tailEnd type="none" w="med" len="med"/>
                    </a:lnB>
                  </a:tcPr>
                </a:tc>
              </a:tr>
              <a:tr h="585216">
                <a:tc>
                  <a:txBody>
                    <a:bodyPr/>
                    <a:lstStyle/>
                    <a:p>
                      <a:pPr indent="0" marL="0">
                        <a:buNone/>
                      </a:pPr>
                      <a:r>
                        <a:rPr lang="en-US" sz="1400" b="1" dirty="0">
                          <a:solidFill>
                            <a:srgbClr val="14213D"/>
                          </a:solidFill>
                          <a:latin typeface="+mn-lt" pitchFamily="34" charset="0"/>
                          <a:ea typeface="+mn-lt" pitchFamily="34" charset="-122"/>
                          <a:cs typeface="+mn-lt" pitchFamily="34" charset="-120"/>
                        </a:rPr>
                        <a:t>dilation_size</a:t>
                      </a:r>
                      <a:endParaRPr lang="en-US" sz="1400" dirty="0">
                        <a:latin typeface="+mn-lt" charset="0"/>
                        <a:ea typeface="+mn-lt" charset="0"/>
                        <a:cs typeface="+mn-lt" charset="0"/>
                      </a:endParaRPr>
                    </a:p>
                  </a:txBody>
                  <a:tcPr marL="91440" marR="91440" marT="45720" marB="45720" anchor="ctr">
                    <a:lnL w="6350" cap="flat" cmpd="sng" algn="ctr">
                      <a:solidFill>
                        <a:srgbClr val="D7DCE5"/>
                      </a:solidFill>
                      <a:prstDash val="solid"/>
                      <a:round/>
                      <a:headEnd type="none" w="med" len="med"/>
                      <a:tailEnd type="none" w="med" len="med"/>
                    </a:lnL>
                    <a:lnR w="6350" cap="flat" cmpd="sng" algn="ctr">
                      <a:solidFill>
                        <a:srgbClr val="D7DCE5"/>
                      </a:solidFill>
                      <a:prstDash val="solid"/>
                      <a:round/>
                      <a:headEnd type="none" w="med" len="med"/>
                      <a:tailEnd type="none" w="med" len="med"/>
                    </a:lnR>
                    <a:lnT w="6350" cap="flat" cmpd="sng" algn="ctr">
                      <a:solidFill>
                        <a:srgbClr val="D7DCE5"/>
                      </a:solidFill>
                      <a:prstDash val="solid"/>
                      <a:round/>
                      <a:headEnd type="none" w="med" len="med"/>
                      <a:tailEnd type="none" w="med" len="med"/>
                    </a:lnT>
                    <a:lnB w="6350" cap="flat" cmpd="sng" algn="ctr">
                      <a:solidFill>
                        <a:srgbClr val="D7DCE5"/>
                      </a:solidFill>
                      <a:prstDash val="solid"/>
                      <a:round/>
                      <a:headEnd type="none" w="med" len="med"/>
                      <a:tailEnd type="none" w="med" len="med"/>
                    </a:lnB>
                  </a:tcPr>
                </a:tc>
                <a:tc>
                  <a:txBody>
                    <a:bodyPr/>
                    <a:lstStyle/>
                    <a:p>
                      <a:pPr indent="0" marL="0">
                        <a:buNone/>
                      </a:pPr>
                      <a:r>
                        <a:rPr lang="en-US" sz="1400" dirty="0">
                          <a:solidFill>
                            <a:srgbClr val="14213D"/>
                          </a:solidFill>
                          <a:latin typeface="+mn-lt" pitchFamily="34" charset="0"/>
                          <a:ea typeface="+mn-lt" pitchFamily="34" charset="-122"/>
                          <a:cs typeface="+mn-lt" pitchFamily="34" charset="-120"/>
                        </a:rPr>
                        <a:t>17 px</a:t>
                      </a:r>
                      <a:endParaRPr lang="en-US" sz="1400" dirty="0">
                        <a:latin typeface="+mn-lt" charset="0"/>
                        <a:ea typeface="+mn-lt" charset="0"/>
                        <a:cs typeface="+mn-lt" charset="0"/>
                      </a:endParaRPr>
                    </a:p>
                  </a:txBody>
                  <a:tcPr marL="91440" marR="91440" marT="45720" marB="45720" anchor="ctr">
                    <a:lnL w="6350" cap="flat" cmpd="sng" algn="ctr">
                      <a:solidFill>
                        <a:srgbClr val="D7DCE5"/>
                      </a:solidFill>
                      <a:prstDash val="solid"/>
                      <a:round/>
                      <a:headEnd type="none" w="med" len="med"/>
                      <a:tailEnd type="none" w="med" len="med"/>
                    </a:lnL>
                    <a:lnR w="6350" cap="flat" cmpd="sng" algn="ctr">
                      <a:solidFill>
                        <a:srgbClr val="D7DCE5"/>
                      </a:solidFill>
                      <a:prstDash val="solid"/>
                      <a:round/>
                      <a:headEnd type="none" w="med" len="med"/>
                      <a:tailEnd type="none" w="med" len="med"/>
                    </a:lnR>
                    <a:lnT w="6350" cap="flat" cmpd="sng" algn="ctr">
                      <a:solidFill>
                        <a:srgbClr val="D7DCE5"/>
                      </a:solidFill>
                      <a:prstDash val="solid"/>
                      <a:round/>
                      <a:headEnd type="none" w="med" len="med"/>
                      <a:tailEnd type="none" w="med" len="med"/>
                    </a:lnT>
                    <a:lnB w="6350" cap="flat" cmpd="sng" algn="ctr">
                      <a:solidFill>
                        <a:srgbClr val="D7DCE5"/>
                      </a:solidFill>
                      <a:prstDash val="solid"/>
                      <a:round/>
                      <a:headEnd type="none" w="med" len="med"/>
                      <a:tailEnd type="none" w="med" len="med"/>
                    </a:lnB>
                  </a:tcPr>
                </a:tc>
                <a:tc>
                  <a:txBody>
                    <a:bodyPr/>
                    <a:lstStyle/>
                    <a:p>
                      <a:pPr indent="0" marL="0">
                        <a:buNone/>
                      </a:pPr>
                      <a:r>
                        <a:rPr lang="en-US" sz="1400" dirty="0">
                          <a:solidFill>
                            <a:srgbClr val="14213D"/>
                          </a:solidFill>
                          <a:latin typeface="+mn-lt" pitchFamily="34" charset="0"/>
                          <a:ea typeface="+mn-lt" pitchFamily="34" charset="-122"/>
                          <a:cs typeface="+mn-lt" pitchFamily="34" charset="-120"/>
                        </a:rPr>
                        <a:t>Padding around the hull mask</a:t>
                      </a:r>
                      <a:endParaRPr lang="en-US" sz="1400" dirty="0">
                        <a:latin typeface="+mn-lt" charset="0"/>
                        <a:ea typeface="+mn-lt" charset="0"/>
                        <a:cs typeface="+mn-lt" charset="0"/>
                      </a:endParaRPr>
                    </a:p>
                  </a:txBody>
                  <a:tcPr marL="91440" marR="91440" marT="45720" marB="45720" anchor="ctr">
                    <a:lnL w="6350" cap="flat" cmpd="sng" algn="ctr">
                      <a:solidFill>
                        <a:srgbClr val="D7DCE5"/>
                      </a:solidFill>
                      <a:prstDash val="solid"/>
                      <a:round/>
                      <a:headEnd type="none" w="med" len="med"/>
                      <a:tailEnd type="none" w="med" len="med"/>
                    </a:lnL>
                    <a:lnR w="6350" cap="flat" cmpd="sng" algn="ctr">
                      <a:solidFill>
                        <a:srgbClr val="D7DCE5"/>
                      </a:solidFill>
                      <a:prstDash val="solid"/>
                      <a:round/>
                      <a:headEnd type="none" w="med" len="med"/>
                      <a:tailEnd type="none" w="med" len="med"/>
                    </a:lnR>
                    <a:lnT w="6350" cap="flat" cmpd="sng" algn="ctr">
                      <a:solidFill>
                        <a:srgbClr val="D7DCE5"/>
                      </a:solidFill>
                      <a:prstDash val="solid"/>
                      <a:round/>
                      <a:headEnd type="none" w="med" len="med"/>
                      <a:tailEnd type="none" w="med" len="med"/>
                    </a:lnT>
                    <a:lnB w="6350" cap="flat" cmpd="sng" algn="ctr">
                      <a:solidFill>
                        <a:srgbClr val="D7DCE5"/>
                      </a:solidFill>
                      <a:prstDash val="solid"/>
                      <a:round/>
                      <a:headEnd type="none" w="med" len="med"/>
                      <a:tailEnd type="none" w="med" len="med"/>
                    </a:lnB>
                  </a:tcPr>
                </a:tc>
                <a:tc>
                  <a:txBody>
                    <a:bodyPr/>
                    <a:lstStyle/>
                    <a:p>
                      <a:pPr indent="0" marL="0">
                        <a:buNone/>
                      </a:pPr>
                      <a:r>
                        <a:rPr lang="en-US" sz="1400" dirty="0">
                          <a:solidFill>
                            <a:srgbClr val="14213D"/>
                          </a:solidFill>
                          <a:latin typeface="+mn-lt" pitchFamily="34" charset="0"/>
                          <a:ea typeface="+mn-lt" pitchFamily="34" charset="-122"/>
                          <a:cs typeface="+mn-lt" pitchFamily="34" charset="-120"/>
                        </a:rPr>
                        <a:t>Higher recall, lower precision</a:t>
                      </a:r>
                      <a:endParaRPr lang="en-US" sz="1400" dirty="0">
                        <a:latin typeface="+mn-lt" charset="0"/>
                        <a:ea typeface="+mn-lt" charset="0"/>
                        <a:cs typeface="+mn-lt" charset="0"/>
                      </a:endParaRPr>
                    </a:p>
                  </a:txBody>
                  <a:tcPr marL="91440" marR="91440" marT="45720" marB="45720" anchor="ctr">
                    <a:lnL w="6350" cap="flat" cmpd="sng" algn="ctr">
                      <a:solidFill>
                        <a:srgbClr val="D7DCE5"/>
                      </a:solidFill>
                      <a:prstDash val="solid"/>
                      <a:round/>
                      <a:headEnd type="none" w="med" len="med"/>
                      <a:tailEnd type="none" w="med" len="med"/>
                    </a:lnL>
                    <a:lnR w="6350" cap="flat" cmpd="sng" algn="ctr">
                      <a:solidFill>
                        <a:srgbClr val="D7DCE5"/>
                      </a:solidFill>
                      <a:prstDash val="solid"/>
                      <a:round/>
                      <a:headEnd type="none" w="med" len="med"/>
                      <a:tailEnd type="none" w="med" len="med"/>
                    </a:lnR>
                    <a:lnT w="6350" cap="flat" cmpd="sng" algn="ctr">
                      <a:solidFill>
                        <a:srgbClr val="D7DCE5"/>
                      </a:solidFill>
                      <a:prstDash val="solid"/>
                      <a:round/>
                      <a:headEnd type="none" w="med" len="med"/>
                      <a:tailEnd type="none" w="med" len="med"/>
                    </a:lnT>
                    <a:lnB w="6350" cap="flat" cmpd="sng" algn="ctr">
                      <a:solidFill>
                        <a:srgbClr val="D7DCE5"/>
                      </a:solidFill>
                      <a:prstDash val="solid"/>
                      <a:round/>
                      <a:headEnd type="none" w="med" len="med"/>
                      <a:tailEnd type="none" w="med" len="med"/>
                    </a:lnB>
                  </a:tcPr>
                </a:tc>
              </a:tr>
            </a:tbl>
          </a:graphicData>
        </a:graphic>
      </p:graphicFrame>
      <p:sp>
        <p:nvSpPr>
          <p:cNvPr id="4" name="icon-bg-232"/>
          <p:cNvSpPr/>
          <p:nvPr/>
        </p:nvSpPr>
        <p:spPr>
          <a:xfrm>
            <a:off x="548640" y="5760720"/>
            <a:ext cx="457200" cy="457200"/>
          </a:xfrm>
          <a:prstGeom prst="ellipse">
            <a:avLst/>
          </a:prstGeom>
          <a:solidFill>
            <a:schemeClr val="accent1"/>
          </a:solidFill>
          <a:ln/>
        </p:spPr>
      </p:sp>
      <p:pic>
        <p:nvPicPr>
          <p:cNvPr id="5" name="icon-233" descr="SlidersH icon">    </p:cNvPr>
          <p:cNvPicPr>
            <a:picLocks noChangeAspect="1"/>
          </p:cNvPicPr>
          <p:nvPr/>
        </p:nvPicPr>
        <p:blipFill>
          <a:blip r:embed="rId1"/>
          <a:stretch>
            <a:fillRect/>
          </a:stretch>
        </p:blipFill>
        <p:spPr>
          <a:xfrm>
            <a:off x="672084" y="5884164"/>
            <a:ext cx="210312" cy="210312"/>
          </a:xfrm>
          <a:prstGeom prst="rect">
            <a:avLst/>
          </a:prstGeom>
        </p:spPr>
      </p:pic>
      <p:sp>
        <p:nvSpPr>
          <p:cNvPr id="6" name="text-234"/>
          <p:cNvSpPr txBox="1"/>
          <p:nvPr/>
        </p:nvSpPr>
        <p:spPr>
          <a:xfrm>
            <a:off x="1188720" y="5760720"/>
            <a:ext cx="10058400" cy="457200"/>
          </a:xfrm>
          <a:prstGeom prst="rect">
            <a:avLst/>
          </a:prstGeom>
          <a:noFill/>
          <a:ln/>
        </p:spPr>
        <p:txBody>
          <a:bodyPr wrap="square" lIns="0" tIns="0" rIns="0" bIns="0" rtlCol="0" anchor="ctr"/>
          <a:lstStyle/>
          <a:p>
            <a:pPr indent="0" marL="0">
              <a:buNone/>
            </a:pPr>
            <a:r>
              <a:rPr lang="en-US" sz="1500" dirty="0">
                <a:solidFill>
                  <a:schemeClr val="accent4"/>
                </a:solidFill>
              </a:rPr>
              <a:t>All six settings can be changed live in the web app sidebar to see their effect.</a:t>
            </a:r>
            <a:endParaRPr lang="en-US" sz="15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Implementation and Evaluation Metrics</a:t>
            </a:r>
            <a:endParaRPr lang="en-US" sz="3600" dirty="0"/>
          </a:p>
        </p:txBody>
      </p:sp>
      <p:sp>
        <p:nvSpPr>
          <p:cNvPr id="3" name="card-235"/>
          <p:cNvSpPr/>
          <p:nvPr/>
        </p:nvSpPr>
        <p:spPr>
          <a:xfrm>
            <a:off x="548640" y="1463040"/>
            <a:ext cx="5852160" cy="1417320"/>
          </a:xfrm>
          <a:prstGeom prst="roundRect">
            <a:avLst>
              <a:gd name="adj" fmla="val 6452"/>
            </a:avLst>
          </a:prstGeom>
          <a:solidFill>
            <a:schemeClr val="bg2"/>
          </a:solidFill>
          <a:ln/>
        </p:spPr>
      </p:sp>
      <p:sp>
        <p:nvSpPr>
          <p:cNvPr id="4" name="icon-bg-236"/>
          <p:cNvSpPr/>
          <p:nvPr/>
        </p:nvSpPr>
        <p:spPr>
          <a:xfrm>
            <a:off x="822960" y="1828800"/>
            <a:ext cx="685800" cy="685800"/>
          </a:xfrm>
          <a:prstGeom prst="ellipse">
            <a:avLst/>
          </a:prstGeom>
          <a:solidFill>
            <a:schemeClr val="accent1"/>
          </a:solidFill>
          <a:ln/>
        </p:spPr>
      </p:sp>
      <p:pic>
        <p:nvPicPr>
          <p:cNvPr id="5" name="icon-237" descr="Code icon">    </p:cNvPr>
          <p:cNvPicPr>
            <a:picLocks noChangeAspect="1"/>
          </p:cNvPicPr>
          <p:nvPr/>
        </p:nvPicPr>
        <p:blipFill>
          <a:blip r:embed="rId1"/>
          <a:stretch>
            <a:fillRect/>
          </a:stretch>
        </p:blipFill>
        <p:spPr>
          <a:xfrm>
            <a:off x="1008126" y="2013966"/>
            <a:ext cx="315468" cy="315468"/>
          </a:xfrm>
          <a:prstGeom prst="rect">
            <a:avLst/>
          </a:prstGeom>
        </p:spPr>
      </p:pic>
      <p:sp>
        <p:nvSpPr>
          <p:cNvPr id="6" name="text-238"/>
          <p:cNvSpPr txBox="1"/>
          <p:nvPr/>
        </p:nvSpPr>
        <p:spPr>
          <a:xfrm>
            <a:off x="1783080" y="1645920"/>
            <a:ext cx="4389120" cy="365760"/>
          </a:xfrm>
          <a:prstGeom prst="rect">
            <a:avLst/>
          </a:prstGeom>
          <a:noFill/>
          <a:ln/>
        </p:spPr>
        <p:txBody>
          <a:bodyPr wrap="square" lIns="0" tIns="0" rIns="0" bIns="0" rtlCol="0" anchor="t"/>
          <a:lstStyle/>
          <a:p>
            <a:pPr indent="0" marL="0">
              <a:buNone/>
            </a:pPr>
            <a:r>
              <a:rPr lang="en-US" sz="1800" b="1" dirty="0">
                <a:solidFill>
                  <a:schemeClr val="tx1"/>
                </a:solidFill>
              </a:rPr>
              <a:t>detect.py</a:t>
            </a:r>
            <a:endParaRPr lang="en-US" sz="1800" dirty="0"/>
          </a:p>
        </p:txBody>
      </p:sp>
      <p:sp>
        <p:nvSpPr>
          <p:cNvPr id="7" name="text-239"/>
          <p:cNvSpPr txBox="1"/>
          <p:nvPr/>
        </p:nvSpPr>
        <p:spPr>
          <a:xfrm>
            <a:off x="1783080" y="2057400"/>
            <a:ext cx="4389120" cy="777240"/>
          </a:xfrm>
          <a:prstGeom prst="rect">
            <a:avLst/>
          </a:prstGeom>
          <a:noFill/>
          <a:ln/>
        </p:spPr>
        <p:txBody>
          <a:bodyPr wrap="square" lIns="0" tIns="0" rIns="0" bIns="0" rtlCol="0" anchor="t"/>
          <a:lstStyle/>
          <a:p>
            <a:pPr indent="0" marL="0">
              <a:buNone/>
            </a:pPr>
            <a:r>
              <a:rPr lang="en-US" sz="1500" dirty="0">
                <a:solidFill>
                  <a:schemeClr val="accent4"/>
                </a:solidFill>
              </a:rPr>
              <a:t>SIFT, masked matching, RANSAC, hull mask, overlay, metrics and a command-line interface</a:t>
            </a:r>
            <a:endParaRPr lang="en-US" sz="1500" dirty="0"/>
          </a:p>
        </p:txBody>
      </p:sp>
      <p:sp>
        <p:nvSpPr>
          <p:cNvPr id="8" name="card-240"/>
          <p:cNvSpPr/>
          <p:nvPr/>
        </p:nvSpPr>
        <p:spPr>
          <a:xfrm>
            <a:off x="548640" y="3063240"/>
            <a:ext cx="5852160" cy="1417320"/>
          </a:xfrm>
          <a:prstGeom prst="roundRect">
            <a:avLst>
              <a:gd name="adj" fmla="val 6452"/>
            </a:avLst>
          </a:prstGeom>
          <a:solidFill>
            <a:schemeClr val="bg2"/>
          </a:solidFill>
          <a:ln/>
        </p:spPr>
      </p:sp>
      <p:sp>
        <p:nvSpPr>
          <p:cNvPr id="9" name="icon-bg-241"/>
          <p:cNvSpPr/>
          <p:nvPr/>
        </p:nvSpPr>
        <p:spPr>
          <a:xfrm>
            <a:off x="822960" y="3429000"/>
            <a:ext cx="685800" cy="685800"/>
          </a:xfrm>
          <a:prstGeom prst="ellipse">
            <a:avLst/>
          </a:prstGeom>
          <a:solidFill>
            <a:schemeClr val="accent1"/>
          </a:solidFill>
          <a:ln/>
        </p:spPr>
      </p:sp>
      <p:pic>
        <p:nvPicPr>
          <p:cNvPr id="10" name="icon-242" descr="Table icon">    </p:cNvPr>
          <p:cNvPicPr>
            <a:picLocks noChangeAspect="1"/>
          </p:cNvPicPr>
          <p:nvPr/>
        </p:nvPicPr>
        <p:blipFill>
          <a:blip r:embed="rId2"/>
          <a:stretch>
            <a:fillRect/>
          </a:stretch>
        </p:blipFill>
        <p:spPr>
          <a:xfrm>
            <a:off x="1008126" y="3614166"/>
            <a:ext cx="315468" cy="315468"/>
          </a:xfrm>
          <a:prstGeom prst="rect">
            <a:avLst/>
          </a:prstGeom>
        </p:spPr>
      </p:pic>
      <p:sp>
        <p:nvSpPr>
          <p:cNvPr id="11" name="text-243"/>
          <p:cNvSpPr txBox="1"/>
          <p:nvPr/>
        </p:nvSpPr>
        <p:spPr>
          <a:xfrm>
            <a:off x="1783080" y="3246120"/>
            <a:ext cx="4389120" cy="365760"/>
          </a:xfrm>
          <a:prstGeom prst="rect">
            <a:avLst/>
          </a:prstGeom>
          <a:noFill/>
          <a:ln/>
        </p:spPr>
        <p:txBody>
          <a:bodyPr wrap="square" lIns="0" tIns="0" rIns="0" bIns="0" rtlCol="0" anchor="t"/>
          <a:lstStyle/>
          <a:p>
            <a:pPr indent="0" marL="0">
              <a:buNone/>
            </a:pPr>
            <a:r>
              <a:rPr lang="en-US" sz="1800" b="1" dirty="0">
                <a:solidFill>
                  <a:schemeClr val="tx1"/>
                </a:solidFill>
              </a:rPr>
              <a:t>evaluate.py</a:t>
            </a:r>
            <a:endParaRPr lang="en-US" sz="1800" dirty="0"/>
          </a:p>
        </p:txBody>
      </p:sp>
      <p:sp>
        <p:nvSpPr>
          <p:cNvPr id="12" name="text-244"/>
          <p:cNvSpPr txBox="1"/>
          <p:nvPr/>
        </p:nvSpPr>
        <p:spPr>
          <a:xfrm>
            <a:off x="1783080" y="3657600"/>
            <a:ext cx="4389120" cy="777240"/>
          </a:xfrm>
          <a:prstGeom prst="rect">
            <a:avLst/>
          </a:prstGeom>
          <a:noFill/>
          <a:ln/>
        </p:spPr>
        <p:txBody>
          <a:bodyPr wrap="square" lIns="0" tIns="0" rIns="0" bIns="0" rtlCol="0" anchor="t"/>
          <a:lstStyle/>
          <a:p>
            <a:pPr indent="0" marL="0">
              <a:buNone/>
            </a:pPr>
            <a:r>
              <a:rPr lang="en-US" sz="1500" dirty="0">
                <a:solidFill>
                  <a:schemeClr val="accent4"/>
                </a:solidFill>
              </a:rPr>
              <a:t>Runs F and O images of chosen IDs; writes CSV, JSON summary, masks and overlays</a:t>
            </a:r>
            <a:endParaRPr lang="en-US" sz="1500" dirty="0"/>
          </a:p>
        </p:txBody>
      </p:sp>
      <p:sp>
        <p:nvSpPr>
          <p:cNvPr id="13" name="card-245"/>
          <p:cNvSpPr/>
          <p:nvPr/>
        </p:nvSpPr>
        <p:spPr>
          <a:xfrm>
            <a:off x="548640" y="4663440"/>
            <a:ext cx="5852160" cy="1417320"/>
          </a:xfrm>
          <a:prstGeom prst="roundRect">
            <a:avLst>
              <a:gd name="adj" fmla="val 6452"/>
            </a:avLst>
          </a:prstGeom>
          <a:solidFill>
            <a:schemeClr val="bg2"/>
          </a:solidFill>
          <a:ln/>
        </p:spPr>
      </p:sp>
      <p:sp>
        <p:nvSpPr>
          <p:cNvPr id="14" name="icon-bg-246"/>
          <p:cNvSpPr/>
          <p:nvPr/>
        </p:nvSpPr>
        <p:spPr>
          <a:xfrm>
            <a:off x="822960" y="5029200"/>
            <a:ext cx="685800" cy="685800"/>
          </a:xfrm>
          <a:prstGeom prst="ellipse">
            <a:avLst/>
          </a:prstGeom>
          <a:solidFill>
            <a:schemeClr val="accent1"/>
          </a:solidFill>
          <a:ln/>
        </p:spPr>
      </p:sp>
      <p:pic>
        <p:nvPicPr>
          <p:cNvPr id="15" name="icon-247" descr="Desktop icon">    </p:cNvPr>
          <p:cNvPicPr>
            <a:picLocks noChangeAspect="1"/>
          </p:cNvPicPr>
          <p:nvPr/>
        </p:nvPicPr>
        <p:blipFill>
          <a:blip r:embed="rId3"/>
          <a:stretch>
            <a:fillRect/>
          </a:stretch>
        </p:blipFill>
        <p:spPr>
          <a:xfrm>
            <a:off x="1008126" y="5214366"/>
            <a:ext cx="315468" cy="315468"/>
          </a:xfrm>
          <a:prstGeom prst="rect">
            <a:avLst/>
          </a:prstGeom>
        </p:spPr>
      </p:pic>
      <p:sp>
        <p:nvSpPr>
          <p:cNvPr id="16" name="text-248"/>
          <p:cNvSpPr txBox="1"/>
          <p:nvPr/>
        </p:nvSpPr>
        <p:spPr>
          <a:xfrm>
            <a:off x="1783080" y="4846320"/>
            <a:ext cx="4389120" cy="365760"/>
          </a:xfrm>
          <a:prstGeom prst="rect">
            <a:avLst/>
          </a:prstGeom>
          <a:noFill/>
          <a:ln/>
        </p:spPr>
        <p:txBody>
          <a:bodyPr wrap="square" lIns="0" tIns="0" rIns="0" bIns="0" rtlCol="0" anchor="t"/>
          <a:lstStyle/>
          <a:p>
            <a:pPr indent="0" marL="0">
              <a:buNone/>
            </a:pPr>
            <a:r>
              <a:rPr lang="en-US" sz="1800" b="1" dirty="0">
                <a:solidFill>
                  <a:schemeClr val="tx1"/>
                </a:solidFill>
              </a:rPr>
              <a:t>app.py</a:t>
            </a:r>
            <a:endParaRPr lang="en-US" sz="1800" dirty="0"/>
          </a:p>
        </p:txBody>
      </p:sp>
      <p:sp>
        <p:nvSpPr>
          <p:cNvPr id="17" name="text-249"/>
          <p:cNvSpPr txBox="1"/>
          <p:nvPr/>
        </p:nvSpPr>
        <p:spPr>
          <a:xfrm>
            <a:off x="1783080" y="5257800"/>
            <a:ext cx="4389120" cy="777240"/>
          </a:xfrm>
          <a:prstGeom prst="rect">
            <a:avLst/>
          </a:prstGeom>
          <a:noFill/>
          <a:ln/>
        </p:spPr>
        <p:txBody>
          <a:bodyPr wrap="square" lIns="0" tIns="0" rIns="0" bIns="0" rtlCol="0" anchor="t"/>
          <a:lstStyle/>
          <a:p>
            <a:pPr indent="0" marL="0">
              <a:buNone/>
            </a:pPr>
            <a:r>
              <a:rPr lang="en-US" sz="1500" dirty="0">
                <a:solidFill>
                  <a:schemeClr val="accent4"/>
                </a:solidFill>
              </a:rPr>
              <a:t>Streamlit interface that calls the same detector function</a:t>
            </a:r>
            <a:endParaRPr lang="en-US" sz="1500" dirty="0"/>
          </a:p>
        </p:txBody>
      </p:sp>
      <p:sp>
        <p:nvSpPr>
          <p:cNvPr id="18" name="card-250"/>
          <p:cNvSpPr/>
          <p:nvPr/>
        </p:nvSpPr>
        <p:spPr>
          <a:xfrm>
            <a:off x="6675120" y="1463040"/>
            <a:ext cx="4965192" cy="2286000"/>
          </a:xfrm>
          <a:prstGeom prst="roundRect">
            <a:avLst>
              <a:gd name="adj" fmla="val 4000"/>
            </a:avLst>
          </a:prstGeom>
          <a:solidFill>
            <a:schemeClr val="bg2"/>
          </a:solidFill>
          <a:ln/>
        </p:spPr>
      </p:sp>
      <p:sp>
        <p:nvSpPr>
          <p:cNvPr id="19" name="text-251"/>
          <p:cNvSpPr txBox="1"/>
          <p:nvPr/>
        </p:nvSpPr>
        <p:spPr>
          <a:xfrm>
            <a:off x="6949440" y="1627632"/>
            <a:ext cx="4389120" cy="365760"/>
          </a:xfrm>
          <a:prstGeom prst="rect">
            <a:avLst/>
          </a:prstGeom>
          <a:noFill/>
          <a:ln/>
        </p:spPr>
        <p:txBody>
          <a:bodyPr wrap="square" lIns="0" tIns="0" rIns="0" bIns="0" rtlCol="0" anchor="t"/>
          <a:lstStyle/>
          <a:p>
            <a:pPr indent="0" marL="0">
              <a:buNone/>
            </a:pPr>
            <a:r>
              <a:rPr lang="en-US" sz="2000" b="1" dirty="0">
                <a:solidFill>
                  <a:schemeClr val="tx2"/>
                </a:solidFill>
              </a:rPr>
              <a:t>Image level</a:t>
            </a:r>
            <a:endParaRPr lang="en-US" sz="2000" dirty="0"/>
          </a:p>
        </p:txBody>
      </p:sp>
      <p:sp>
        <p:nvSpPr>
          <p:cNvPr id="20" name="text-252"/>
          <p:cNvSpPr txBox="1"/>
          <p:nvPr/>
        </p:nvSpPr>
        <p:spPr>
          <a:xfrm>
            <a:off x="6949440" y="2103120"/>
            <a:ext cx="4480560" cy="1554480"/>
          </a:xfrm>
          <a:prstGeom prst="rect">
            <a:avLst/>
          </a:prstGeom>
          <a:noFill/>
          <a:ln/>
        </p:spPr>
        <p:txBody>
          <a:bodyPr wrap="square" lIns="0" tIns="0" rIns="0" bIns="0" rtlCol="0" anchor="t"/>
          <a:lstStyle/>
          <a:p>
            <a:pPr marL="203200" indent="-203200">
              <a:spcAft>
                <a:spcPts val="1000"/>
              </a:spcAft>
              <a:buSzPct val="100000"/>
              <a:buChar char="•"/>
            </a:pPr>
            <a:r>
              <a:rPr lang="en-US" sz="1600" dirty="0">
                <a:solidFill>
                  <a:schemeClr val="tx1"/>
                </a:solidFill>
              </a:rPr>
              <a:t>Flagged forged = TP, missed = FN</a:t>
            </a:r>
            <a:endParaRPr lang="en-US" sz="1600" dirty="0"/>
          </a:p>
          <a:p>
            <a:pPr marL="203200" indent="-203200">
              <a:spcAft>
                <a:spcPts val="1000"/>
              </a:spcAft>
              <a:buSzPct val="100000"/>
              <a:buChar char="•"/>
            </a:pPr>
            <a:r>
              <a:rPr lang="en-US" sz="1600" dirty="0">
                <a:solidFill>
                  <a:schemeClr val="tx1"/>
                </a:solidFill>
              </a:rPr>
              <a:t>Flagged original = FP, clean = TN</a:t>
            </a:r>
            <a:endParaRPr lang="en-US" sz="1600" dirty="0"/>
          </a:p>
          <a:p>
            <a:pPr marL="203200" indent="-203200">
              <a:spcAft>
                <a:spcPts val="1000"/>
              </a:spcAft>
              <a:buSzPct val="100000"/>
              <a:buChar char="•"/>
            </a:pPr>
            <a:r>
              <a:rPr lang="en-US" sz="1600" dirty="0">
                <a:solidFill>
                  <a:schemeClr val="tx1"/>
                </a:solidFill>
              </a:rPr>
              <a:t>Accuracy, precision, recall, F1</a:t>
            </a:r>
            <a:endParaRPr lang="en-US" sz="1600" dirty="0"/>
          </a:p>
        </p:txBody>
      </p:sp>
      <p:sp>
        <p:nvSpPr>
          <p:cNvPr id="21" name="card-253"/>
          <p:cNvSpPr/>
          <p:nvPr/>
        </p:nvSpPr>
        <p:spPr>
          <a:xfrm>
            <a:off x="6675120" y="3931920"/>
            <a:ext cx="4965192" cy="2194560"/>
          </a:xfrm>
          <a:prstGeom prst="roundRect">
            <a:avLst>
              <a:gd name="adj" fmla="val 4167"/>
            </a:avLst>
          </a:prstGeom>
          <a:solidFill>
            <a:schemeClr val="bg2"/>
          </a:solidFill>
          <a:ln/>
        </p:spPr>
      </p:sp>
      <p:sp>
        <p:nvSpPr>
          <p:cNvPr id="22" name="text-254"/>
          <p:cNvSpPr txBox="1"/>
          <p:nvPr/>
        </p:nvSpPr>
        <p:spPr>
          <a:xfrm>
            <a:off x="6949440" y="4096512"/>
            <a:ext cx="4389120" cy="365760"/>
          </a:xfrm>
          <a:prstGeom prst="rect">
            <a:avLst/>
          </a:prstGeom>
          <a:noFill/>
          <a:ln/>
        </p:spPr>
        <p:txBody>
          <a:bodyPr wrap="square" lIns="0" tIns="0" rIns="0" bIns="0" rtlCol="0" anchor="t"/>
          <a:lstStyle/>
          <a:p>
            <a:pPr indent="0" marL="0">
              <a:buNone/>
            </a:pPr>
            <a:r>
              <a:rPr lang="en-US" sz="2000" b="1" dirty="0">
                <a:solidFill>
                  <a:schemeClr val="tx2"/>
                </a:solidFill>
              </a:rPr>
              <a:t>Pixel level (vs. B mask)</a:t>
            </a:r>
            <a:endParaRPr lang="en-US" sz="2000" dirty="0"/>
          </a:p>
        </p:txBody>
      </p:sp>
      <p:sp>
        <p:nvSpPr>
          <p:cNvPr id="23" name="text-255"/>
          <p:cNvSpPr txBox="1"/>
          <p:nvPr/>
        </p:nvSpPr>
        <p:spPr>
          <a:xfrm>
            <a:off x="6949440" y="4572000"/>
            <a:ext cx="4480560" cy="1508760"/>
          </a:xfrm>
          <a:prstGeom prst="rect">
            <a:avLst/>
          </a:prstGeom>
          <a:noFill/>
          <a:ln/>
        </p:spPr>
        <p:txBody>
          <a:bodyPr wrap="square" lIns="0" tIns="0" rIns="0" bIns="0" rtlCol="0" anchor="t"/>
          <a:lstStyle/>
          <a:p>
            <a:pPr marL="203200" indent="-203200">
              <a:spcAft>
                <a:spcPts val="1000"/>
              </a:spcAft>
              <a:buSzPct val="100000"/>
              <a:buChar char="•"/>
            </a:pPr>
            <a:r>
              <a:rPr lang="en-US" sz="1600" dirty="0">
                <a:solidFill>
                  <a:schemeClr val="tx1"/>
                </a:solidFill>
              </a:rPr>
              <a:t>Precision, recall, F1 and IoU</a:t>
            </a:r>
            <a:endParaRPr lang="en-US" sz="1600" dirty="0"/>
          </a:p>
          <a:p>
            <a:pPr marL="203200" indent="-203200">
              <a:spcAft>
                <a:spcPts val="1000"/>
              </a:spcAft>
              <a:buSzPct val="100000"/>
              <a:buChar char="•"/>
            </a:pPr>
            <a:r>
              <a:rPr lang="en-US" sz="1600" dirty="0">
                <a:solidFill>
                  <a:schemeClr val="tx1"/>
                </a:solidFill>
              </a:rPr>
              <a:t>IoU = TP / (TP + FP + FN)</a:t>
            </a:r>
            <a:endParaRPr lang="en-US" sz="1600" dirty="0"/>
          </a:p>
          <a:p>
            <a:pPr marL="203200" indent="-203200">
              <a:spcAft>
                <a:spcPts val="1000"/>
              </a:spcAft>
              <a:buSzPct val="100000"/>
              <a:buChar char="•"/>
            </a:pPr>
            <a:r>
              <a:rPr lang="en-US" sz="1600" dirty="0">
                <a:solidFill>
                  <a:schemeClr val="tx1"/>
                </a:solidFill>
              </a:rPr>
              <a:t>Summed over all images; flags on originals count as FP</a:t>
            </a:r>
            <a:endParaRPr lang="en-US" sz="16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Frontend: Streamlit Web Interface</a:t>
            </a:r>
            <a:endParaRPr lang="en-US" sz="3600" dirty="0"/>
          </a:p>
        </p:txBody>
      </p:sp>
      <p:sp>
        <p:nvSpPr>
          <p:cNvPr id="3" name="num-bg-256"/>
          <p:cNvSpPr/>
          <p:nvPr/>
        </p:nvSpPr>
        <p:spPr>
          <a:xfrm>
            <a:off x="548640" y="1536192"/>
            <a:ext cx="502920" cy="502920"/>
          </a:xfrm>
          <a:prstGeom prst="ellipse">
            <a:avLst/>
          </a:prstGeom>
          <a:solidFill>
            <a:schemeClr val="accent1"/>
          </a:solidFill>
          <a:ln/>
        </p:spPr>
      </p:sp>
      <p:sp>
        <p:nvSpPr>
          <p:cNvPr id="4" name="text-257"/>
          <p:cNvSpPr txBox="1"/>
          <p:nvPr/>
        </p:nvSpPr>
        <p:spPr>
          <a:xfrm>
            <a:off x="548640" y="1536192"/>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text-258"/>
          <p:cNvSpPr txBox="1"/>
          <p:nvPr/>
        </p:nvSpPr>
        <p:spPr>
          <a:xfrm>
            <a:off x="1280160" y="1463040"/>
            <a:ext cx="4297680" cy="320040"/>
          </a:xfrm>
          <a:prstGeom prst="rect">
            <a:avLst/>
          </a:prstGeom>
          <a:noFill/>
          <a:ln/>
        </p:spPr>
        <p:txBody>
          <a:bodyPr wrap="square" lIns="0" tIns="0" rIns="0" bIns="0" rtlCol="0" anchor="t"/>
          <a:lstStyle/>
          <a:p>
            <a:pPr indent="0" marL="0">
              <a:buNone/>
            </a:pPr>
            <a:r>
              <a:rPr lang="en-US" sz="1700" b="1" dirty="0">
                <a:solidFill>
                  <a:schemeClr val="tx1"/>
                </a:solidFill>
              </a:rPr>
              <a:t>Add image</a:t>
            </a:r>
            <a:endParaRPr lang="en-US" sz="1700" dirty="0"/>
          </a:p>
        </p:txBody>
      </p:sp>
      <p:sp>
        <p:nvSpPr>
          <p:cNvPr id="6" name="text-259"/>
          <p:cNvSpPr txBox="1"/>
          <p:nvPr/>
        </p:nvSpPr>
        <p:spPr>
          <a:xfrm>
            <a:off x="1280160" y="1810512"/>
            <a:ext cx="4297680" cy="457200"/>
          </a:xfrm>
          <a:prstGeom prst="rect">
            <a:avLst/>
          </a:prstGeom>
          <a:noFill/>
          <a:ln/>
        </p:spPr>
        <p:txBody>
          <a:bodyPr wrap="square" lIns="0" tIns="0" rIns="0" bIns="0" rtlCol="0" anchor="t"/>
          <a:lstStyle/>
          <a:p>
            <a:pPr indent="0" marL="0">
              <a:buNone/>
            </a:pPr>
            <a:r>
              <a:rPr lang="en-US" sz="1400" dirty="0">
                <a:solidFill>
                  <a:schemeClr val="accent4"/>
                </a:solidFill>
              </a:rPr>
              <a:t>Upload a file or paste from the clipboard</a:t>
            </a:r>
            <a:endParaRPr lang="en-US" sz="1400" dirty="0"/>
          </a:p>
        </p:txBody>
      </p:sp>
      <p:sp>
        <p:nvSpPr>
          <p:cNvPr id="7" name="num-bg-260"/>
          <p:cNvSpPr/>
          <p:nvPr/>
        </p:nvSpPr>
        <p:spPr>
          <a:xfrm>
            <a:off x="548640" y="2468880"/>
            <a:ext cx="502920" cy="502920"/>
          </a:xfrm>
          <a:prstGeom prst="ellipse">
            <a:avLst/>
          </a:prstGeom>
          <a:solidFill>
            <a:schemeClr val="accent1"/>
          </a:solidFill>
          <a:ln/>
        </p:spPr>
      </p:sp>
      <p:sp>
        <p:nvSpPr>
          <p:cNvPr id="8" name="text-261"/>
          <p:cNvSpPr txBox="1"/>
          <p:nvPr/>
        </p:nvSpPr>
        <p:spPr>
          <a:xfrm>
            <a:off x="548640" y="2468880"/>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9" name="text-262"/>
          <p:cNvSpPr txBox="1"/>
          <p:nvPr/>
        </p:nvSpPr>
        <p:spPr>
          <a:xfrm>
            <a:off x="1280160" y="2395728"/>
            <a:ext cx="4297680" cy="320040"/>
          </a:xfrm>
          <a:prstGeom prst="rect">
            <a:avLst/>
          </a:prstGeom>
          <a:noFill/>
          <a:ln/>
        </p:spPr>
        <p:txBody>
          <a:bodyPr wrap="square" lIns="0" tIns="0" rIns="0" bIns="0" rtlCol="0" anchor="t"/>
          <a:lstStyle/>
          <a:p>
            <a:pPr indent="0" marL="0">
              <a:buNone/>
            </a:pPr>
            <a:r>
              <a:rPr lang="en-US" sz="1700" b="1" dirty="0">
                <a:solidFill>
                  <a:schemeClr val="tx1"/>
                </a:solidFill>
              </a:rPr>
              <a:t>Tune (optional)</a:t>
            </a:r>
            <a:endParaRPr lang="en-US" sz="1700" dirty="0"/>
          </a:p>
        </p:txBody>
      </p:sp>
      <p:sp>
        <p:nvSpPr>
          <p:cNvPr id="10" name="text-263"/>
          <p:cNvSpPr txBox="1"/>
          <p:nvPr/>
        </p:nvSpPr>
        <p:spPr>
          <a:xfrm>
            <a:off x="1280160" y="2743200"/>
            <a:ext cx="4297680" cy="457200"/>
          </a:xfrm>
          <a:prstGeom prst="rect">
            <a:avLst/>
          </a:prstGeom>
          <a:noFill/>
          <a:ln/>
        </p:spPr>
        <p:txBody>
          <a:bodyPr wrap="square" lIns="0" tIns="0" rIns="0" bIns="0" rtlCol="0" anchor="t"/>
          <a:lstStyle/>
          <a:p>
            <a:pPr indent="0" marL="0">
              <a:buNone/>
            </a:pPr>
            <a:r>
              <a:rPr lang="en-US" sz="1400" dirty="0">
                <a:solidFill>
                  <a:schemeClr val="accent4"/>
                </a:solidFill>
              </a:rPr>
              <a:t>Sidebar sliders for every detector setting</a:t>
            </a:r>
            <a:endParaRPr lang="en-US" sz="1400" dirty="0"/>
          </a:p>
        </p:txBody>
      </p:sp>
      <p:sp>
        <p:nvSpPr>
          <p:cNvPr id="11" name="num-bg-264"/>
          <p:cNvSpPr/>
          <p:nvPr/>
        </p:nvSpPr>
        <p:spPr>
          <a:xfrm>
            <a:off x="548640" y="3401568"/>
            <a:ext cx="502920" cy="502920"/>
          </a:xfrm>
          <a:prstGeom prst="ellipse">
            <a:avLst/>
          </a:prstGeom>
          <a:solidFill>
            <a:schemeClr val="accent1"/>
          </a:solidFill>
          <a:ln/>
        </p:spPr>
      </p:sp>
      <p:sp>
        <p:nvSpPr>
          <p:cNvPr id="12" name="text-265"/>
          <p:cNvSpPr txBox="1"/>
          <p:nvPr/>
        </p:nvSpPr>
        <p:spPr>
          <a:xfrm>
            <a:off x="548640" y="3401568"/>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3" name="text-266"/>
          <p:cNvSpPr txBox="1"/>
          <p:nvPr/>
        </p:nvSpPr>
        <p:spPr>
          <a:xfrm>
            <a:off x="1280160" y="3328416"/>
            <a:ext cx="4297680" cy="320040"/>
          </a:xfrm>
          <a:prstGeom prst="rect">
            <a:avLst/>
          </a:prstGeom>
          <a:noFill/>
          <a:ln/>
        </p:spPr>
        <p:txBody>
          <a:bodyPr wrap="square" lIns="0" tIns="0" rIns="0" bIns="0" rtlCol="0" anchor="t"/>
          <a:lstStyle/>
          <a:p>
            <a:pPr indent="0" marL="0">
              <a:buNone/>
            </a:pPr>
            <a:r>
              <a:rPr lang="en-US" sz="1700" b="1" dirty="0">
                <a:solidFill>
                  <a:schemeClr val="tx1"/>
                </a:solidFill>
              </a:rPr>
              <a:t>Detect</a:t>
            </a:r>
            <a:endParaRPr lang="en-US" sz="1700" dirty="0"/>
          </a:p>
        </p:txBody>
      </p:sp>
      <p:sp>
        <p:nvSpPr>
          <p:cNvPr id="14" name="text-267"/>
          <p:cNvSpPr txBox="1"/>
          <p:nvPr/>
        </p:nvSpPr>
        <p:spPr>
          <a:xfrm>
            <a:off x="1280160" y="3675888"/>
            <a:ext cx="4297680" cy="457200"/>
          </a:xfrm>
          <a:prstGeom prst="rect">
            <a:avLst/>
          </a:prstGeom>
          <a:noFill/>
          <a:ln/>
        </p:spPr>
        <p:txBody>
          <a:bodyPr wrap="square" lIns="0" tIns="0" rIns="0" bIns="0" rtlCol="0" anchor="t"/>
          <a:lstStyle/>
          <a:p>
            <a:pPr indent="0" marL="0">
              <a:buNone/>
            </a:pPr>
            <a:r>
              <a:rPr lang="en-US" sz="1400" dirty="0">
                <a:solidFill>
                  <a:schemeClr val="accent4"/>
                </a:solidFill>
              </a:rPr>
              <a:t>One click; errors shown as clear messages</a:t>
            </a:r>
            <a:endParaRPr lang="en-US" sz="1400" dirty="0"/>
          </a:p>
        </p:txBody>
      </p:sp>
      <p:sp>
        <p:nvSpPr>
          <p:cNvPr id="15" name="num-bg-268"/>
          <p:cNvSpPr/>
          <p:nvPr/>
        </p:nvSpPr>
        <p:spPr>
          <a:xfrm>
            <a:off x="548640" y="4334256"/>
            <a:ext cx="502920" cy="502920"/>
          </a:xfrm>
          <a:prstGeom prst="ellipse">
            <a:avLst/>
          </a:prstGeom>
          <a:solidFill>
            <a:schemeClr val="accent1"/>
          </a:solidFill>
          <a:ln/>
        </p:spPr>
      </p:sp>
      <p:sp>
        <p:nvSpPr>
          <p:cNvPr id="16" name="text-269"/>
          <p:cNvSpPr txBox="1"/>
          <p:nvPr/>
        </p:nvSpPr>
        <p:spPr>
          <a:xfrm>
            <a:off x="548640" y="4334256"/>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7" name="text-270"/>
          <p:cNvSpPr txBox="1"/>
          <p:nvPr/>
        </p:nvSpPr>
        <p:spPr>
          <a:xfrm>
            <a:off x="1280160" y="4261104"/>
            <a:ext cx="4297680" cy="320040"/>
          </a:xfrm>
          <a:prstGeom prst="rect">
            <a:avLst/>
          </a:prstGeom>
          <a:noFill/>
          <a:ln/>
        </p:spPr>
        <p:txBody>
          <a:bodyPr wrap="square" lIns="0" tIns="0" rIns="0" bIns="0" rtlCol="0" anchor="t"/>
          <a:lstStyle/>
          <a:p>
            <a:pPr indent="0" marL="0">
              <a:buNone/>
            </a:pPr>
            <a:r>
              <a:rPr lang="en-US" sz="1700" b="1" dirty="0">
                <a:solidFill>
                  <a:schemeClr val="tx1"/>
                </a:solidFill>
              </a:rPr>
              <a:t>Compare</a:t>
            </a:r>
            <a:endParaRPr lang="en-US" sz="1700" dirty="0"/>
          </a:p>
        </p:txBody>
      </p:sp>
      <p:sp>
        <p:nvSpPr>
          <p:cNvPr id="18" name="text-271"/>
          <p:cNvSpPr txBox="1"/>
          <p:nvPr/>
        </p:nvSpPr>
        <p:spPr>
          <a:xfrm>
            <a:off x="1280160" y="4608576"/>
            <a:ext cx="4297680" cy="457200"/>
          </a:xfrm>
          <a:prstGeom prst="rect">
            <a:avLst/>
          </a:prstGeom>
          <a:noFill/>
          <a:ln/>
        </p:spPr>
        <p:txBody>
          <a:bodyPr wrap="square" lIns="0" tIns="0" rIns="0" bIns="0" rtlCol="0" anchor="t"/>
          <a:lstStyle/>
          <a:p>
            <a:pPr indent="0" marL="0">
              <a:buNone/>
            </a:pPr>
            <a:r>
              <a:rPr lang="en-US" sz="1400" dirty="0">
                <a:solidFill>
                  <a:schemeClr val="accent4"/>
                </a:solidFill>
              </a:rPr>
              <a:t>Input left, red-tinted output right, downloads</a:t>
            </a:r>
            <a:endParaRPr lang="en-US" sz="1400" dirty="0"/>
          </a:p>
        </p:txBody>
      </p:sp>
      <p:sp>
        <p:nvSpPr>
          <p:cNvPr id="19" name="num-bg-272"/>
          <p:cNvSpPr/>
          <p:nvPr/>
        </p:nvSpPr>
        <p:spPr>
          <a:xfrm>
            <a:off x="548640" y="5266944"/>
            <a:ext cx="502920" cy="502920"/>
          </a:xfrm>
          <a:prstGeom prst="ellipse">
            <a:avLst/>
          </a:prstGeom>
          <a:solidFill>
            <a:schemeClr val="accent1"/>
          </a:solidFill>
          <a:ln/>
        </p:spPr>
      </p:sp>
      <p:sp>
        <p:nvSpPr>
          <p:cNvPr id="20" name="text-273"/>
          <p:cNvSpPr txBox="1"/>
          <p:nvPr/>
        </p:nvSpPr>
        <p:spPr>
          <a:xfrm>
            <a:off x="548640" y="5266944"/>
            <a:ext cx="502920" cy="50292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1" name="text-274"/>
          <p:cNvSpPr txBox="1"/>
          <p:nvPr/>
        </p:nvSpPr>
        <p:spPr>
          <a:xfrm>
            <a:off x="1280160" y="5193792"/>
            <a:ext cx="4297680" cy="320040"/>
          </a:xfrm>
          <a:prstGeom prst="rect">
            <a:avLst/>
          </a:prstGeom>
          <a:noFill/>
          <a:ln/>
        </p:spPr>
        <p:txBody>
          <a:bodyPr wrap="square" lIns="0" tIns="0" rIns="0" bIns="0" rtlCol="0" anchor="t"/>
          <a:lstStyle/>
          <a:p>
            <a:pPr indent="0" marL="0">
              <a:buNone/>
            </a:pPr>
            <a:r>
              <a:rPr lang="en-US" sz="1700" b="1" dirty="0">
                <a:solidFill>
                  <a:schemeClr val="tx1"/>
                </a:solidFill>
              </a:rPr>
              <a:t>Explore</a:t>
            </a:r>
            <a:endParaRPr lang="en-US" sz="1700" dirty="0"/>
          </a:p>
        </p:txBody>
      </p:sp>
      <p:sp>
        <p:nvSpPr>
          <p:cNvPr id="22" name="text-275"/>
          <p:cNvSpPr txBox="1"/>
          <p:nvPr/>
        </p:nvSpPr>
        <p:spPr>
          <a:xfrm>
            <a:off x="1280160" y="5541264"/>
            <a:ext cx="4297680" cy="457200"/>
          </a:xfrm>
          <a:prstGeom prst="rect">
            <a:avLst/>
          </a:prstGeom>
          <a:noFill/>
          <a:ln/>
        </p:spPr>
        <p:txBody>
          <a:bodyPr wrap="square" lIns="0" tIns="0" rIns="0" bIns="0" rtlCol="0" anchor="t"/>
          <a:lstStyle/>
          <a:p>
            <a:pPr indent="0" marL="0">
              <a:buNone/>
            </a:pPr>
            <a:r>
              <a:rPr lang="en-US" sz="1400" dirty="0">
                <a:solidFill>
                  <a:schemeClr val="accent4"/>
                </a:solidFill>
              </a:rPr>
              <a:t>Tabs: mask, matched features, transform, score</a:t>
            </a:r>
            <a:endParaRPr lang="en-US" sz="1400" dirty="0"/>
          </a:p>
        </p:txBody>
      </p:sp>
      <p:pic>
        <p:nvPicPr>
          <p:cNvPr id="23" name="ui-screenshot" descr="Early build of the Streamlit interface in dark mode, showing low-contrast sidebar text">    </p:cNvPr>
          <p:cNvPicPr>
            <a:picLocks noChangeAspect="1"/>
          </p:cNvPicPr>
          <p:nvPr/>
        </p:nvPicPr>
        <p:blipFill>
          <a:blip r:embed="rId1"/>
          <a:stretch>
            <a:fillRect/>
          </a:stretch>
        </p:blipFill>
        <p:spPr>
          <a:xfrm>
            <a:off x="6035040" y="1463040"/>
            <a:ext cx="5605272" cy="2500004"/>
          </a:xfrm>
          <a:prstGeom prst="rect">
            <a:avLst/>
          </a:prstGeom>
        </p:spPr>
      </p:pic>
      <p:sp>
        <p:nvSpPr>
          <p:cNvPr id="24" name="text-276"/>
          <p:cNvSpPr txBox="1"/>
          <p:nvPr/>
        </p:nvSpPr>
        <p:spPr>
          <a:xfrm>
            <a:off x="6035040" y="4023360"/>
            <a:ext cx="5605272" cy="274320"/>
          </a:xfrm>
          <a:prstGeom prst="rect">
            <a:avLst/>
          </a:prstGeom>
          <a:noFill/>
          <a:ln/>
        </p:spPr>
        <p:txBody>
          <a:bodyPr wrap="square" lIns="0" tIns="0" rIns="0" bIns="0" rtlCol="0" anchor="t"/>
          <a:lstStyle/>
          <a:p>
            <a:pPr algn="ctr" indent="0" marL="0">
              <a:buNone/>
            </a:pPr>
            <a:r>
              <a:rPr lang="en-US" sz="1200" dirty="0">
                <a:solidFill>
                  <a:schemeClr val="accent4"/>
                </a:solidFill>
              </a:rPr>
              <a:t>Early build in Streamlit dark mode</a:t>
            </a:r>
            <a:endParaRPr lang="en-US" sz="1200" dirty="0"/>
          </a:p>
        </p:txBody>
      </p:sp>
      <p:sp>
        <p:nvSpPr>
          <p:cNvPr id="25" name="card-277"/>
          <p:cNvSpPr/>
          <p:nvPr/>
        </p:nvSpPr>
        <p:spPr>
          <a:xfrm>
            <a:off x="6035040" y="4434840"/>
            <a:ext cx="5605272" cy="1691640"/>
          </a:xfrm>
          <a:prstGeom prst="roundRect">
            <a:avLst>
              <a:gd name="adj" fmla="val 5405"/>
            </a:avLst>
          </a:prstGeom>
          <a:solidFill>
            <a:schemeClr val="accent2">
              <a:alpha val="10000"/>
            </a:schemeClr>
          </a:solidFill>
          <a:ln/>
        </p:spPr>
      </p:sp>
      <p:sp>
        <p:nvSpPr>
          <p:cNvPr id="26" name="icon-bg-278"/>
          <p:cNvSpPr/>
          <p:nvPr/>
        </p:nvSpPr>
        <p:spPr>
          <a:xfrm>
            <a:off x="6263640" y="4709160"/>
            <a:ext cx="548640" cy="548640"/>
          </a:xfrm>
          <a:prstGeom prst="ellipse">
            <a:avLst/>
          </a:prstGeom>
          <a:solidFill>
            <a:schemeClr val="accent2"/>
          </a:solidFill>
          <a:ln/>
        </p:spPr>
      </p:sp>
      <p:pic>
        <p:nvPicPr>
          <p:cNvPr id="27" name="icon-279" descr="ExclamationTriangle icon">    </p:cNvPr>
          <p:cNvPicPr>
            <a:picLocks noChangeAspect="1"/>
          </p:cNvPicPr>
          <p:nvPr/>
        </p:nvPicPr>
        <p:blipFill>
          <a:blip r:embed="rId2"/>
          <a:stretch>
            <a:fillRect/>
          </a:stretch>
        </p:blipFill>
        <p:spPr>
          <a:xfrm>
            <a:off x="6411773" y="4857293"/>
            <a:ext cx="252374" cy="252374"/>
          </a:xfrm>
          <a:prstGeom prst="rect">
            <a:avLst/>
          </a:prstGeom>
        </p:spPr>
      </p:pic>
      <p:sp>
        <p:nvSpPr>
          <p:cNvPr id="28" name="text-280"/>
          <p:cNvSpPr txBox="1"/>
          <p:nvPr/>
        </p:nvSpPr>
        <p:spPr>
          <a:xfrm>
            <a:off x="7040880" y="4526280"/>
            <a:ext cx="4434840" cy="1508760"/>
          </a:xfrm>
          <a:prstGeom prst="rect">
            <a:avLst/>
          </a:prstGeom>
          <a:noFill/>
          <a:ln/>
        </p:spPr>
        <p:txBody>
          <a:bodyPr wrap="square" lIns="0" tIns="0" rIns="0" bIns="0" rtlCol="0" anchor="ctr"/>
          <a:lstStyle/>
          <a:p>
            <a:pPr indent="0" marL="0">
              <a:buNone/>
            </a:pPr>
            <a:r>
              <a:rPr lang="en-US" sz="1400" b="1" dirty="0">
                <a:solidFill>
                  <a:schemeClr val="accent2"/>
                </a:solidFill>
              </a:rPr>
              <a:t>Bug found in testing: </a:t>
            </a:r>
            <a:pPr indent="0" marL="0">
              <a:buNone/>
            </a:pPr>
            <a:r>
              <a:rPr lang="en-US" sz="1400" dirty="0">
                <a:solidFill>
                  <a:schemeClr val="tx1"/>
                </a:solidFill>
              </a:rPr>
              <a:t>dark mode drew light text on our light page. Fixed with a light theme file plus explicit dark-text CSS on every widget.</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Results: Demonstration</a:t>
            </a:r>
            <a:endParaRPr lang="en-US" sz="3600" dirty="0"/>
          </a:p>
        </p:txBody>
      </p:sp>
      <p:pic>
        <p:nvPicPr>
          <p:cNvPr id="3" name="result-screenshot" descr="Input image on the left and detected regions in red on the right for 193_F_JC4.jpg">    </p:cNvPr>
          <p:cNvPicPr>
            <a:picLocks noChangeAspect="1"/>
          </p:cNvPicPr>
          <p:nvPr/>
        </p:nvPicPr>
        <p:blipFill>
          <a:blip r:embed="rId1"/>
          <a:stretch>
            <a:fillRect/>
          </a:stretch>
        </p:blipFill>
        <p:spPr>
          <a:xfrm>
            <a:off x="548640" y="1463040"/>
            <a:ext cx="7040880" cy="2022688"/>
          </a:xfrm>
          <a:prstGeom prst="rect">
            <a:avLst/>
          </a:prstGeom>
        </p:spPr>
      </p:pic>
      <p:sp>
        <p:nvSpPr>
          <p:cNvPr id="4" name="text-281"/>
          <p:cNvSpPr txBox="1"/>
          <p:nvPr/>
        </p:nvSpPr>
        <p:spPr>
          <a:xfrm>
            <a:off x="548640" y="3611880"/>
            <a:ext cx="7040880" cy="274320"/>
          </a:xfrm>
          <a:prstGeom prst="rect">
            <a:avLst/>
          </a:prstGeom>
          <a:noFill/>
          <a:ln/>
        </p:spPr>
        <p:txBody>
          <a:bodyPr wrap="square" lIns="0" tIns="0" rIns="0" bIns="0" rtlCol="0" anchor="t"/>
          <a:lstStyle/>
          <a:p>
            <a:pPr algn="ctr" indent="0" marL="0">
              <a:buNone/>
            </a:pPr>
            <a:r>
              <a:rPr lang="en-US" sz="1200" dirty="0">
                <a:solidFill>
                  <a:schemeClr val="accent4"/>
                </a:solidFill>
              </a:rPr>
              <a:t>193_F_JC4.jpg  |  512 x 512 px  |  default parameters</a:t>
            </a:r>
            <a:endParaRPr lang="en-US" sz="1200" dirty="0"/>
          </a:p>
        </p:txBody>
      </p:sp>
      <p:sp>
        <p:nvSpPr>
          <p:cNvPr id="5" name="card-282"/>
          <p:cNvSpPr/>
          <p:nvPr/>
        </p:nvSpPr>
        <p:spPr>
          <a:xfrm>
            <a:off x="548640" y="4114800"/>
            <a:ext cx="3429000" cy="914400"/>
          </a:xfrm>
          <a:prstGeom prst="roundRect">
            <a:avLst>
              <a:gd name="adj" fmla="val 10000"/>
            </a:avLst>
          </a:prstGeom>
          <a:solidFill>
            <a:schemeClr val="bg2"/>
          </a:solidFill>
          <a:ln/>
        </p:spPr>
      </p:sp>
      <p:sp>
        <p:nvSpPr>
          <p:cNvPr id="6" name="text-283"/>
          <p:cNvSpPr txBox="1"/>
          <p:nvPr/>
        </p:nvSpPr>
        <p:spPr>
          <a:xfrm>
            <a:off x="777240" y="4114800"/>
            <a:ext cx="3017520" cy="914400"/>
          </a:xfrm>
          <a:prstGeom prst="rect">
            <a:avLst/>
          </a:prstGeom>
          <a:noFill/>
          <a:ln/>
        </p:spPr>
        <p:txBody>
          <a:bodyPr wrap="square" lIns="0" tIns="0" rIns="0" bIns="0" rtlCol="0" anchor="ctr"/>
          <a:lstStyle/>
          <a:p>
            <a:pPr indent="0" marL="0">
              <a:buNone/>
            </a:pPr>
            <a:r>
              <a:rPr lang="en-US" sz="1600" b="1" dirty="0">
                <a:solidFill>
                  <a:schemeClr val="tx2"/>
                </a:solidFill>
              </a:rPr>
              <a:t>Left: </a:t>
            </a:r>
            <a:pPr indent="0" marL="0">
              <a:buNone/>
            </a:pPr>
            <a:r>
              <a:rPr lang="en-US" sz="1600" dirty="0">
                <a:solidFill>
                  <a:schemeClr val="tx1"/>
                </a:solidFill>
              </a:rPr>
              <a:t>the input image as uploaded</a:t>
            </a:r>
            <a:endParaRPr lang="en-US" sz="1600" dirty="0"/>
          </a:p>
        </p:txBody>
      </p:sp>
      <p:sp>
        <p:nvSpPr>
          <p:cNvPr id="7" name="card-284"/>
          <p:cNvSpPr/>
          <p:nvPr/>
        </p:nvSpPr>
        <p:spPr>
          <a:xfrm>
            <a:off x="4160520" y="4114800"/>
            <a:ext cx="3429000" cy="914400"/>
          </a:xfrm>
          <a:prstGeom prst="roundRect">
            <a:avLst>
              <a:gd name="adj" fmla="val 10000"/>
            </a:avLst>
          </a:prstGeom>
          <a:solidFill>
            <a:schemeClr val="accent2">
              <a:alpha val="12000"/>
            </a:schemeClr>
          </a:solidFill>
          <a:ln/>
        </p:spPr>
      </p:sp>
      <p:sp>
        <p:nvSpPr>
          <p:cNvPr id="8" name="text-285"/>
          <p:cNvSpPr txBox="1"/>
          <p:nvPr/>
        </p:nvSpPr>
        <p:spPr>
          <a:xfrm>
            <a:off x="4389120" y="4114800"/>
            <a:ext cx="3017520" cy="914400"/>
          </a:xfrm>
          <a:prstGeom prst="rect">
            <a:avLst/>
          </a:prstGeom>
          <a:noFill/>
          <a:ln/>
        </p:spPr>
        <p:txBody>
          <a:bodyPr wrap="square" lIns="0" tIns="0" rIns="0" bIns="0" rtlCol="0" anchor="ctr"/>
          <a:lstStyle/>
          <a:p>
            <a:pPr indent="0" marL="0">
              <a:buNone/>
            </a:pPr>
            <a:r>
              <a:rPr lang="en-US" sz="1600" b="1" dirty="0">
                <a:solidFill>
                  <a:schemeClr val="accent2"/>
                </a:solidFill>
              </a:rPr>
              <a:t>Right: </a:t>
            </a:r>
            <a:pPr indent="0" marL="0">
              <a:buNone/>
            </a:pPr>
            <a:r>
              <a:rPr lang="en-US" sz="1600" dirty="0">
                <a:solidFill>
                  <a:schemeClr val="tx1"/>
                </a:solidFill>
              </a:rPr>
              <a:t>red tint and boxes mark duplicated areas</a:t>
            </a:r>
            <a:endParaRPr lang="en-US" sz="1600" dirty="0"/>
          </a:p>
        </p:txBody>
      </p:sp>
      <p:sp>
        <p:nvSpPr>
          <p:cNvPr id="9" name="card-286"/>
          <p:cNvSpPr/>
          <p:nvPr/>
        </p:nvSpPr>
        <p:spPr>
          <a:xfrm>
            <a:off x="548640" y="5212080"/>
            <a:ext cx="7040880" cy="914400"/>
          </a:xfrm>
          <a:prstGeom prst="roundRect">
            <a:avLst>
              <a:gd name="adj" fmla="val 10000"/>
            </a:avLst>
          </a:prstGeom>
          <a:solidFill>
            <a:schemeClr val="bg2"/>
          </a:solidFill>
          <a:ln/>
        </p:spPr>
      </p:sp>
      <p:sp>
        <p:nvSpPr>
          <p:cNvPr id="10" name="text-287"/>
          <p:cNvSpPr txBox="1"/>
          <p:nvPr/>
        </p:nvSpPr>
        <p:spPr>
          <a:xfrm>
            <a:off x="777240" y="5212080"/>
            <a:ext cx="6583680" cy="914400"/>
          </a:xfrm>
          <a:prstGeom prst="rect">
            <a:avLst/>
          </a:prstGeom>
          <a:noFill/>
          <a:ln/>
        </p:spPr>
        <p:txBody>
          <a:bodyPr wrap="square" lIns="0" tIns="0" rIns="0" bIns="0" rtlCol="0" anchor="ctr"/>
          <a:lstStyle/>
          <a:p>
            <a:pPr indent="0" marL="0">
              <a:buNone/>
            </a:pPr>
            <a:r>
              <a:rPr lang="en-US" sz="1500" dirty="0">
                <a:solidFill>
                  <a:schemeClr val="accent4"/>
                </a:solidFill>
              </a:rPr>
              <a:t>One manual test. It shows the pipeline works end to end; it is not scored against the ground-truth mask.</a:t>
            </a:r>
            <a:endParaRPr lang="en-US" sz="1500" dirty="0"/>
          </a:p>
        </p:txBody>
      </p:sp>
      <p:sp>
        <p:nvSpPr>
          <p:cNvPr id="11" name="card-288"/>
          <p:cNvSpPr/>
          <p:nvPr/>
        </p:nvSpPr>
        <p:spPr>
          <a:xfrm>
            <a:off x="7909560" y="1463040"/>
            <a:ext cx="3730752" cy="1691640"/>
          </a:xfrm>
          <a:prstGeom prst="roundRect">
            <a:avLst>
              <a:gd name="adj" fmla="val 5405"/>
            </a:avLst>
          </a:prstGeom>
          <a:solidFill>
            <a:schemeClr val="bg2"/>
          </a:solidFill>
          <a:ln/>
        </p:spPr>
      </p:sp>
      <p:sp>
        <p:nvSpPr>
          <p:cNvPr id="12" name="text-289"/>
          <p:cNvSpPr txBox="1"/>
          <p:nvPr/>
        </p:nvSpPr>
        <p:spPr>
          <a:xfrm>
            <a:off x="8092440" y="1554480"/>
            <a:ext cx="3383280" cy="914400"/>
          </a:xfrm>
          <a:prstGeom prst="rect">
            <a:avLst/>
          </a:prstGeom>
          <a:noFill/>
          <a:ln/>
        </p:spPr>
        <p:txBody>
          <a:bodyPr wrap="square" lIns="0" tIns="0" rIns="0" bIns="0" rtlCol="0" anchor="ctr"/>
          <a:lstStyle/>
          <a:p>
            <a:pPr indent="0" marL="0">
              <a:buNone/>
            </a:pPr>
            <a:r>
              <a:rPr lang="en-US" sz="5400" b="1" dirty="0">
                <a:solidFill>
                  <a:schemeClr val="tx2"/>
                </a:solidFill>
                <a:latin typeface="Cambria" pitchFamily="34" charset="0"/>
                <a:ea typeface="Cambria" pitchFamily="34" charset="-122"/>
                <a:cs typeface="Cambria" pitchFamily="34" charset="-120"/>
              </a:rPr>
              <a:t>257</a:t>
            </a:r>
            <a:endParaRPr lang="en-US" sz="5400" dirty="0"/>
          </a:p>
        </p:txBody>
      </p:sp>
      <p:sp>
        <p:nvSpPr>
          <p:cNvPr id="13" name="text-290"/>
          <p:cNvSpPr txBox="1"/>
          <p:nvPr/>
        </p:nvSpPr>
        <p:spPr>
          <a:xfrm>
            <a:off x="8092440" y="2468880"/>
            <a:ext cx="3383280" cy="594360"/>
          </a:xfrm>
          <a:prstGeom prst="rect">
            <a:avLst/>
          </a:prstGeom>
          <a:noFill/>
          <a:ln/>
        </p:spPr>
        <p:txBody>
          <a:bodyPr wrap="square" lIns="0" tIns="0" rIns="0" bIns="0" rtlCol="0" anchor="t"/>
          <a:lstStyle/>
          <a:p>
            <a:pPr indent="0" marL="0">
              <a:buNone/>
            </a:pPr>
            <a:r>
              <a:rPr lang="en-US" sz="1400" dirty="0">
                <a:solidFill>
                  <a:schemeClr val="tx1"/>
                </a:solidFill>
              </a:rPr>
              <a:t>feature matches agree on one copy transform (threshold: 8)</a:t>
            </a:r>
            <a:endParaRPr lang="en-US" sz="1400" dirty="0"/>
          </a:p>
        </p:txBody>
      </p:sp>
      <p:sp>
        <p:nvSpPr>
          <p:cNvPr id="14" name="card-291"/>
          <p:cNvSpPr/>
          <p:nvPr/>
        </p:nvSpPr>
        <p:spPr>
          <a:xfrm>
            <a:off x="7909560" y="3337560"/>
            <a:ext cx="3730752" cy="1325880"/>
          </a:xfrm>
          <a:prstGeom prst="roundRect">
            <a:avLst>
              <a:gd name="adj" fmla="val 6897"/>
            </a:avLst>
          </a:prstGeom>
          <a:solidFill>
            <a:schemeClr val="accent2">
              <a:alpha val="12000"/>
            </a:schemeClr>
          </a:solidFill>
          <a:ln/>
        </p:spPr>
      </p:sp>
      <p:sp>
        <p:nvSpPr>
          <p:cNvPr id="15" name="text-292"/>
          <p:cNvSpPr txBox="1"/>
          <p:nvPr/>
        </p:nvSpPr>
        <p:spPr>
          <a:xfrm>
            <a:off x="8092440" y="3429000"/>
            <a:ext cx="3383280" cy="1143000"/>
          </a:xfrm>
          <a:prstGeom prst="rect">
            <a:avLst/>
          </a:prstGeom>
          <a:noFill/>
          <a:ln/>
        </p:spPr>
        <p:txBody>
          <a:bodyPr wrap="square" lIns="0" tIns="0" rIns="0" bIns="0" rtlCol="0" anchor="ctr"/>
          <a:lstStyle/>
          <a:p>
            <a:pPr indent="0" marL="0">
              <a:buNone/>
            </a:pPr>
            <a:r>
              <a:rPr lang="en-US" sz="2200" b="1" dirty="0">
                <a:solidFill>
                  <a:schemeClr val="accent2"/>
                </a:solidFill>
                <a:latin typeface="Cambria" pitchFamily="34" charset="0"/>
                <a:ea typeface="Cambria" pitchFamily="34" charset="-122"/>
                <a:cs typeface="Cambria" pitchFamily="34" charset="-120"/>
              </a:rPr>
              <a:t>Possible copy-move forgery</a:t>
            </a:r>
            <a:endParaRPr lang="en-US" sz="2200" dirty="0"/>
          </a:p>
        </p:txBody>
      </p:sp>
      <p:sp>
        <p:nvSpPr>
          <p:cNvPr id="16" name="card-293"/>
          <p:cNvSpPr/>
          <p:nvPr/>
        </p:nvSpPr>
        <p:spPr>
          <a:xfrm>
            <a:off x="7909560" y="4846320"/>
            <a:ext cx="3730752" cy="1280160"/>
          </a:xfrm>
          <a:prstGeom prst="roundRect">
            <a:avLst>
              <a:gd name="adj" fmla="val 7143"/>
            </a:avLst>
          </a:prstGeom>
          <a:solidFill>
            <a:schemeClr val="bg2"/>
          </a:solidFill>
          <a:ln/>
        </p:spPr>
      </p:sp>
      <p:sp>
        <p:nvSpPr>
          <p:cNvPr id="17" name="icon-bg-294"/>
          <p:cNvSpPr/>
          <p:nvPr/>
        </p:nvSpPr>
        <p:spPr>
          <a:xfrm>
            <a:off x="8092440" y="5212080"/>
            <a:ext cx="548640" cy="548640"/>
          </a:xfrm>
          <a:prstGeom prst="ellipse">
            <a:avLst/>
          </a:prstGeom>
          <a:solidFill>
            <a:schemeClr val="accent6"/>
          </a:solidFill>
          <a:ln/>
        </p:spPr>
      </p:sp>
      <p:pic>
        <p:nvPicPr>
          <p:cNvPr id="18" name="icon-295" descr="CheckCircle icon">    </p:cNvPr>
          <p:cNvPicPr>
            <a:picLocks noChangeAspect="1"/>
          </p:cNvPicPr>
          <p:nvPr/>
        </p:nvPicPr>
        <p:blipFill>
          <a:blip r:embed="rId2"/>
          <a:stretch>
            <a:fillRect/>
          </a:stretch>
        </p:blipFill>
        <p:spPr>
          <a:xfrm>
            <a:off x="8240573" y="5360213"/>
            <a:ext cx="252374" cy="252374"/>
          </a:xfrm>
          <a:prstGeom prst="rect">
            <a:avLst/>
          </a:prstGeom>
        </p:spPr>
      </p:pic>
      <p:sp>
        <p:nvSpPr>
          <p:cNvPr id="19" name="text-296"/>
          <p:cNvSpPr txBox="1"/>
          <p:nvPr/>
        </p:nvSpPr>
        <p:spPr>
          <a:xfrm>
            <a:off x="8823960" y="4846320"/>
            <a:ext cx="2697480" cy="1280160"/>
          </a:xfrm>
          <a:prstGeom prst="rect">
            <a:avLst/>
          </a:prstGeom>
          <a:noFill/>
          <a:ln/>
        </p:spPr>
        <p:txBody>
          <a:bodyPr wrap="square" lIns="0" tIns="0" rIns="0" bIns="0" rtlCol="0" anchor="ctr"/>
          <a:lstStyle/>
          <a:p>
            <a:pPr indent="0" marL="0">
              <a:buNone/>
            </a:pPr>
            <a:r>
              <a:rPr lang="en-US" sz="1400" dirty="0">
                <a:solidFill>
                  <a:schemeClr val="tx1"/>
                </a:solidFill>
              </a:rPr>
              <a:t>JPEG-compressed variant (JC4) still detected</a:t>
            </a:r>
            <a:endParaRPr lang="en-US" sz="14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Discussion</a:t>
            </a:r>
            <a:endParaRPr lang="en-US" sz="3600" dirty="0"/>
          </a:p>
        </p:txBody>
      </p:sp>
      <p:sp>
        <p:nvSpPr>
          <p:cNvPr id="3" name="card-297"/>
          <p:cNvSpPr/>
          <p:nvPr/>
        </p:nvSpPr>
        <p:spPr>
          <a:xfrm>
            <a:off x="548640" y="1463040"/>
            <a:ext cx="5440680" cy="3246120"/>
          </a:xfrm>
          <a:prstGeom prst="roundRect">
            <a:avLst>
              <a:gd name="adj" fmla="val 2817"/>
            </a:avLst>
          </a:prstGeom>
          <a:solidFill>
            <a:schemeClr val="bg2"/>
          </a:solidFill>
          <a:ln/>
        </p:spPr>
      </p:sp>
      <p:sp>
        <p:nvSpPr>
          <p:cNvPr id="4" name="icon-bg-298"/>
          <p:cNvSpPr/>
          <p:nvPr/>
        </p:nvSpPr>
        <p:spPr>
          <a:xfrm>
            <a:off x="822960" y="1645920"/>
            <a:ext cx="502920" cy="502920"/>
          </a:xfrm>
          <a:prstGeom prst="ellipse">
            <a:avLst/>
          </a:prstGeom>
          <a:solidFill>
            <a:schemeClr val="accent6"/>
          </a:solidFill>
          <a:ln/>
        </p:spPr>
      </p:sp>
      <p:pic>
        <p:nvPicPr>
          <p:cNvPr id="5" name="icon-299" descr="CheckCircle icon">    </p:cNvPr>
          <p:cNvPicPr>
            <a:picLocks noChangeAspect="1"/>
          </p:cNvPicPr>
          <p:nvPr/>
        </p:nvPicPr>
        <p:blipFill>
          <a:blip r:embed="rId1"/>
          <a:stretch>
            <a:fillRect/>
          </a:stretch>
        </p:blipFill>
        <p:spPr>
          <a:xfrm>
            <a:off x="958748" y="1781708"/>
            <a:ext cx="231343" cy="231343"/>
          </a:xfrm>
          <a:prstGeom prst="rect">
            <a:avLst/>
          </a:prstGeom>
        </p:spPr>
      </p:pic>
      <p:sp>
        <p:nvSpPr>
          <p:cNvPr id="6" name="text-300"/>
          <p:cNvSpPr txBox="1"/>
          <p:nvPr/>
        </p:nvSpPr>
        <p:spPr>
          <a:xfrm>
            <a:off x="1508760" y="1645920"/>
            <a:ext cx="4114800" cy="502920"/>
          </a:xfrm>
          <a:prstGeom prst="rect">
            <a:avLst/>
          </a:prstGeom>
          <a:noFill/>
          <a:ln/>
        </p:spPr>
        <p:txBody>
          <a:bodyPr wrap="square" lIns="0" tIns="0" rIns="0" bIns="0" rtlCol="0" anchor="ctr"/>
          <a:lstStyle/>
          <a:p>
            <a:pPr indent="0" marL="0">
              <a:buNone/>
            </a:pPr>
            <a:r>
              <a:rPr lang="en-US" sz="2000" b="1" dirty="0">
                <a:solidFill>
                  <a:schemeClr val="tx1"/>
                </a:solidFill>
              </a:rPr>
              <a:t>What worked</a:t>
            </a:r>
            <a:endParaRPr lang="en-US" sz="2000" dirty="0"/>
          </a:p>
        </p:txBody>
      </p:sp>
      <p:sp>
        <p:nvSpPr>
          <p:cNvPr id="7" name="text-301"/>
          <p:cNvSpPr txBox="1"/>
          <p:nvPr/>
        </p:nvSpPr>
        <p:spPr>
          <a:xfrm>
            <a:off x="822960" y="2331720"/>
            <a:ext cx="4937760" cy="2331720"/>
          </a:xfrm>
          <a:prstGeom prst="rect">
            <a:avLst/>
          </a:prstGeom>
          <a:noFill/>
          <a:ln/>
        </p:spPr>
        <p:txBody>
          <a:bodyPr wrap="square" lIns="0" tIns="0" rIns="0" bIns="0" rtlCol="0" anchor="t"/>
          <a:lstStyle/>
          <a:p>
            <a:pPr marL="203200" indent="-203200">
              <a:spcAft>
                <a:spcPts val="900"/>
              </a:spcAft>
              <a:buSzPct val="100000"/>
              <a:buChar char="•"/>
            </a:pPr>
            <a:r>
              <a:rPr lang="en-US" sz="1600" dirty="0">
                <a:solidFill>
                  <a:schemeClr val="tx1"/>
                </a:solidFill>
              </a:rPr>
              <a:t>Detection survives JPEG recompression</a:t>
            </a:r>
            <a:endParaRPr lang="en-US" sz="1600" dirty="0"/>
          </a:p>
          <a:p>
            <a:pPr marL="203200" indent="-203200">
              <a:spcAft>
                <a:spcPts val="900"/>
              </a:spcAft>
              <a:buSzPct val="100000"/>
              <a:buChar char="•"/>
            </a:pPr>
            <a:r>
              <a:rPr lang="en-US" sz="1600" dirty="0">
                <a:solidFill>
                  <a:schemeClr val="tx1"/>
                </a:solidFill>
              </a:rPr>
              <a:t>Copy transform recovered: scale, rotation, shift</a:t>
            </a:r>
            <a:endParaRPr lang="en-US" sz="1600" dirty="0"/>
          </a:p>
          <a:p>
            <a:pPr marL="203200" indent="-203200">
              <a:spcAft>
                <a:spcPts val="900"/>
              </a:spcAft>
              <a:buSzPct val="100000"/>
              <a:buChar char="•"/>
            </a:pPr>
            <a:r>
              <a:rPr lang="en-US" sz="1600" dirty="0">
                <a:solidFill>
                  <a:schemeClr val="tx1"/>
                </a:solidFill>
              </a:rPr>
              <a:t>Every outcome returns a clear reason</a:t>
            </a:r>
            <a:endParaRPr lang="en-US" sz="1600" dirty="0"/>
          </a:p>
          <a:p>
            <a:pPr marL="203200" indent="-203200">
              <a:spcAft>
                <a:spcPts val="900"/>
              </a:spcAft>
              <a:buSzPct val="100000"/>
              <a:buChar char="•"/>
            </a:pPr>
            <a:r>
              <a:rPr lang="en-US" sz="1600" dirty="0">
                <a:solidFill>
                  <a:schemeClr val="tx1"/>
                </a:solidFill>
              </a:rPr>
              <a:t>Fast on 512 x 512 images</a:t>
            </a:r>
            <a:endParaRPr lang="en-US" sz="1600" dirty="0"/>
          </a:p>
        </p:txBody>
      </p:sp>
      <p:sp>
        <p:nvSpPr>
          <p:cNvPr id="8" name="card-302"/>
          <p:cNvSpPr/>
          <p:nvPr/>
        </p:nvSpPr>
        <p:spPr>
          <a:xfrm>
            <a:off x="6199632" y="1463040"/>
            <a:ext cx="5440680" cy="3246120"/>
          </a:xfrm>
          <a:prstGeom prst="roundRect">
            <a:avLst>
              <a:gd name="adj" fmla="val 2817"/>
            </a:avLst>
          </a:prstGeom>
          <a:solidFill>
            <a:schemeClr val="bg2"/>
          </a:solidFill>
          <a:ln/>
        </p:spPr>
      </p:sp>
      <p:sp>
        <p:nvSpPr>
          <p:cNvPr id="9" name="icon-bg-303"/>
          <p:cNvSpPr/>
          <p:nvPr/>
        </p:nvSpPr>
        <p:spPr>
          <a:xfrm>
            <a:off x="6473952" y="1645920"/>
            <a:ext cx="502920" cy="502920"/>
          </a:xfrm>
          <a:prstGeom prst="ellipse">
            <a:avLst/>
          </a:prstGeom>
          <a:solidFill>
            <a:schemeClr val="accent2"/>
          </a:solidFill>
          <a:ln/>
        </p:spPr>
      </p:sp>
      <p:pic>
        <p:nvPicPr>
          <p:cNvPr id="10" name="icon-304" descr="ExclamationTriangle icon">    </p:cNvPr>
          <p:cNvPicPr>
            <a:picLocks noChangeAspect="1"/>
          </p:cNvPicPr>
          <p:nvPr/>
        </p:nvPicPr>
        <p:blipFill>
          <a:blip r:embed="rId2"/>
          <a:stretch>
            <a:fillRect/>
          </a:stretch>
        </p:blipFill>
        <p:spPr>
          <a:xfrm>
            <a:off x="6609740" y="1781708"/>
            <a:ext cx="231343" cy="231343"/>
          </a:xfrm>
          <a:prstGeom prst="rect">
            <a:avLst/>
          </a:prstGeom>
        </p:spPr>
      </p:pic>
      <p:sp>
        <p:nvSpPr>
          <p:cNvPr id="11" name="text-305"/>
          <p:cNvSpPr txBox="1"/>
          <p:nvPr/>
        </p:nvSpPr>
        <p:spPr>
          <a:xfrm>
            <a:off x="7159752" y="1645920"/>
            <a:ext cx="4114800" cy="502920"/>
          </a:xfrm>
          <a:prstGeom prst="rect">
            <a:avLst/>
          </a:prstGeom>
          <a:noFill/>
          <a:ln/>
        </p:spPr>
        <p:txBody>
          <a:bodyPr wrap="square" lIns="0" tIns="0" rIns="0" bIns="0" rtlCol="0" anchor="ctr"/>
          <a:lstStyle/>
          <a:p>
            <a:pPr indent="0" marL="0">
              <a:buNone/>
            </a:pPr>
            <a:r>
              <a:rPr lang="en-US" sz="2000" b="1" dirty="0">
                <a:solidFill>
                  <a:schemeClr val="tx1"/>
                </a:solidFill>
              </a:rPr>
              <a:t>What to watch</a:t>
            </a:r>
            <a:endParaRPr lang="en-US" sz="2000" dirty="0"/>
          </a:p>
        </p:txBody>
      </p:sp>
      <p:sp>
        <p:nvSpPr>
          <p:cNvPr id="12" name="text-306"/>
          <p:cNvSpPr txBox="1"/>
          <p:nvPr/>
        </p:nvSpPr>
        <p:spPr>
          <a:xfrm>
            <a:off x="6473952" y="2331720"/>
            <a:ext cx="4937760" cy="2331720"/>
          </a:xfrm>
          <a:prstGeom prst="rect">
            <a:avLst/>
          </a:prstGeom>
          <a:noFill/>
          <a:ln/>
        </p:spPr>
        <p:txBody>
          <a:bodyPr wrap="square" lIns="0" tIns="0" rIns="0" bIns="0" rtlCol="0" anchor="t"/>
          <a:lstStyle/>
          <a:p>
            <a:pPr marL="203200" indent="-203200">
              <a:spcAft>
                <a:spcPts val="900"/>
              </a:spcAft>
              <a:buSzPct val="100000"/>
              <a:buChar char="•"/>
            </a:pPr>
            <a:r>
              <a:rPr lang="en-US" sz="1600" dirty="0">
                <a:solidFill>
                  <a:schemeClr val="tx1"/>
                </a:solidFill>
              </a:rPr>
              <a:t>Mask is generous: hull plus 17 px padding</a:t>
            </a:r>
            <a:endParaRPr lang="en-US" sz="1600" dirty="0"/>
          </a:p>
          <a:p>
            <a:pPr marL="203200" indent="-203200">
              <a:spcAft>
                <a:spcPts val="900"/>
              </a:spcAft>
              <a:buSzPct val="100000"/>
              <a:buChar char="•"/>
            </a:pPr>
            <a:r>
              <a:rPr lang="en-US" sz="1600" dirty="0">
                <a:solidFill>
                  <a:schemeClr val="tx1"/>
                </a:solidFill>
              </a:rPr>
              <a:t>Repeating windows or tiles can cause false alarms</a:t>
            </a:r>
            <a:endParaRPr lang="en-US" sz="1600" dirty="0"/>
          </a:p>
          <a:p>
            <a:pPr marL="203200" indent="-203200">
              <a:spcAft>
                <a:spcPts val="900"/>
              </a:spcAft>
              <a:buSzPct val="100000"/>
              <a:buChar char="•"/>
            </a:pPr>
            <a:r>
              <a:rPr lang="en-US" sz="1600" dirty="0">
                <a:solidFill>
                  <a:schemeClr val="tx1"/>
                </a:solidFill>
              </a:rPr>
              <a:t>Mask covers source and paste: precision is capped near 50% if B marks only the paste</a:t>
            </a:r>
            <a:endParaRPr lang="en-US" sz="1600" dirty="0"/>
          </a:p>
          <a:p>
            <a:pPr marL="203200" indent="-203200">
              <a:spcAft>
                <a:spcPts val="900"/>
              </a:spcAft>
              <a:buSzPct val="100000"/>
              <a:buChar char="•"/>
            </a:pPr>
            <a:r>
              <a:rPr lang="en-US" sz="1600" dirty="0">
                <a:solidFill>
                  <a:schemeClr val="tx1"/>
                </a:solidFill>
              </a:rPr>
              <a:t>Smooth-area clones give few keypoints</a:t>
            </a:r>
            <a:endParaRPr lang="en-US" sz="1600" dirty="0"/>
          </a:p>
        </p:txBody>
      </p:sp>
      <p:sp>
        <p:nvSpPr>
          <p:cNvPr id="13" name="card-307"/>
          <p:cNvSpPr/>
          <p:nvPr/>
        </p:nvSpPr>
        <p:spPr>
          <a:xfrm>
            <a:off x="548640" y="4937760"/>
            <a:ext cx="11091672" cy="1234440"/>
          </a:xfrm>
          <a:prstGeom prst="roundRect">
            <a:avLst>
              <a:gd name="adj" fmla="val 7407"/>
            </a:avLst>
          </a:prstGeom>
          <a:solidFill>
            <a:schemeClr val="bg2"/>
          </a:solidFill>
          <a:ln/>
        </p:spPr>
      </p:sp>
      <p:sp>
        <p:nvSpPr>
          <p:cNvPr id="14" name="text-308"/>
          <p:cNvSpPr txBox="1"/>
          <p:nvPr/>
        </p:nvSpPr>
        <p:spPr>
          <a:xfrm>
            <a:off x="822960" y="4937760"/>
            <a:ext cx="2377440" cy="1234440"/>
          </a:xfrm>
          <a:prstGeom prst="rect">
            <a:avLst/>
          </a:prstGeom>
          <a:noFill/>
          <a:ln/>
        </p:spPr>
        <p:txBody>
          <a:bodyPr wrap="square" lIns="0" tIns="0" rIns="0" bIns="0" rtlCol="0" anchor="ctr"/>
          <a:lstStyle/>
          <a:p>
            <a:pPr indent="0" marL="0">
              <a:buNone/>
            </a:pPr>
            <a:r>
              <a:rPr lang="en-US" sz="1800" b="1" dirty="0">
                <a:solidFill>
                  <a:schemeClr val="tx2"/>
                </a:solidFill>
              </a:rPr>
              <a:t>Evaluation scores</a:t>
            </a:r>
            <a:endParaRPr lang="en-US" sz="1800" dirty="0"/>
          </a:p>
        </p:txBody>
      </p:sp>
      <p:sp>
        <p:nvSpPr>
          <p:cNvPr id="15" name="score-309"/>
          <p:cNvSpPr/>
          <p:nvPr/>
        </p:nvSpPr>
        <p:spPr>
          <a:xfrm>
            <a:off x="3291840" y="5120640"/>
            <a:ext cx="1920240" cy="868680"/>
          </a:xfrm>
          <a:prstGeom prst="roundRect">
            <a:avLst>
              <a:gd name="adj" fmla="val 8421"/>
            </a:avLst>
          </a:prstGeom>
          <a:solidFill>
            <a:schemeClr val="bg1"/>
          </a:solidFill>
          <a:ln/>
        </p:spPr>
      </p:sp>
      <p:sp>
        <p:nvSpPr>
          <p:cNvPr id="16" name="text-310"/>
          <p:cNvSpPr txBox="1"/>
          <p:nvPr/>
        </p:nvSpPr>
        <p:spPr>
          <a:xfrm>
            <a:off x="3291840" y="5138928"/>
            <a:ext cx="1920240" cy="502920"/>
          </a:xfrm>
          <a:prstGeom prst="rect">
            <a:avLst/>
          </a:prstGeom>
          <a:noFill/>
          <a:ln/>
        </p:spPr>
        <p:txBody>
          <a:bodyPr wrap="square" lIns="0" tIns="0" rIns="0" bIns="0" rtlCol="0" anchor="ctr"/>
          <a:lstStyle/>
          <a:p>
            <a:pPr algn="ctr" indent="0" marL="0">
              <a:buNone/>
            </a:pPr>
            <a:r>
              <a:rPr lang="en-US" sz="2600" b="1" dirty="0">
                <a:solidFill>
                  <a:schemeClr val="tx2"/>
                </a:solidFill>
              </a:rPr>
              <a:t>—</a:t>
            </a:r>
            <a:endParaRPr lang="en-US" sz="2600" dirty="0"/>
          </a:p>
        </p:txBody>
      </p:sp>
      <p:sp>
        <p:nvSpPr>
          <p:cNvPr id="17" name="text-311"/>
          <p:cNvSpPr txBox="1"/>
          <p:nvPr/>
        </p:nvSpPr>
        <p:spPr>
          <a:xfrm>
            <a:off x="3291840" y="5641848"/>
            <a:ext cx="1920240" cy="274320"/>
          </a:xfrm>
          <a:prstGeom prst="rect">
            <a:avLst/>
          </a:prstGeom>
          <a:noFill/>
          <a:ln/>
        </p:spPr>
        <p:txBody>
          <a:bodyPr wrap="square" lIns="0" tIns="0" rIns="0" bIns="0" rtlCol="0" anchor="t"/>
          <a:lstStyle/>
          <a:p>
            <a:pPr algn="ctr" indent="0" marL="0">
              <a:buNone/>
            </a:pPr>
            <a:r>
              <a:rPr lang="en-US" sz="1200" dirty="0">
                <a:solidFill>
                  <a:schemeClr val="accent4"/>
                </a:solidFill>
              </a:rPr>
              <a:t>Image accuracy</a:t>
            </a:r>
            <a:endParaRPr lang="en-US" sz="1200" dirty="0"/>
          </a:p>
        </p:txBody>
      </p:sp>
      <p:sp>
        <p:nvSpPr>
          <p:cNvPr id="18" name="score-312"/>
          <p:cNvSpPr/>
          <p:nvPr/>
        </p:nvSpPr>
        <p:spPr>
          <a:xfrm>
            <a:off x="5376672" y="5120640"/>
            <a:ext cx="1920240" cy="868680"/>
          </a:xfrm>
          <a:prstGeom prst="roundRect">
            <a:avLst>
              <a:gd name="adj" fmla="val 8421"/>
            </a:avLst>
          </a:prstGeom>
          <a:solidFill>
            <a:schemeClr val="bg1"/>
          </a:solidFill>
          <a:ln/>
        </p:spPr>
      </p:sp>
      <p:sp>
        <p:nvSpPr>
          <p:cNvPr id="19" name="text-313"/>
          <p:cNvSpPr txBox="1"/>
          <p:nvPr/>
        </p:nvSpPr>
        <p:spPr>
          <a:xfrm>
            <a:off x="5376672" y="5138928"/>
            <a:ext cx="1920240" cy="502920"/>
          </a:xfrm>
          <a:prstGeom prst="rect">
            <a:avLst/>
          </a:prstGeom>
          <a:noFill/>
          <a:ln/>
        </p:spPr>
        <p:txBody>
          <a:bodyPr wrap="square" lIns="0" tIns="0" rIns="0" bIns="0" rtlCol="0" anchor="ctr"/>
          <a:lstStyle/>
          <a:p>
            <a:pPr algn="ctr" indent="0" marL="0">
              <a:buNone/>
            </a:pPr>
            <a:r>
              <a:rPr lang="en-US" sz="2600" b="1" dirty="0">
                <a:solidFill>
                  <a:schemeClr val="tx2"/>
                </a:solidFill>
              </a:rPr>
              <a:t>—</a:t>
            </a:r>
            <a:endParaRPr lang="en-US" sz="2600" dirty="0"/>
          </a:p>
        </p:txBody>
      </p:sp>
      <p:sp>
        <p:nvSpPr>
          <p:cNvPr id="20" name="text-314"/>
          <p:cNvSpPr txBox="1"/>
          <p:nvPr/>
        </p:nvSpPr>
        <p:spPr>
          <a:xfrm>
            <a:off x="5376672" y="5641848"/>
            <a:ext cx="1920240" cy="274320"/>
          </a:xfrm>
          <a:prstGeom prst="rect">
            <a:avLst/>
          </a:prstGeom>
          <a:noFill/>
          <a:ln/>
        </p:spPr>
        <p:txBody>
          <a:bodyPr wrap="square" lIns="0" tIns="0" rIns="0" bIns="0" rtlCol="0" anchor="t"/>
          <a:lstStyle/>
          <a:p>
            <a:pPr algn="ctr" indent="0" marL="0">
              <a:buNone/>
            </a:pPr>
            <a:r>
              <a:rPr lang="en-US" sz="1200" dirty="0">
                <a:solidFill>
                  <a:schemeClr val="accent4"/>
                </a:solidFill>
              </a:rPr>
              <a:t>Image F1</a:t>
            </a:r>
            <a:endParaRPr lang="en-US" sz="1200" dirty="0"/>
          </a:p>
        </p:txBody>
      </p:sp>
      <p:sp>
        <p:nvSpPr>
          <p:cNvPr id="21" name="score-315"/>
          <p:cNvSpPr/>
          <p:nvPr/>
        </p:nvSpPr>
        <p:spPr>
          <a:xfrm>
            <a:off x="7461504" y="5120640"/>
            <a:ext cx="1920240" cy="868680"/>
          </a:xfrm>
          <a:prstGeom prst="roundRect">
            <a:avLst>
              <a:gd name="adj" fmla="val 8421"/>
            </a:avLst>
          </a:prstGeom>
          <a:solidFill>
            <a:schemeClr val="bg1"/>
          </a:solidFill>
          <a:ln/>
        </p:spPr>
      </p:sp>
      <p:sp>
        <p:nvSpPr>
          <p:cNvPr id="22" name="text-316"/>
          <p:cNvSpPr txBox="1"/>
          <p:nvPr/>
        </p:nvSpPr>
        <p:spPr>
          <a:xfrm>
            <a:off x="7461504" y="5138928"/>
            <a:ext cx="1920240" cy="502920"/>
          </a:xfrm>
          <a:prstGeom prst="rect">
            <a:avLst/>
          </a:prstGeom>
          <a:noFill/>
          <a:ln/>
        </p:spPr>
        <p:txBody>
          <a:bodyPr wrap="square" lIns="0" tIns="0" rIns="0" bIns="0" rtlCol="0" anchor="ctr"/>
          <a:lstStyle/>
          <a:p>
            <a:pPr algn="ctr" indent="0" marL="0">
              <a:buNone/>
            </a:pPr>
            <a:r>
              <a:rPr lang="en-US" sz="2600" b="1" dirty="0">
                <a:solidFill>
                  <a:schemeClr val="tx2"/>
                </a:solidFill>
              </a:rPr>
              <a:t>—</a:t>
            </a:r>
            <a:endParaRPr lang="en-US" sz="2600" dirty="0"/>
          </a:p>
        </p:txBody>
      </p:sp>
      <p:sp>
        <p:nvSpPr>
          <p:cNvPr id="23" name="text-317"/>
          <p:cNvSpPr txBox="1"/>
          <p:nvPr/>
        </p:nvSpPr>
        <p:spPr>
          <a:xfrm>
            <a:off x="7461504" y="5641848"/>
            <a:ext cx="1920240" cy="274320"/>
          </a:xfrm>
          <a:prstGeom prst="rect">
            <a:avLst/>
          </a:prstGeom>
          <a:noFill/>
          <a:ln/>
        </p:spPr>
        <p:txBody>
          <a:bodyPr wrap="square" lIns="0" tIns="0" rIns="0" bIns="0" rtlCol="0" anchor="t"/>
          <a:lstStyle/>
          <a:p>
            <a:pPr algn="ctr" indent="0" marL="0">
              <a:buNone/>
            </a:pPr>
            <a:r>
              <a:rPr lang="en-US" sz="1200" dirty="0">
                <a:solidFill>
                  <a:schemeClr val="accent4"/>
                </a:solidFill>
              </a:rPr>
              <a:t>Pixel F1</a:t>
            </a:r>
            <a:endParaRPr lang="en-US" sz="1200" dirty="0"/>
          </a:p>
        </p:txBody>
      </p:sp>
      <p:sp>
        <p:nvSpPr>
          <p:cNvPr id="24" name="score-318"/>
          <p:cNvSpPr/>
          <p:nvPr/>
        </p:nvSpPr>
        <p:spPr>
          <a:xfrm>
            <a:off x="9546336" y="5120640"/>
            <a:ext cx="1920240" cy="868680"/>
          </a:xfrm>
          <a:prstGeom prst="roundRect">
            <a:avLst>
              <a:gd name="adj" fmla="val 8421"/>
            </a:avLst>
          </a:prstGeom>
          <a:solidFill>
            <a:schemeClr val="bg1"/>
          </a:solidFill>
          <a:ln/>
        </p:spPr>
      </p:sp>
      <p:sp>
        <p:nvSpPr>
          <p:cNvPr id="25" name="text-319"/>
          <p:cNvSpPr txBox="1"/>
          <p:nvPr/>
        </p:nvSpPr>
        <p:spPr>
          <a:xfrm>
            <a:off x="9546336" y="5138928"/>
            <a:ext cx="1920240" cy="502920"/>
          </a:xfrm>
          <a:prstGeom prst="rect">
            <a:avLst/>
          </a:prstGeom>
          <a:noFill/>
          <a:ln/>
        </p:spPr>
        <p:txBody>
          <a:bodyPr wrap="square" lIns="0" tIns="0" rIns="0" bIns="0" rtlCol="0" anchor="ctr"/>
          <a:lstStyle/>
          <a:p>
            <a:pPr algn="ctr" indent="0" marL="0">
              <a:buNone/>
            </a:pPr>
            <a:r>
              <a:rPr lang="en-US" sz="2600" b="1" dirty="0">
                <a:solidFill>
                  <a:schemeClr val="tx2"/>
                </a:solidFill>
              </a:rPr>
              <a:t>—</a:t>
            </a:r>
            <a:endParaRPr lang="en-US" sz="2600" dirty="0"/>
          </a:p>
        </p:txBody>
      </p:sp>
      <p:sp>
        <p:nvSpPr>
          <p:cNvPr id="26" name="text-320"/>
          <p:cNvSpPr txBox="1"/>
          <p:nvPr/>
        </p:nvSpPr>
        <p:spPr>
          <a:xfrm>
            <a:off x="9546336" y="5641848"/>
            <a:ext cx="1920240" cy="274320"/>
          </a:xfrm>
          <a:prstGeom prst="rect">
            <a:avLst/>
          </a:prstGeom>
          <a:noFill/>
          <a:ln/>
        </p:spPr>
        <p:txBody>
          <a:bodyPr wrap="square" lIns="0" tIns="0" rIns="0" bIns="0" rtlCol="0" anchor="t"/>
          <a:lstStyle/>
          <a:p>
            <a:pPr algn="ctr" indent="0" marL="0">
              <a:buNone/>
            </a:pPr>
            <a:r>
              <a:rPr lang="en-US" sz="1200" dirty="0">
                <a:solidFill>
                  <a:schemeClr val="accent4"/>
                </a:solidFill>
              </a:rPr>
              <a:t>Pixel IoU</a:t>
            </a:r>
            <a:endParaRPr lang="en-US" sz="12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Testing and Proposed Improvements</a:t>
            </a:r>
            <a:endParaRPr lang="en-US" sz="3600" dirty="0"/>
          </a:p>
        </p:txBody>
      </p:sp>
      <p:sp>
        <p:nvSpPr>
          <p:cNvPr id="3" name="card-321"/>
          <p:cNvSpPr/>
          <p:nvPr/>
        </p:nvSpPr>
        <p:spPr>
          <a:xfrm>
            <a:off x="548640" y="1463040"/>
            <a:ext cx="5440680" cy="4663440"/>
          </a:xfrm>
          <a:prstGeom prst="roundRect">
            <a:avLst>
              <a:gd name="adj" fmla="val 1961"/>
            </a:avLst>
          </a:prstGeom>
          <a:solidFill>
            <a:schemeClr val="bg2"/>
          </a:solidFill>
          <a:ln/>
        </p:spPr>
      </p:sp>
      <p:sp>
        <p:nvSpPr>
          <p:cNvPr id="4" name="text-322"/>
          <p:cNvSpPr txBox="1"/>
          <p:nvPr/>
        </p:nvSpPr>
        <p:spPr>
          <a:xfrm>
            <a:off x="822960" y="1645920"/>
            <a:ext cx="4846320" cy="365760"/>
          </a:xfrm>
          <a:prstGeom prst="rect">
            <a:avLst/>
          </a:prstGeom>
          <a:noFill/>
          <a:ln/>
        </p:spPr>
        <p:txBody>
          <a:bodyPr wrap="square" lIns="0" tIns="0" rIns="0" bIns="0" rtlCol="0" anchor="t"/>
          <a:lstStyle/>
          <a:p>
            <a:pPr indent="0" marL="0">
              <a:buNone/>
            </a:pPr>
            <a:r>
              <a:rPr lang="en-US" sz="2000" b="1" dirty="0">
                <a:solidFill>
                  <a:schemeClr val="tx2"/>
                </a:solidFill>
              </a:rPr>
              <a:t>Testing</a:t>
            </a:r>
            <a:endParaRPr lang="en-US" sz="2000" dirty="0"/>
          </a:p>
        </p:txBody>
      </p:sp>
      <p:sp>
        <p:nvSpPr>
          <p:cNvPr id="5" name="icon-bg-323"/>
          <p:cNvSpPr/>
          <p:nvPr/>
        </p:nvSpPr>
        <p:spPr>
          <a:xfrm>
            <a:off x="822960" y="2286000"/>
            <a:ext cx="548640" cy="548640"/>
          </a:xfrm>
          <a:prstGeom prst="ellipse">
            <a:avLst/>
          </a:prstGeom>
          <a:solidFill>
            <a:schemeClr val="accent6"/>
          </a:solidFill>
          <a:ln/>
        </p:spPr>
      </p:sp>
      <p:pic>
        <p:nvPicPr>
          <p:cNvPr id="6" name="icon-324" descr="CheckCircle icon">    </p:cNvPr>
          <p:cNvPicPr>
            <a:picLocks noChangeAspect="1"/>
          </p:cNvPicPr>
          <p:nvPr/>
        </p:nvPicPr>
        <p:blipFill>
          <a:blip r:embed="rId1"/>
          <a:stretch>
            <a:fillRect/>
          </a:stretch>
        </p:blipFill>
        <p:spPr>
          <a:xfrm>
            <a:off x="971093" y="2434133"/>
            <a:ext cx="252374" cy="252374"/>
          </a:xfrm>
          <a:prstGeom prst="rect">
            <a:avLst/>
          </a:prstGeom>
        </p:spPr>
      </p:pic>
      <p:sp>
        <p:nvSpPr>
          <p:cNvPr id="7" name="text-325"/>
          <p:cNvSpPr txBox="1"/>
          <p:nvPr/>
        </p:nvSpPr>
        <p:spPr>
          <a:xfrm>
            <a:off x="1554480" y="2194560"/>
            <a:ext cx="4206240" cy="320040"/>
          </a:xfrm>
          <a:prstGeom prst="rect">
            <a:avLst/>
          </a:prstGeom>
          <a:noFill/>
          <a:ln/>
        </p:spPr>
        <p:txBody>
          <a:bodyPr wrap="square" lIns="0" tIns="0" rIns="0" bIns="0" rtlCol="0" anchor="t"/>
          <a:lstStyle/>
          <a:p>
            <a:pPr indent="0" marL="0">
              <a:buNone/>
            </a:pPr>
            <a:r>
              <a:rPr lang="en-US" sz="1600" b="1" dirty="0">
                <a:solidFill>
                  <a:schemeClr val="tx1"/>
                </a:solidFill>
              </a:rPr>
              <a:t>Passed</a:t>
            </a:r>
            <a:endParaRPr lang="en-US" sz="1600" dirty="0"/>
          </a:p>
        </p:txBody>
      </p:sp>
      <p:sp>
        <p:nvSpPr>
          <p:cNvPr id="8" name="text-326"/>
          <p:cNvSpPr txBox="1"/>
          <p:nvPr/>
        </p:nvSpPr>
        <p:spPr>
          <a:xfrm>
            <a:off x="1554480" y="2532888"/>
            <a:ext cx="4206240" cy="868680"/>
          </a:xfrm>
          <a:prstGeom prst="rect">
            <a:avLst/>
          </a:prstGeom>
          <a:noFill/>
          <a:ln/>
        </p:spPr>
        <p:txBody>
          <a:bodyPr wrap="square" lIns="0" tIns="0" rIns="0" bIns="0" rtlCol="0" anchor="t"/>
          <a:lstStyle/>
          <a:p>
            <a:pPr indent="0" marL="0">
              <a:buNone/>
            </a:pPr>
            <a:r>
              <a:rPr lang="en-US" sz="1500" dirty="0">
                <a:solidFill>
                  <a:schemeClr val="accent4"/>
                </a:solidFill>
              </a:rPr>
              <a:t>Upload forged image: verdict and side-by-side output</a:t>
            </a:r>
            <a:endParaRPr lang="en-US" sz="1500" dirty="0"/>
          </a:p>
        </p:txBody>
      </p:sp>
      <p:sp>
        <p:nvSpPr>
          <p:cNvPr id="9" name="icon-bg-327"/>
          <p:cNvSpPr/>
          <p:nvPr/>
        </p:nvSpPr>
        <p:spPr>
          <a:xfrm>
            <a:off x="822960" y="3566160"/>
            <a:ext cx="548640" cy="548640"/>
          </a:xfrm>
          <a:prstGeom prst="ellipse">
            <a:avLst/>
          </a:prstGeom>
          <a:solidFill>
            <a:schemeClr val="accent6"/>
          </a:solidFill>
          <a:ln/>
        </p:spPr>
      </p:sp>
      <p:pic>
        <p:nvPicPr>
          <p:cNvPr id="10" name="icon-328" descr="Tools icon">    </p:cNvPr>
          <p:cNvPicPr>
            <a:picLocks noChangeAspect="1"/>
          </p:cNvPicPr>
          <p:nvPr/>
        </p:nvPicPr>
        <p:blipFill>
          <a:blip r:embed="rId2"/>
          <a:stretch>
            <a:fillRect/>
          </a:stretch>
        </p:blipFill>
        <p:spPr>
          <a:xfrm>
            <a:off x="971093" y="3714293"/>
            <a:ext cx="252374" cy="252374"/>
          </a:xfrm>
          <a:prstGeom prst="rect">
            <a:avLst/>
          </a:prstGeom>
        </p:spPr>
      </p:pic>
      <p:sp>
        <p:nvSpPr>
          <p:cNvPr id="11" name="text-329"/>
          <p:cNvSpPr txBox="1"/>
          <p:nvPr/>
        </p:nvSpPr>
        <p:spPr>
          <a:xfrm>
            <a:off x="1554480" y="3474720"/>
            <a:ext cx="4206240" cy="320040"/>
          </a:xfrm>
          <a:prstGeom prst="rect">
            <a:avLst/>
          </a:prstGeom>
          <a:noFill/>
          <a:ln/>
        </p:spPr>
        <p:txBody>
          <a:bodyPr wrap="square" lIns="0" tIns="0" rIns="0" bIns="0" rtlCol="0" anchor="t"/>
          <a:lstStyle/>
          <a:p>
            <a:pPr indent="0" marL="0">
              <a:buNone/>
            </a:pPr>
            <a:r>
              <a:rPr lang="en-US" sz="1600" b="1" dirty="0">
                <a:solidFill>
                  <a:schemeClr val="tx1"/>
                </a:solidFill>
              </a:rPr>
              <a:t>Fixed</a:t>
            </a:r>
            <a:endParaRPr lang="en-US" sz="1600" dirty="0"/>
          </a:p>
        </p:txBody>
      </p:sp>
      <p:sp>
        <p:nvSpPr>
          <p:cNvPr id="12" name="text-330"/>
          <p:cNvSpPr txBox="1"/>
          <p:nvPr/>
        </p:nvSpPr>
        <p:spPr>
          <a:xfrm>
            <a:off x="1554480" y="3813048"/>
            <a:ext cx="4206240" cy="868680"/>
          </a:xfrm>
          <a:prstGeom prst="rect">
            <a:avLst/>
          </a:prstGeom>
          <a:noFill/>
          <a:ln/>
        </p:spPr>
        <p:txBody>
          <a:bodyPr wrap="square" lIns="0" tIns="0" rIns="0" bIns="0" rtlCol="0" anchor="t"/>
          <a:lstStyle/>
          <a:p>
            <a:pPr indent="0" marL="0">
              <a:buNone/>
            </a:pPr>
            <a:r>
              <a:rPr lang="en-US" sz="1500" dirty="0">
                <a:solidFill>
                  <a:schemeClr val="accent4"/>
                </a:solidFill>
              </a:rPr>
              <a:t>Dark-mode readability defect found and corrected</a:t>
            </a:r>
            <a:endParaRPr lang="en-US" sz="1500" dirty="0"/>
          </a:p>
        </p:txBody>
      </p:sp>
      <p:sp>
        <p:nvSpPr>
          <p:cNvPr id="13" name="icon-bg-331"/>
          <p:cNvSpPr/>
          <p:nvPr/>
        </p:nvSpPr>
        <p:spPr>
          <a:xfrm>
            <a:off x="822960" y="4846320"/>
            <a:ext cx="548640" cy="548640"/>
          </a:xfrm>
          <a:prstGeom prst="ellipse">
            <a:avLst/>
          </a:prstGeom>
          <a:solidFill>
            <a:schemeClr val="accent4"/>
          </a:solidFill>
          <a:ln/>
        </p:spPr>
      </p:sp>
      <p:pic>
        <p:nvPicPr>
          <p:cNvPr id="14" name="icon-332" descr="Vial icon">    </p:cNvPr>
          <p:cNvPicPr>
            <a:picLocks noChangeAspect="1"/>
          </p:cNvPicPr>
          <p:nvPr/>
        </p:nvPicPr>
        <p:blipFill>
          <a:blip r:embed="rId3"/>
          <a:stretch>
            <a:fillRect/>
          </a:stretch>
        </p:blipFill>
        <p:spPr>
          <a:xfrm>
            <a:off x="971093" y="4994453"/>
            <a:ext cx="252374" cy="252374"/>
          </a:xfrm>
          <a:prstGeom prst="rect">
            <a:avLst/>
          </a:prstGeom>
        </p:spPr>
      </p:pic>
      <p:sp>
        <p:nvSpPr>
          <p:cNvPr id="15" name="text-333"/>
          <p:cNvSpPr txBox="1"/>
          <p:nvPr/>
        </p:nvSpPr>
        <p:spPr>
          <a:xfrm>
            <a:off x="1554480" y="4754880"/>
            <a:ext cx="4206240" cy="320040"/>
          </a:xfrm>
          <a:prstGeom prst="rect">
            <a:avLst/>
          </a:prstGeom>
          <a:noFill/>
          <a:ln/>
        </p:spPr>
        <p:txBody>
          <a:bodyPr wrap="square" lIns="0" tIns="0" rIns="0" bIns="0" rtlCol="0" anchor="t"/>
          <a:lstStyle/>
          <a:p>
            <a:pPr indent="0" marL="0">
              <a:buNone/>
            </a:pPr>
            <a:r>
              <a:rPr lang="en-US" sz="1600" b="1" dirty="0">
                <a:solidFill>
                  <a:schemeClr val="tx1"/>
                </a:solidFill>
              </a:rPr>
              <a:t>Planned</a:t>
            </a:r>
            <a:endParaRPr lang="en-US" sz="1600" dirty="0"/>
          </a:p>
        </p:txBody>
      </p:sp>
      <p:sp>
        <p:nvSpPr>
          <p:cNvPr id="16" name="text-334"/>
          <p:cNvSpPr txBox="1"/>
          <p:nvPr/>
        </p:nvSpPr>
        <p:spPr>
          <a:xfrm>
            <a:off x="1554480" y="5093208"/>
            <a:ext cx="4206240" cy="868680"/>
          </a:xfrm>
          <a:prstGeom prst="rect">
            <a:avLst/>
          </a:prstGeom>
          <a:noFill/>
          <a:ln/>
        </p:spPr>
        <p:txBody>
          <a:bodyPr wrap="square" lIns="0" tIns="0" rIns="0" bIns="0" rtlCol="0" anchor="t"/>
          <a:lstStyle/>
          <a:p>
            <a:pPr indent="0" marL="0">
              <a:buNone/>
            </a:pPr>
            <a:r>
              <a:rPr lang="en-US" sz="1500" dirty="0">
                <a:solidFill>
                  <a:schemeClr val="accent4"/>
                </a:solidFill>
              </a:rPr>
              <a:t>Originals, JPEG, blur and noise variants, corrupt file, textureless and very large images</a:t>
            </a:r>
            <a:endParaRPr lang="en-US" sz="1500" dirty="0"/>
          </a:p>
        </p:txBody>
      </p:sp>
      <p:sp>
        <p:nvSpPr>
          <p:cNvPr id="17" name="card-335"/>
          <p:cNvSpPr/>
          <p:nvPr/>
        </p:nvSpPr>
        <p:spPr>
          <a:xfrm>
            <a:off x="6199632" y="1463040"/>
            <a:ext cx="5440680" cy="4663440"/>
          </a:xfrm>
          <a:prstGeom prst="roundRect">
            <a:avLst>
              <a:gd name="adj" fmla="val 1961"/>
            </a:avLst>
          </a:prstGeom>
          <a:solidFill>
            <a:schemeClr val="bg2"/>
          </a:solidFill>
          <a:ln/>
        </p:spPr>
      </p:sp>
      <p:sp>
        <p:nvSpPr>
          <p:cNvPr id="18" name="text-336"/>
          <p:cNvSpPr txBox="1"/>
          <p:nvPr/>
        </p:nvSpPr>
        <p:spPr>
          <a:xfrm>
            <a:off x="6473952" y="1645920"/>
            <a:ext cx="4846320" cy="365760"/>
          </a:xfrm>
          <a:prstGeom prst="rect">
            <a:avLst/>
          </a:prstGeom>
          <a:noFill/>
          <a:ln/>
        </p:spPr>
        <p:txBody>
          <a:bodyPr wrap="square" lIns="0" tIns="0" rIns="0" bIns="0" rtlCol="0" anchor="t"/>
          <a:lstStyle/>
          <a:p>
            <a:pPr indent="0" marL="0">
              <a:buNone/>
            </a:pPr>
            <a:r>
              <a:rPr lang="en-US" sz="2000" b="1" dirty="0">
                <a:solidFill>
                  <a:schemeClr val="tx2"/>
                </a:solidFill>
              </a:rPr>
              <a:t>Proposed improvements</a:t>
            </a:r>
            <a:endParaRPr lang="en-US" sz="2000" dirty="0"/>
          </a:p>
        </p:txBody>
      </p:sp>
      <p:sp>
        <p:nvSpPr>
          <p:cNvPr id="19" name="num-bg-337"/>
          <p:cNvSpPr/>
          <p:nvPr/>
        </p:nvSpPr>
        <p:spPr>
          <a:xfrm>
            <a:off x="6473952" y="2240280"/>
            <a:ext cx="411480" cy="411480"/>
          </a:xfrm>
          <a:prstGeom prst="ellipse">
            <a:avLst/>
          </a:prstGeom>
          <a:solidFill>
            <a:schemeClr val="accent1"/>
          </a:solidFill>
          <a:ln/>
        </p:spPr>
      </p:sp>
      <p:sp>
        <p:nvSpPr>
          <p:cNvPr id="20" name="text-338"/>
          <p:cNvSpPr txBox="1"/>
          <p:nvPr/>
        </p:nvSpPr>
        <p:spPr>
          <a:xfrm>
            <a:off x="6473952" y="224028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21" name="text-339"/>
          <p:cNvSpPr txBox="1"/>
          <p:nvPr/>
        </p:nvSpPr>
        <p:spPr>
          <a:xfrm>
            <a:off x="7086600" y="2194560"/>
            <a:ext cx="4343400" cy="640080"/>
          </a:xfrm>
          <a:prstGeom prst="rect">
            <a:avLst/>
          </a:prstGeom>
          <a:noFill/>
          <a:ln/>
        </p:spPr>
        <p:txBody>
          <a:bodyPr wrap="square" lIns="0" tIns="0" rIns="0" bIns="0" rtlCol="0" anchor="ctr"/>
          <a:lstStyle/>
          <a:p>
            <a:pPr indent="0" marL="0">
              <a:buNone/>
            </a:pPr>
            <a:r>
              <a:rPr lang="en-US" sz="1500" b="1" dirty="0">
                <a:solidFill>
                  <a:schemeClr val="tx1"/>
                </a:solidFill>
              </a:rPr>
              <a:t>Symmetric inliers: </a:t>
            </a:r>
            <a:pPr indent="0" marL="0">
              <a:buNone/>
            </a:pPr>
            <a:r>
              <a:rPr lang="en-US" sz="1500" dirty="0">
                <a:solidFill>
                  <a:schemeClr val="tx1"/>
                </a:solidFill>
              </a:rPr>
              <a:t>count matches fitting the transform or its inverse</a:t>
            </a:r>
            <a:endParaRPr lang="en-US" sz="1500" dirty="0"/>
          </a:p>
        </p:txBody>
      </p:sp>
      <p:sp>
        <p:nvSpPr>
          <p:cNvPr id="22" name="num-bg-340"/>
          <p:cNvSpPr/>
          <p:nvPr/>
        </p:nvSpPr>
        <p:spPr>
          <a:xfrm>
            <a:off x="6473952" y="3017520"/>
            <a:ext cx="411480" cy="411480"/>
          </a:xfrm>
          <a:prstGeom prst="ellipse">
            <a:avLst/>
          </a:prstGeom>
          <a:solidFill>
            <a:schemeClr val="accent1"/>
          </a:solidFill>
          <a:ln/>
        </p:spPr>
      </p:sp>
      <p:sp>
        <p:nvSpPr>
          <p:cNvPr id="23" name="text-341"/>
          <p:cNvSpPr txBox="1"/>
          <p:nvPr/>
        </p:nvSpPr>
        <p:spPr>
          <a:xfrm>
            <a:off x="6473952" y="301752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24" name="text-342"/>
          <p:cNvSpPr txBox="1"/>
          <p:nvPr/>
        </p:nvSpPr>
        <p:spPr>
          <a:xfrm>
            <a:off x="7086600" y="2971800"/>
            <a:ext cx="4343400" cy="640080"/>
          </a:xfrm>
          <a:prstGeom prst="rect">
            <a:avLst/>
          </a:prstGeom>
          <a:noFill/>
          <a:ln/>
        </p:spPr>
        <p:txBody>
          <a:bodyPr wrap="square" lIns="0" tIns="0" rIns="0" bIns="0" rtlCol="0" anchor="ctr"/>
          <a:lstStyle/>
          <a:p>
            <a:pPr indent="0" marL="0">
              <a:buNone/>
            </a:pPr>
            <a:r>
              <a:rPr lang="en-US" sz="1500" b="1" dirty="0">
                <a:solidFill>
                  <a:schemeClr val="tx1"/>
                </a:solidFill>
              </a:rPr>
              <a:t>Iterative RANSAC: </a:t>
            </a:r>
            <a:pPr indent="0" marL="0">
              <a:buNone/>
            </a:pPr>
            <a:r>
              <a:rPr lang="en-US" sz="1500" dirty="0">
                <a:solidFill>
                  <a:schemeClr val="tx1"/>
                </a:solidFill>
              </a:rPr>
              <a:t>catch several cloned regions</a:t>
            </a:r>
            <a:endParaRPr lang="en-US" sz="1500" dirty="0"/>
          </a:p>
        </p:txBody>
      </p:sp>
      <p:sp>
        <p:nvSpPr>
          <p:cNvPr id="25" name="num-bg-343"/>
          <p:cNvSpPr/>
          <p:nvPr/>
        </p:nvSpPr>
        <p:spPr>
          <a:xfrm>
            <a:off x="6473952" y="3794760"/>
            <a:ext cx="411480" cy="411480"/>
          </a:xfrm>
          <a:prstGeom prst="ellipse">
            <a:avLst/>
          </a:prstGeom>
          <a:solidFill>
            <a:schemeClr val="accent1"/>
          </a:solidFill>
          <a:ln/>
        </p:spPr>
      </p:sp>
      <p:sp>
        <p:nvSpPr>
          <p:cNvPr id="26" name="text-344"/>
          <p:cNvSpPr txBox="1"/>
          <p:nvPr/>
        </p:nvSpPr>
        <p:spPr>
          <a:xfrm>
            <a:off x="6473952" y="379476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27" name="text-345"/>
          <p:cNvSpPr txBox="1"/>
          <p:nvPr/>
        </p:nvSpPr>
        <p:spPr>
          <a:xfrm>
            <a:off x="7086600" y="3749040"/>
            <a:ext cx="4343400" cy="640080"/>
          </a:xfrm>
          <a:prstGeom prst="rect">
            <a:avLst/>
          </a:prstGeom>
          <a:noFill/>
          <a:ln/>
        </p:spPr>
        <p:txBody>
          <a:bodyPr wrap="square" lIns="0" tIns="0" rIns="0" bIns="0" rtlCol="0" anchor="ctr"/>
          <a:lstStyle/>
          <a:p>
            <a:pPr indent="0" marL="0">
              <a:buNone/>
            </a:pPr>
            <a:r>
              <a:rPr lang="en-US" sz="1500" b="1" dirty="0">
                <a:solidFill>
                  <a:schemeClr val="tx1"/>
                </a:solidFill>
              </a:rPr>
              <a:t>g2NN matching: </a:t>
            </a:r>
            <a:pPr indent="0" marL="0">
              <a:buNone/>
            </a:pPr>
            <a:r>
              <a:rPr lang="en-US" sz="1500" dirty="0">
                <a:solidFill>
                  <a:schemeClr val="tx1"/>
                </a:solidFill>
              </a:rPr>
              <a:t>handle regions copied more than once</a:t>
            </a:r>
            <a:endParaRPr lang="en-US" sz="1500" dirty="0"/>
          </a:p>
        </p:txBody>
      </p:sp>
      <p:sp>
        <p:nvSpPr>
          <p:cNvPr id="28" name="num-bg-346"/>
          <p:cNvSpPr/>
          <p:nvPr/>
        </p:nvSpPr>
        <p:spPr>
          <a:xfrm>
            <a:off x="6473952" y="4572000"/>
            <a:ext cx="411480" cy="411480"/>
          </a:xfrm>
          <a:prstGeom prst="ellipse">
            <a:avLst/>
          </a:prstGeom>
          <a:solidFill>
            <a:schemeClr val="accent1"/>
          </a:solidFill>
          <a:ln/>
        </p:spPr>
      </p:sp>
      <p:sp>
        <p:nvSpPr>
          <p:cNvPr id="29" name="text-347"/>
          <p:cNvSpPr txBox="1"/>
          <p:nvPr/>
        </p:nvSpPr>
        <p:spPr>
          <a:xfrm>
            <a:off x="6473952" y="457200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30" name="text-348"/>
          <p:cNvSpPr txBox="1"/>
          <p:nvPr/>
        </p:nvSpPr>
        <p:spPr>
          <a:xfrm>
            <a:off x="7086600" y="4526280"/>
            <a:ext cx="4343400" cy="640080"/>
          </a:xfrm>
          <a:prstGeom prst="rect">
            <a:avLst/>
          </a:prstGeom>
          <a:noFill/>
          <a:ln/>
        </p:spPr>
        <p:txBody>
          <a:bodyPr wrap="square" lIns="0" tIns="0" rIns="0" bIns="0" rtlCol="0" anchor="ctr"/>
          <a:lstStyle/>
          <a:p>
            <a:pPr indent="0" marL="0">
              <a:buNone/>
            </a:pPr>
            <a:r>
              <a:rPr lang="en-US" sz="1500" b="1" dirty="0">
                <a:solidFill>
                  <a:schemeClr val="tx1"/>
                </a:solidFill>
              </a:rPr>
              <a:t>Transform-guided mask: </a:t>
            </a:r>
            <a:pPr indent="0" marL="0">
              <a:buNone/>
            </a:pPr>
            <a:r>
              <a:rPr lang="en-US" sz="1500" dirty="0">
                <a:solidFill>
                  <a:schemeClr val="tx1"/>
                </a:solidFill>
              </a:rPr>
              <a:t>better pixel IoU than hulls</a:t>
            </a:r>
            <a:endParaRPr lang="en-US" sz="1500" dirty="0"/>
          </a:p>
        </p:txBody>
      </p:sp>
      <p:sp>
        <p:nvSpPr>
          <p:cNvPr id="31" name="num-bg-349"/>
          <p:cNvSpPr/>
          <p:nvPr/>
        </p:nvSpPr>
        <p:spPr>
          <a:xfrm>
            <a:off x="6473952" y="5349240"/>
            <a:ext cx="411480" cy="411480"/>
          </a:xfrm>
          <a:prstGeom prst="ellipse">
            <a:avLst/>
          </a:prstGeom>
          <a:solidFill>
            <a:schemeClr val="accent1"/>
          </a:solidFill>
          <a:ln/>
        </p:spPr>
      </p:sp>
      <p:sp>
        <p:nvSpPr>
          <p:cNvPr id="32" name="text-350"/>
          <p:cNvSpPr txBox="1"/>
          <p:nvPr/>
        </p:nvSpPr>
        <p:spPr>
          <a:xfrm>
            <a:off x="6473952" y="5349240"/>
            <a:ext cx="411480" cy="411480"/>
          </a:xfrm>
          <a:prstGeom prst="rect">
            <a:avLst/>
          </a:prstGeom>
          <a:noFill/>
          <a:ln/>
        </p:spPr>
        <p:txBody>
          <a:bodyPr wrap="square" lIns="0" tIns="0" rIns="0" bIns="0" rtlCol="0" anchor="ctr"/>
          <a:lstStyle/>
          <a:p>
            <a:pPr algn="ctr" indent="0" marL="0">
              <a:buNone/>
            </a:pPr>
            <a:r>
              <a:rPr lang="en-US" sz="1400" b="1" dirty="0">
                <a:solidFill>
                  <a:schemeClr val="bg1"/>
                </a:solidFill>
              </a:rPr>
              <a:t>5</a:t>
            </a:r>
            <a:endParaRPr lang="en-US" sz="1400" dirty="0"/>
          </a:p>
        </p:txBody>
      </p:sp>
      <p:sp>
        <p:nvSpPr>
          <p:cNvPr id="33" name="text-351"/>
          <p:cNvSpPr txBox="1"/>
          <p:nvPr/>
        </p:nvSpPr>
        <p:spPr>
          <a:xfrm>
            <a:off x="7086600" y="5303520"/>
            <a:ext cx="4343400" cy="640080"/>
          </a:xfrm>
          <a:prstGeom prst="rect">
            <a:avLst/>
          </a:prstGeom>
          <a:noFill/>
          <a:ln/>
        </p:spPr>
        <p:txBody>
          <a:bodyPr wrap="square" lIns="0" tIns="0" rIns="0" bIns="0" rtlCol="0" anchor="ctr"/>
          <a:lstStyle/>
          <a:p>
            <a:pPr indent="0" marL="0">
              <a:buNone/>
            </a:pPr>
            <a:r>
              <a:rPr lang="en-US" sz="1500" b="1" dirty="0">
                <a:solidFill>
                  <a:schemeClr val="tx1"/>
                </a:solidFill>
              </a:rPr>
              <a:t>RootSIFT, more keypoints: </a:t>
            </a:r>
            <a:pPr indent="0" marL="0">
              <a:buNone/>
            </a:pPr>
            <a:r>
              <a:rPr lang="en-US" sz="1500" dirty="0">
                <a:solidFill>
                  <a:schemeClr val="tx1"/>
                </a:solidFill>
              </a:rPr>
              <a:t>help smooth areas</a:t>
            </a:r>
            <a:endParaRPr lang="en-US" sz="15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Limitations and Future Work</a:t>
            </a:r>
            <a:endParaRPr lang="en-US" sz="3600" dirty="0"/>
          </a:p>
        </p:txBody>
      </p:sp>
      <p:sp>
        <p:nvSpPr>
          <p:cNvPr id="3" name="card-352"/>
          <p:cNvSpPr/>
          <p:nvPr/>
        </p:nvSpPr>
        <p:spPr>
          <a:xfrm>
            <a:off x="548640" y="1463040"/>
            <a:ext cx="5440680" cy="4663440"/>
          </a:xfrm>
          <a:prstGeom prst="roundRect">
            <a:avLst>
              <a:gd name="adj" fmla="val 1961"/>
            </a:avLst>
          </a:prstGeom>
          <a:solidFill>
            <a:schemeClr val="accent2">
              <a:alpha val="8000"/>
            </a:schemeClr>
          </a:solidFill>
          <a:ln/>
        </p:spPr>
      </p:sp>
      <p:sp>
        <p:nvSpPr>
          <p:cNvPr id="4" name="icon-bg-353"/>
          <p:cNvSpPr/>
          <p:nvPr/>
        </p:nvSpPr>
        <p:spPr>
          <a:xfrm>
            <a:off x="822960" y="1645920"/>
            <a:ext cx="502920" cy="502920"/>
          </a:xfrm>
          <a:prstGeom prst="ellipse">
            <a:avLst/>
          </a:prstGeom>
          <a:solidFill>
            <a:schemeClr val="accent2"/>
          </a:solidFill>
          <a:ln/>
        </p:spPr>
      </p:sp>
      <p:pic>
        <p:nvPicPr>
          <p:cNvPr id="5" name="icon-354" descr="ExclamationTriangle icon">    </p:cNvPr>
          <p:cNvPicPr>
            <a:picLocks noChangeAspect="1"/>
          </p:cNvPicPr>
          <p:nvPr/>
        </p:nvPicPr>
        <p:blipFill>
          <a:blip r:embed="rId1"/>
          <a:stretch>
            <a:fillRect/>
          </a:stretch>
        </p:blipFill>
        <p:spPr>
          <a:xfrm>
            <a:off x="958748" y="1781708"/>
            <a:ext cx="231343" cy="231343"/>
          </a:xfrm>
          <a:prstGeom prst="rect">
            <a:avLst/>
          </a:prstGeom>
        </p:spPr>
      </p:pic>
      <p:sp>
        <p:nvSpPr>
          <p:cNvPr id="6" name="text-355"/>
          <p:cNvSpPr txBox="1"/>
          <p:nvPr/>
        </p:nvSpPr>
        <p:spPr>
          <a:xfrm>
            <a:off x="1508760" y="1645920"/>
            <a:ext cx="4114800" cy="502920"/>
          </a:xfrm>
          <a:prstGeom prst="rect">
            <a:avLst/>
          </a:prstGeom>
          <a:noFill/>
          <a:ln/>
        </p:spPr>
        <p:txBody>
          <a:bodyPr wrap="square" lIns="0" tIns="0" rIns="0" bIns="0" rtlCol="0" anchor="ctr"/>
          <a:lstStyle/>
          <a:p>
            <a:pPr indent="0" marL="0">
              <a:buNone/>
            </a:pPr>
            <a:r>
              <a:rPr lang="en-US" sz="2000" b="1" dirty="0">
                <a:solidFill>
                  <a:schemeClr val="tx1"/>
                </a:solidFill>
              </a:rPr>
              <a:t>Limitations</a:t>
            </a:r>
            <a:endParaRPr lang="en-US" sz="2000" dirty="0"/>
          </a:p>
        </p:txBody>
      </p:sp>
      <p:sp>
        <p:nvSpPr>
          <p:cNvPr id="7" name="text-356"/>
          <p:cNvSpPr txBox="1"/>
          <p:nvPr/>
        </p:nvSpPr>
        <p:spPr>
          <a:xfrm>
            <a:off x="822960" y="2377440"/>
            <a:ext cx="4937760" cy="3657600"/>
          </a:xfrm>
          <a:prstGeom prst="rect">
            <a:avLst/>
          </a:prstGeom>
          <a:noFill/>
          <a:ln/>
        </p:spPr>
        <p:txBody>
          <a:bodyPr wrap="square" lIns="0" tIns="0" rIns="0" bIns="0" rtlCol="0" anchor="t"/>
          <a:lstStyle/>
          <a:p>
            <a:pPr marL="203200" indent="-203200">
              <a:spcAft>
                <a:spcPts val="1000"/>
              </a:spcAft>
              <a:buSzPct val="100000"/>
              <a:buChar char="•"/>
            </a:pPr>
            <a:r>
              <a:rPr lang="en-US" sz="1600" dirty="0">
                <a:solidFill>
                  <a:schemeClr val="tx1"/>
                </a:solidFill>
              </a:rPr>
              <a:t>Smooth-region clones (sky, walls) are often missed</a:t>
            </a:r>
            <a:endParaRPr lang="en-US" sz="1600" dirty="0"/>
          </a:p>
          <a:p>
            <a:pPr marL="203200" indent="-203200">
              <a:spcAft>
                <a:spcPts val="1000"/>
              </a:spcAft>
              <a:buSzPct val="100000"/>
              <a:buChar char="•"/>
            </a:pPr>
            <a:r>
              <a:rPr lang="en-US" sz="1600" dirty="0">
                <a:solidFill>
                  <a:schemeClr val="tx1"/>
                </a:solidFill>
              </a:rPr>
              <a:t>Mask is approximate: hulls of sparse keypoints</a:t>
            </a:r>
            <a:endParaRPr lang="en-US" sz="1600" dirty="0"/>
          </a:p>
          <a:p>
            <a:pPr marL="203200" indent="-203200">
              <a:spcAft>
                <a:spcPts val="1000"/>
              </a:spcAft>
              <a:buSzPct val="100000"/>
              <a:buChar char="•"/>
            </a:pPr>
            <a:r>
              <a:rPr lang="en-US" sz="1600" dirty="0">
                <a:solidFill>
                  <a:schemeClr val="tx1"/>
                </a:solidFill>
              </a:rPr>
              <a:t>Natural repetition can trigger false alarms</a:t>
            </a:r>
            <a:endParaRPr lang="en-US" sz="1600" dirty="0"/>
          </a:p>
          <a:p>
            <a:pPr marL="203200" indent="-203200">
              <a:spcAft>
                <a:spcPts val="1000"/>
              </a:spcAft>
              <a:buSzPct val="100000"/>
              <a:buChar char="•"/>
            </a:pPr>
            <a:r>
              <a:rPr lang="en-US" sz="1600" dirty="0">
                <a:solidFill>
                  <a:schemeClr val="tx1"/>
                </a:solidFill>
              </a:rPr>
              <a:t>One similarity transform only</a:t>
            </a:r>
            <a:endParaRPr lang="en-US" sz="1600" dirty="0"/>
          </a:p>
          <a:p>
            <a:pPr marL="203200" indent="-203200">
              <a:spcAft>
                <a:spcPts val="1000"/>
              </a:spcAft>
              <a:buSzPct val="100000"/>
              <a:buChar char="•"/>
            </a:pPr>
            <a:r>
              <a:rPr lang="en-US" sz="1600" dirty="0">
                <a:solidFill>
                  <a:schemeClr val="tx1"/>
                </a:solidFill>
              </a:rPr>
              <a:t>Heavy blur, noise or compression removes detail</a:t>
            </a:r>
            <a:endParaRPr lang="en-US" sz="1600" dirty="0"/>
          </a:p>
          <a:p>
            <a:pPr marL="203200" indent="-203200">
              <a:spcAft>
                <a:spcPts val="1000"/>
              </a:spcAft>
              <a:buSzPct val="100000"/>
              <a:buChar char="•"/>
            </a:pPr>
            <a:r>
              <a:rPr lang="en-US" sz="1600" dirty="0">
                <a:solidFill>
                  <a:schemeClr val="tx1"/>
                </a:solidFill>
              </a:rPr>
              <a:t>Output is a lead, not proof</a:t>
            </a:r>
            <a:endParaRPr lang="en-US" sz="1600" dirty="0"/>
          </a:p>
        </p:txBody>
      </p:sp>
      <p:sp>
        <p:nvSpPr>
          <p:cNvPr id="8" name="text-357"/>
          <p:cNvSpPr txBox="1"/>
          <p:nvPr/>
        </p:nvSpPr>
        <p:spPr>
          <a:xfrm>
            <a:off x="6400800" y="1554480"/>
            <a:ext cx="5212080" cy="411480"/>
          </a:xfrm>
          <a:prstGeom prst="rect">
            <a:avLst/>
          </a:prstGeom>
          <a:noFill/>
          <a:ln/>
        </p:spPr>
        <p:txBody>
          <a:bodyPr wrap="square" lIns="0" tIns="0" rIns="0" bIns="0" rtlCol="0" anchor="t"/>
          <a:lstStyle/>
          <a:p>
            <a:pPr indent="0" marL="0">
              <a:buNone/>
            </a:pPr>
            <a:r>
              <a:rPr lang="en-US" sz="2000" b="1" dirty="0">
                <a:solidFill>
                  <a:schemeClr val="tx2"/>
                </a:solidFill>
              </a:rPr>
              <a:t>Future work</a:t>
            </a:r>
            <a:endParaRPr lang="en-US" sz="2000" dirty="0"/>
          </a:p>
        </p:txBody>
      </p:sp>
      <p:sp>
        <p:nvSpPr>
          <p:cNvPr id="9" name="num-bg-358"/>
          <p:cNvSpPr/>
          <p:nvPr/>
        </p:nvSpPr>
        <p:spPr>
          <a:xfrm>
            <a:off x="6400800" y="2194560"/>
            <a:ext cx="457200" cy="457200"/>
          </a:xfrm>
          <a:prstGeom prst="ellipse">
            <a:avLst/>
          </a:prstGeom>
          <a:solidFill>
            <a:schemeClr val="accent1"/>
          </a:solidFill>
          <a:ln/>
        </p:spPr>
      </p:sp>
      <p:sp>
        <p:nvSpPr>
          <p:cNvPr id="10" name="text-359"/>
          <p:cNvSpPr txBox="1"/>
          <p:nvPr/>
        </p:nvSpPr>
        <p:spPr>
          <a:xfrm>
            <a:off x="6400800" y="219456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11" name="link-360"/>
          <p:cNvSpPr/>
          <p:nvPr/>
        </p:nvSpPr>
        <p:spPr>
          <a:xfrm>
            <a:off x="6629400" y="2651760"/>
            <a:ext cx="0" cy="301752"/>
          </a:xfrm>
          <a:prstGeom prst="line">
            <a:avLst/>
          </a:prstGeom>
          <a:noFill/>
          <a:ln w="25400">
            <a:solidFill>
              <a:schemeClr val="accent5"/>
            </a:solidFill>
            <a:prstDash val="solid"/>
          </a:ln>
        </p:spPr>
      </p:sp>
      <p:sp>
        <p:nvSpPr>
          <p:cNvPr id="12" name="text-361"/>
          <p:cNvSpPr txBox="1"/>
          <p:nvPr/>
        </p:nvSpPr>
        <p:spPr>
          <a:xfrm>
            <a:off x="7086600" y="2148840"/>
            <a:ext cx="4526280" cy="640080"/>
          </a:xfrm>
          <a:prstGeom prst="rect">
            <a:avLst/>
          </a:prstGeom>
          <a:noFill/>
          <a:ln/>
        </p:spPr>
        <p:txBody>
          <a:bodyPr wrap="square" lIns="0" tIns="0" rIns="0" bIns="0" rtlCol="0" anchor="ctr"/>
          <a:lstStyle/>
          <a:p>
            <a:pPr indent="0" marL="0">
              <a:buNone/>
            </a:pPr>
            <a:r>
              <a:rPr lang="en-US" sz="1600" dirty="0">
                <a:solidFill>
                  <a:schemeClr val="tx1"/>
                </a:solidFill>
              </a:rPr>
              <a:t>Integrate the accuracy fixes from the review</a:t>
            </a:r>
            <a:endParaRPr lang="en-US" sz="1600" dirty="0"/>
          </a:p>
        </p:txBody>
      </p:sp>
      <p:sp>
        <p:nvSpPr>
          <p:cNvPr id="13" name="num-bg-362"/>
          <p:cNvSpPr/>
          <p:nvPr/>
        </p:nvSpPr>
        <p:spPr>
          <a:xfrm>
            <a:off x="6400800" y="2999232"/>
            <a:ext cx="457200" cy="457200"/>
          </a:xfrm>
          <a:prstGeom prst="ellipse">
            <a:avLst/>
          </a:prstGeom>
          <a:solidFill>
            <a:schemeClr val="accent1"/>
          </a:solidFill>
          <a:ln/>
        </p:spPr>
      </p:sp>
      <p:sp>
        <p:nvSpPr>
          <p:cNvPr id="14" name="text-363"/>
          <p:cNvSpPr txBox="1"/>
          <p:nvPr/>
        </p:nvSpPr>
        <p:spPr>
          <a:xfrm>
            <a:off x="6400800" y="2999232"/>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5" name="link-364"/>
          <p:cNvSpPr/>
          <p:nvPr/>
        </p:nvSpPr>
        <p:spPr>
          <a:xfrm>
            <a:off x="6629400" y="3456432"/>
            <a:ext cx="0" cy="301752"/>
          </a:xfrm>
          <a:prstGeom prst="line">
            <a:avLst/>
          </a:prstGeom>
          <a:noFill/>
          <a:ln w="25400">
            <a:solidFill>
              <a:schemeClr val="accent5"/>
            </a:solidFill>
            <a:prstDash val="solid"/>
          </a:ln>
        </p:spPr>
      </p:sp>
      <p:sp>
        <p:nvSpPr>
          <p:cNvPr id="16" name="text-365"/>
          <p:cNvSpPr txBox="1"/>
          <p:nvPr/>
        </p:nvSpPr>
        <p:spPr>
          <a:xfrm>
            <a:off x="7086600" y="2953512"/>
            <a:ext cx="4526280" cy="640080"/>
          </a:xfrm>
          <a:prstGeom prst="rect">
            <a:avLst/>
          </a:prstGeom>
          <a:noFill/>
          <a:ln/>
        </p:spPr>
        <p:txBody>
          <a:bodyPr wrap="square" lIns="0" tIns="0" rIns="0" bIns="0" rtlCol="0" anchor="ctr"/>
          <a:lstStyle/>
          <a:p>
            <a:pPr indent="0" marL="0">
              <a:buNone/>
            </a:pPr>
            <a:r>
              <a:rPr lang="en-US" sz="1600" dirty="0">
                <a:solidFill>
                  <a:schemeClr val="tx1"/>
                </a:solidFill>
              </a:rPr>
              <a:t>Add a dense block-based or PatchMatch detector for smooth areas</a:t>
            </a:r>
            <a:endParaRPr lang="en-US" sz="1600" dirty="0"/>
          </a:p>
        </p:txBody>
      </p:sp>
      <p:sp>
        <p:nvSpPr>
          <p:cNvPr id="17" name="num-bg-366"/>
          <p:cNvSpPr/>
          <p:nvPr/>
        </p:nvSpPr>
        <p:spPr>
          <a:xfrm>
            <a:off x="6400800" y="3803904"/>
            <a:ext cx="457200" cy="457200"/>
          </a:xfrm>
          <a:prstGeom prst="ellipse">
            <a:avLst/>
          </a:prstGeom>
          <a:solidFill>
            <a:schemeClr val="accent1"/>
          </a:solidFill>
          <a:ln/>
        </p:spPr>
      </p:sp>
      <p:sp>
        <p:nvSpPr>
          <p:cNvPr id="18" name="text-367"/>
          <p:cNvSpPr txBox="1"/>
          <p:nvPr/>
        </p:nvSpPr>
        <p:spPr>
          <a:xfrm>
            <a:off x="6400800" y="3803904"/>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9" name="link-368"/>
          <p:cNvSpPr/>
          <p:nvPr/>
        </p:nvSpPr>
        <p:spPr>
          <a:xfrm>
            <a:off x="6629400" y="4261104"/>
            <a:ext cx="0" cy="301752"/>
          </a:xfrm>
          <a:prstGeom prst="line">
            <a:avLst/>
          </a:prstGeom>
          <a:noFill/>
          <a:ln w="25400">
            <a:solidFill>
              <a:schemeClr val="accent5"/>
            </a:solidFill>
            <a:prstDash val="solid"/>
          </a:ln>
        </p:spPr>
      </p:sp>
      <p:sp>
        <p:nvSpPr>
          <p:cNvPr id="20" name="text-369"/>
          <p:cNvSpPr txBox="1"/>
          <p:nvPr/>
        </p:nvSpPr>
        <p:spPr>
          <a:xfrm>
            <a:off x="7086600" y="3758184"/>
            <a:ext cx="4526280" cy="640080"/>
          </a:xfrm>
          <a:prstGeom prst="rect">
            <a:avLst/>
          </a:prstGeom>
          <a:noFill/>
          <a:ln/>
        </p:spPr>
        <p:txBody>
          <a:bodyPr wrap="square" lIns="0" tIns="0" rIns="0" bIns="0" rtlCol="0" anchor="ctr"/>
          <a:lstStyle/>
          <a:p>
            <a:pPr indent="0" marL="0">
              <a:buNone/>
            </a:pPr>
            <a:r>
              <a:rPr lang="en-US" sz="1600" dirty="0">
                <a:solidFill>
                  <a:schemeClr val="tx1"/>
                </a:solidFill>
              </a:rPr>
              <a:t>Full evaluation: dev/test split, macro metrics, robustness table</a:t>
            </a:r>
            <a:endParaRPr lang="en-US" sz="1600" dirty="0"/>
          </a:p>
        </p:txBody>
      </p:sp>
      <p:sp>
        <p:nvSpPr>
          <p:cNvPr id="21" name="num-bg-370"/>
          <p:cNvSpPr/>
          <p:nvPr/>
        </p:nvSpPr>
        <p:spPr>
          <a:xfrm>
            <a:off x="6400800" y="4608576"/>
            <a:ext cx="457200" cy="457200"/>
          </a:xfrm>
          <a:prstGeom prst="ellipse">
            <a:avLst/>
          </a:prstGeom>
          <a:solidFill>
            <a:schemeClr val="accent1"/>
          </a:solidFill>
          <a:ln/>
        </p:spPr>
      </p:sp>
      <p:sp>
        <p:nvSpPr>
          <p:cNvPr id="22" name="text-371"/>
          <p:cNvSpPr txBox="1"/>
          <p:nvPr/>
        </p:nvSpPr>
        <p:spPr>
          <a:xfrm>
            <a:off x="6400800" y="4608576"/>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23" name="link-372"/>
          <p:cNvSpPr/>
          <p:nvPr/>
        </p:nvSpPr>
        <p:spPr>
          <a:xfrm>
            <a:off x="6629400" y="5065776"/>
            <a:ext cx="0" cy="301752"/>
          </a:xfrm>
          <a:prstGeom prst="line">
            <a:avLst/>
          </a:prstGeom>
          <a:noFill/>
          <a:ln w="25400">
            <a:solidFill>
              <a:schemeClr val="accent5"/>
            </a:solidFill>
            <a:prstDash val="solid"/>
          </a:ln>
        </p:spPr>
      </p:sp>
      <p:sp>
        <p:nvSpPr>
          <p:cNvPr id="24" name="text-373"/>
          <p:cNvSpPr txBox="1"/>
          <p:nvPr/>
        </p:nvSpPr>
        <p:spPr>
          <a:xfrm>
            <a:off x="7086600" y="4562856"/>
            <a:ext cx="4526280" cy="640080"/>
          </a:xfrm>
          <a:prstGeom prst="rect">
            <a:avLst/>
          </a:prstGeom>
          <a:noFill/>
          <a:ln/>
        </p:spPr>
        <p:txBody>
          <a:bodyPr wrap="square" lIns="0" tIns="0" rIns="0" bIns="0" rtlCol="0" anchor="ctr"/>
          <a:lstStyle/>
          <a:p>
            <a:pPr indent="0" marL="0">
              <a:buNone/>
            </a:pPr>
            <a:r>
              <a:rPr lang="en-US" sz="1600" dirty="0">
                <a:solidFill>
                  <a:schemeClr val="tx1"/>
                </a:solidFill>
              </a:rPr>
              <a:t>Batch mode in the web app</a:t>
            </a:r>
            <a:endParaRPr lang="en-US" sz="1600" dirty="0"/>
          </a:p>
        </p:txBody>
      </p:sp>
      <p:sp>
        <p:nvSpPr>
          <p:cNvPr id="25" name="num-bg-374"/>
          <p:cNvSpPr/>
          <p:nvPr/>
        </p:nvSpPr>
        <p:spPr>
          <a:xfrm>
            <a:off x="6400800" y="5413248"/>
            <a:ext cx="457200" cy="457200"/>
          </a:xfrm>
          <a:prstGeom prst="ellipse">
            <a:avLst/>
          </a:prstGeom>
          <a:solidFill>
            <a:schemeClr val="accent1"/>
          </a:solidFill>
          <a:ln/>
        </p:spPr>
      </p:sp>
      <p:sp>
        <p:nvSpPr>
          <p:cNvPr id="26" name="text-375"/>
          <p:cNvSpPr txBox="1"/>
          <p:nvPr/>
        </p:nvSpPr>
        <p:spPr>
          <a:xfrm>
            <a:off x="6400800" y="541324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7" name="text-376"/>
          <p:cNvSpPr txBox="1"/>
          <p:nvPr/>
        </p:nvSpPr>
        <p:spPr>
          <a:xfrm>
            <a:off x="7086600" y="5367528"/>
            <a:ext cx="4526280" cy="640080"/>
          </a:xfrm>
          <a:prstGeom prst="rect">
            <a:avLst/>
          </a:prstGeom>
          <a:noFill/>
          <a:ln/>
        </p:spPr>
        <p:txBody>
          <a:bodyPr wrap="square" lIns="0" tIns="0" rIns="0" bIns="0" rtlCol="0" anchor="ctr"/>
          <a:lstStyle/>
          <a:p>
            <a:pPr indent="0" marL="0">
              <a:buNone/>
            </a:pPr>
            <a:r>
              <a:rPr lang="en-US" sz="1600" dirty="0">
                <a:solidFill>
                  <a:schemeClr val="tx1"/>
                </a:solidFill>
              </a:rPr>
              <a:t>Compare with deep-learning detectors</a:t>
            </a:r>
            <a:endParaRPr lang="en-US" sz="16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Real-World Use Cases</a:t>
            </a:r>
            <a:endParaRPr lang="en-US" sz="3600" dirty="0"/>
          </a:p>
        </p:txBody>
      </p:sp>
      <p:sp>
        <p:nvSpPr>
          <p:cNvPr id="3" name="card-377"/>
          <p:cNvSpPr/>
          <p:nvPr/>
        </p:nvSpPr>
        <p:spPr>
          <a:xfrm>
            <a:off x="548640" y="1417320"/>
            <a:ext cx="3566160" cy="2057400"/>
          </a:xfrm>
          <a:prstGeom prst="roundRect">
            <a:avLst>
              <a:gd name="adj" fmla="val 4444"/>
            </a:avLst>
          </a:prstGeom>
          <a:solidFill>
            <a:schemeClr val="bg2"/>
          </a:solidFill>
          <a:ln/>
        </p:spPr>
      </p:sp>
      <p:sp>
        <p:nvSpPr>
          <p:cNvPr id="4" name="icon-bg-378"/>
          <p:cNvSpPr/>
          <p:nvPr/>
        </p:nvSpPr>
        <p:spPr>
          <a:xfrm>
            <a:off x="822960" y="1645920"/>
            <a:ext cx="594360" cy="594360"/>
          </a:xfrm>
          <a:prstGeom prst="ellipse">
            <a:avLst/>
          </a:prstGeom>
          <a:solidFill>
            <a:schemeClr val="accent1"/>
          </a:solidFill>
          <a:ln/>
        </p:spPr>
      </p:sp>
      <p:pic>
        <p:nvPicPr>
          <p:cNvPr id="5" name="icon-379" descr="BalanceScale icon">    </p:cNvPr>
          <p:cNvPicPr>
            <a:picLocks noChangeAspect="1"/>
          </p:cNvPicPr>
          <p:nvPr/>
        </p:nvPicPr>
        <p:blipFill>
          <a:blip r:embed="rId1"/>
          <a:stretch>
            <a:fillRect/>
          </a:stretch>
        </p:blipFill>
        <p:spPr>
          <a:xfrm>
            <a:off x="983437" y="1806397"/>
            <a:ext cx="273406" cy="273406"/>
          </a:xfrm>
          <a:prstGeom prst="rect">
            <a:avLst/>
          </a:prstGeom>
        </p:spPr>
      </p:pic>
      <p:sp>
        <p:nvSpPr>
          <p:cNvPr id="6" name="text-380"/>
          <p:cNvSpPr txBox="1"/>
          <p:nvPr/>
        </p:nvSpPr>
        <p:spPr>
          <a:xfrm>
            <a:off x="1600200" y="1645920"/>
            <a:ext cx="2331720" cy="594360"/>
          </a:xfrm>
          <a:prstGeom prst="rect">
            <a:avLst/>
          </a:prstGeom>
          <a:noFill/>
          <a:ln/>
        </p:spPr>
        <p:txBody>
          <a:bodyPr wrap="square" lIns="0" tIns="0" rIns="0" bIns="0" rtlCol="0" anchor="ctr"/>
          <a:lstStyle/>
          <a:p>
            <a:pPr indent="0" marL="0">
              <a:buNone/>
            </a:pPr>
            <a:r>
              <a:rPr lang="en-US" sz="1700" b="1" dirty="0">
                <a:solidFill>
                  <a:schemeClr val="tx1"/>
                </a:solidFill>
              </a:rPr>
              <a:t>Digital forensics and courts</a:t>
            </a:r>
            <a:endParaRPr lang="en-US" sz="1700" dirty="0"/>
          </a:p>
        </p:txBody>
      </p:sp>
      <p:sp>
        <p:nvSpPr>
          <p:cNvPr id="7" name="text-381"/>
          <p:cNvSpPr txBox="1"/>
          <p:nvPr/>
        </p:nvSpPr>
        <p:spPr>
          <a:xfrm>
            <a:off x="822960" y="2468880"/>
            <a:ext cx="3017520" cy="914400"/>
          </a:xfrm>
          <a:prstGeom prst="rect">
            <a:avLst/>
          </a:prstGeom>
          <a:noFill/>
          <a:ln/>
        </p:spPr>
        <p:txBody>
          <a:bodyPr wrap="square" lIns="0" tIns="0" rIns="0" bIns="0" rtlCol="0" anchor="t"/>
          <a:lstStyle/>
          <a:p>
            <a:pPr indent="0" marL="0">
              <a:buNone/>
            </a:pPr>
            <a:r>
              <a:rPr lang="en-US" sz="1500" dirty="0">
                <a:solidFill>
                  <a:schemeClr val="accent4"/>
                </a:solidFill>
              </a:rPr>
              <a:t>Screen photo evidence for duplicated regions before expert review.</a:t>
            </a:r>
            <a:endParaRPr lang="en-US" sz="1500" dirty="0"/>
          </a:p>
        </p:txBody>
      </p:sp>
      <p:sp>
        <p:nvSpPr>
          <p:cNvPr id="8" name="card-382"/>
          <p:cNvSpPr/>
          <p:nvPr/>
        </p:nvSpPr>
        <p:spPr>
          <a:xfrm>
            <a:off x="4311396" y="1417320"/>
            <a:ext cx="3566160" cy="2057400"/>
          </a:xfrm>
          <a:prstGeom prst="roundRect">
            <a:avLst>
              <a:gd name="adj" fmla="val 4444"/>
            </a:avLst>
          </a:prstGeom>
          <a:solidFill>
            <a:schemeClr val="bg2"/>
          </a:solidFill>
          <a:ln/>
        </p:spPr>
      </p:sp>
      <p:sp>
        <p:nvSpPr>
          <p:cNvPr id="9" name="icon-bg-383"/>
          <p:cNvSpPr/>
          <p:nvPr/>
        </p:nvSpPr>
        <p:spPr>
          <a:xfrm>
            <a:off x="4585716" y="1645920"/>
            <a:ext cx="594360" cy="594360"/>
          </a:xfrm>
          <a:prstGeom prst="ellipse">
            <a:avLst/>
          </a:prstGeom>
          <a:solidFill>
            <a:schemeClr val="accent1"/>
          </a:solidFill>
          <a:ln/>
        </p:spPr>
      </p:sp>
      <p:pic>
        <p:nvPicPr>
          <p:cNvPr id="10" name="icon-384" descr="Newspaper icon">    </p:cNvPr>
          <p:cNvPicPr>
            <a:picLocks noChangeAspect="1"/>
          </p:cNvPicPr>
          <p:nvPr/>
        </p:nvPicPr>
        <p:blipFill>
          <a:blip r:embed="rId2"/>
          <a:stretch>
            <a:fillRect/>
          </a:stretch>
        </p:blipFill>
        <p:spPr>
          <a:xfrm>
            <a:off x="4746193" y="1806397"/>
            <a:ext cx="273406" cy="273406"/>
          </a:xfrm>
          <a:prstGeom prst="rect">
            <a:avLst/>
          </a:prstGeom>
        </p:spPr>
      </p:pic>
      <p:sp>
        <p:nvSpPr>
          <p:cNvPr id="11" name="text-385"/>
          <p:cNvSpPr txBox="1"/>
          <p:nvPr/>
        </p:nvSpPr>
        <p:spPr>
          <a:xfrm>
            <a:off x="5362956" y="1645920"/>
            <a:ext cx="2331720" cy="594360"/>
          </a:xfrm>
          <a:prstGeom prst="rect">
            <a:avLst/>
          </a:prstGeom>
          <a:noFill/>
          <a:ln/>
        </p:spPr>
        <p:txBody>
          <a:bodyPr wrap="square" lIns="0" tIns="0" rIns="0" bIns="0" rtlCol="0" anchor="ctr"/>
          <a:lstStyle/>
          <a:p>
            <a:pPr indent="0" marL="0">
              <a:buNone/>
            </a:pPr>
            <a:r>
              <a:rPr lang="en-US" sz="1700" b="1" dirty="0">
                <a:solidFill>
                  <a:schemeClr val="tx1"/>
                </a:solidFill>
              </a:rPr>
              <a:t>Journalism and fact-checking</a:t>
            </a:r>
            <a:endParaRPr lang="en-US" sz="1700" dirty="0"/>
          </a:p>
        </p:txBody>
      </p:sp>
      <p:sp>
        <p:nvSpPr>
          <p:cNvPr id="12" name="text-386"/>
          <p:cNvSpPr txBox="1"/>
          <p:nvPr/>
        </p:nvSpPr>
        <p:spPr>
          <a:xfrm>
            <a:off x="4585716" y="2468880"/>
            <a:ext cx="3017520" cy="914400"/>
          </a:xfrm>
          <a:prstGeom prst="rect">
            <a:avLst/>
          </a:prstGeom>
          <a:noFill/>
          <a:ln/>
        </p:spPr>
        <p:txBody>
          <a:bodyPr wrap="square" lIns="0" tIns="0" rIns="0" bIns="0" rtlCol="0" anchor="t"/>
          <a:lstStyle/>
          <a:p>
            <a:pPr indent="0" marL="0">
              <a:buNone/>
            </a:pPr>
            <a:r>
              <a:rPr lang="en-US" sz="1500" dirty="0">
                <a:solidFill>
                  <a:schemeClr val="accent4"/>
                </a:solidFill>
              </a:rPr>
              <a:t>Flag doctored news photos, such as duplicated crowds or objects.</a:t>
            </a:r>
            <a:endParaRPr lang="en-US" sz="1500" dirty="0"/>
          </a:p>
        </p:txBody>
      </p:sp>
      <p:sp>
        <p:nvSpPr>
          <p:cNvPr id="13" name="card-387"/>
          <p:cNvSpPr/>
          <p:nvPr/>
        </p:nvSpPr>
        <p:spPr>
          <a:xfrm>
            <a:off x="8074152" y="1417320"/>
            <a:ext cx="3566160" cy="2057400"/>
          </a:xfrm>
          <a:prstGeom prst="roundRect">
            <a:avLst>
              <a:gd name="adj" fmla="val 4444"/>
            </a:avLst>
          </a:prstGeom>
          <a:solidFill>
            <a:schemeClr val="bg2"/>
          </a:solidFill>
          <a:ln/>
        </p:spPr>
      </p:sp>
      <p:sp>
        <p:nvSpPr>
          <p:cNvPr id="14" name="icon-bg-388"/>
          <p:cNvSpPr/>
          <p:nvPr/>
        </p:nvSpPr>
        <p:spPr>
          <a:xfrm>
            <a:off x="8348472" y="1645920"/>
            <a:ext cx="594360" cy="594360"/>
          </a:xfrm>
          <a:prstGeom prst="ellipse">
            <a:avLst/>
          </a:prstGeom>
          <a:solidFill>
            <a:schemeClr val="accent1"/>
          </a:solidFill>
          <a:ln/>
        </p:spPr>
      </p:sp>
      <p:pic>
        <p:nvPicPr>
          <p:cNvPr id="15" name="icon-389" descr="ShieldAlt icon">    </p:cNvPr>
          <p:cNvPicPr>
            <a:picLocks noChangeAspect="1"/>
          </p:cNvPicPr>
          <p:nvPr/>
        </p:nvPicPr>
        <p:blipFill>
          <a:blip r:embed="rId3"/>
          <a:stretch>
            <a:fillRect/>
          </a:stretch>
        </p:blipFill>
        <p:spPr>
          <a:xfrm>
            <a:off x="8508949" y="1806397"/>
            <a:ext cx="273406" cy="273406"/>
          </a:xfrm>
          <a:prstGeom prst="rect">
            <a:avLst/>
          </a:prstGeom>
        </p:spPr>
      </p:pic>
      <p:sp>
        <p:nvSpPr>
          <p:cNvPr id="16" name="text-390"/>
          <p:cNvSpPr txBox="1"/>
          <p:nvPr/>
        </p:nvSpPr>
        <p:spPr>
          <a:xfrm>
            <a:off x="9125712" y="1645920"/>
            <a:ext cx="2331720" cy="594360"/>
          </a:xfrm>
          <a:prstGeom prst="rect">
            <a:avLst/>
          </a:prstGeom>
          <a:noFill/>
          <a:ln/>
        </p:spPr>
        <p:txBody>
          <a:bodyPr wrap="square" lIns="0" tIns="0" rIns="0" bIns="0" rtlCol="0" anchor="ctr"/>
          <a:lstStyle/>
          <a:p>
            <a:pPr indent="0" marL="0">
              <a:buNone/>
            </a:pPr>
            <a:r>
              <a:rPr lang="en-US" sz="1700" b="1" dirty="0">
                <a:solidFill>
                  <a:schemeClr val="tx1"/>
                </a:solidFill>
              </a:rPr>
              <a:t>Insurance claims</a:t>
            </a:r>
            <a:endParaRPr lang="en-US" sz="1700" dirty="0"/>
          </a:p>
        </p:txBody>
      </p:sp>
      <p:sp>
        <p:nvSpPr>
          <p:cNvPr id="17" name="text-391"/>
          <p:cNvSpPr txBox="1"/>
          <p:nvPr/>
        </p:nvSpPr>
        <p:spPr>
          <a:xfrm>
            <a:off x="8348472" y="2468880"/>
            <a:ext cx="3017520" cy="914400"/>
          </a:xfrm>
          <a:prstGeom prst="rect">
            <a:avLst/>
          </a:prstGeom>
          <a:noFill/>
          <a:ln/>
        </p:spPr>
        <p:txBody>
          <a:bodyPr wrap="square" lIns="0" tIns="0" rIns="0" bIns="0" rtlCol="0" anchor="t"/>
          <a:lstStyle/>
          <a:p>
            <a:pPr indent="0" marL="0">
              <a:buNone/>
            </a:pPr>
            <a:r>
              <a:rPr lang="en-US" sz="1500" dirty="0">
                <a:solidFill>
                  <a:schemeClr val="accent4"/>
                </a:solidFill>
              </a:rPr>
              <a:t>Spot damage photos with cloned objects or hidden areas.</a:t>
            </a:r>
            <a:endParaRPr lang="en-US" sz="1500" dirty="0"/>
          </a:p>
        </p:txBody>
      </p:sp>
      <p:sp>
        <p:nvSpPr>
          <p:cNvPr id="18" name="card-392"/>
          <p:cNvSpPr/>
          <p:nvPr/>
        </p:nvSpPr>
        <p:spPr>
          <a:xfrm>
            <a:off x="548640" y="3657600"/>
            <a:ext cx="3566160" cy="2057400"/>
          </a:xfrm>
          <a:prstGeom prst="roundRect">
            <a:avLst>
              <a:gd name="adj" fmla="val 4444"/>
            </a:avLst>
          </a:prstGeom>
          <a:solidFill>
            <a:schemeClr val="bg2"/>
          </a:solidFill>
          <a:ln/>
        </p:spPr>
      </p:sp>
      <p:sp>
        <p:nvSpPr>
          <p:cNvPr id="19" name="icon-bg-393"/>
          <p:cNvSpPr/>
          <p:nvPr/>
        </p:nvSpPr>
        <p:spPr>
          <a:xfrm>
            <a:off x="822960" y="3886200"/>
            <a:ext cx="594360" cy="594360"/>
          </a:xfrm>
          <a:prstGeom prst="ellipse">
            <a:avLst/>
          </a:prstGeom>
          <a:solidFill>
            <a:schemeClr val="accent1"/>
          </a:solidFill>
          <a:ln/>
        </p:spPr>
      </p:sp>
      <p:pic>
        <p:nvPicPr>
          <p:cNvPr id="20" name="icon-394" descr="Flask icon">    </p:cNvPr>
          <p:cNvPicPr>
            <a:picLocks noChangeAspect="1"/>
          </p:cNvPicPr>
          <p:nvPr/>
        </p:nvPicPr>
        <p:blipFill>
          <a:blip r:embed="rId4"/>
          <a:stretch>
            <a:fillRect/>
          </a:stretch>
        </p:blipFill>
        <p:spPr>
          <a:xfrm>
            <a:off x="983437" y="4046677"/>
            <a:ext cx="273406" cy="273406"/>
          </a:xfrm>
          <a:prstGeom prst="rect">
            <a:avLst/>
          </a:prstGeom>
        </p:spPr>
      </p:pic>
      <p:sp>
        <p:nvSpPr>
          <p:cNvPr id="21" name="text-395"/>
          <p:cNvSpPr txBox="1"/>
          <p:nvPr/>
        </p:nvSpPr>
        <p:spPr>
          <a:xfrm>
            <a:off x="1600200" y="3886200"/>
            <a:ext cx="2331720" cy="594360"/>
          </a:xfrm>
          <a:prstGeom prst="rect">
            <a:avLst/>
          </a:prstGeom>
          <a:noFill/>
          <a:ln/>
        </p:spPr>
        <p:txBody>
          <a:bodyPr wrap="square" lIns="0" tIns="0" rIns="0" bIns="0" rtlCol="0" anchor="ctr"/>
          <a:lstStyle/>
          <a:p>
            <a:pPr indent="0" marL="0">
              <a:buNone/>
            </a:pPr>
            <a:r>
              <a:rPr lang="en-US" sz="1700" b="1" dirty="0">
                <a:solidFill>
                  <a:schemeClr val="tx1"/>
                </a:solidFill>
              </a:rPr>
              <a:t>Research integrity</a:t>
            </a:r>
            <a:endParaRPr lang="en-US" sz="1700" dirty="0"/>
          </a:p>
        </p:txBody>
      </p:sp>
      <p:sp>
        <p:nvSpPr>
          <p:cNvPr id="22" name="text-396"/>
          <p:cNvSpPr txBox="1"/>
          <p:nvPr/>
        </p:nvSpPr>
        <p:spPr>
          <a:xfrm>
            <a:off x="822960" y="4709160"/>
            <a:ext cx="3017520" cy="914400"/>
          </a:xfrm>
          <a:prstGeom prst="rect">
            <a:avLst/>
          </a:prstGeom>
          <a:noFill/>
          <a:ln/>
        </p:spPr>
        <p:txBody>
          <a:bodyPr wrap="square" lIns="0" tIns="0" rIns="0" bIns="0" rtlCol="0" anchor="t"/>
          <a:lstStyle/>
          <a:p>
            <a:pPr indent="0" marL="0">
              <a:buNone/>
            </a:pPr>
            <a:r>
              <a:rPr lang="en-US" sz="1500" dirty="0">
                <a:solidFill>
                  <a:schemeClr val="accent4"/>
                </a:solidFill>
              </a:rPr>
              <a:t>Check scientific figures and microscopy images for duplicated panels.</a:t>
            </a:r>
            <a:endParaRPr lang="en-US" sz="1500" dirty="0"/>
          </a:p>
        </p:txBody>
      </p:sp>
      <p:sp>
        <p:nvSpPr>
          <p:cNvPr id="23" name="card-397"/>
          <p:cNvSpPr/>
          <p:nvPr/>
        </p:nvSpPr>
        <p:spPr>
          <a:xfrm>
            <a:off x="4311396" y="3657600"/>
            <a:ext cx="3566160" cy="2057400"/>
          </a:xfrm>
          <a:prstGeom prst="roundRect">
            <a:avLst>
              <a:gd name="adj" fmla="val 4444"/>
            </a:avLst>
          </a:prstGeom>
          <a:solidFill>
            <a:schemeClr val="bg2"/>
          </a:solidFill>
          <a:ln/>
        </p:spPr>
      </p:sp>
      <p:sp>
        <p:nvSpPr>
          <p:cNvPr id="24" name="icon-bg-398"/>
          <p:cNvSpPr/>
          <p:nvPr/>
        </p:nvSpPr>
        <p:spPr>
          <a:xfrm>
            <a:off x="4585716" y="3886200"/>
            <a:ext cx="594360" cy="594360"/>
          </a:xfrm>
          <a:prstGeom prst="ellipse">
            <a:avLst/>
          </a:prstGeom>
          <a:solidFill>
            <a:schemeClr val="accent1"/>
          </a:solidFill>
          <a:ln/>
        </p:spPr>
      </p:sp>
      <p:pic>
        <p:nvPicPr>
          <p:cNvPr id="25" name="icon-399" descr="ShareAlt icon">    </p:cNvPr>
          <p:cNvPicPr>
            <a:picLocks noChangeAspect="1"/>
          </p:cNvPicPr>
          <p:nvPr/>
        </p:nvPicPr>
        <p:blipFill>
          <a:blip r:embed="rId5"/>
          <a:stretch>
            <a:fillRect/>
          </a:stretch>
        </p:blipFill>
        <p:spPr>
          <a:xfrm>
            <a:off x="4746193" y="4046677"/>
            <a:ext cx="273406" cy="273406"/>
          </a:xfrm>
          <a:prstGeom prst="rect">
            <a:avLst/>
          </a:prstGeom>
        </p:spPr>
      </p:pic>
      <p:sp>
        <p:nvSpPr>
          <p:cNvPr id="26" name="text-400"/>
          <p:cNvSpPr txBox="1"/>
          <p:nvPr/>
        </p:nvSpPr>
        <p:spPr>
          <a:xfrm>
            <a:off x="5362956" y="3886200"/>
            <a:ext cx="2331720" cy="594360"/>
          </a:xfrm>
          <a:prstGeom prst="rect">
            <a:avLst/>
          </a:prstGeom>
          <a:noFill/>
          <a:ln/>
        </p:spPr>
        <p:txBody>
          <a:bodyPr wrap="square" lIns="0" tIns="0" rIns="0" bIns="0" rtlCol="0" anchor="ctr"/>
          <a:lstStyle/>
          <a:p>
            <a:pPr indent="0" marL="0">
              <a:buNone/>
            </a:pPr>
            <a:r>
              <a:rPr lang="en-US" sz="1700" b="1" dirty="0">
                <a:solidFill>
                  <a:schemeClr val="tx1"/>
                </a:solidFill>
              </a:rPr>
              <a:t>Social media moderation</a:t>
            </a:r>
            <a:endParaRPr lang="en-US" sz="1700" dirty="0"/>
          </a:p>
        </p:txBody>
      </p:sp>
      <p:sp>
        <p:nvSpPr>
          <p:cNvPr id="27" name="text-401"/>
          <p:cNvSpPr txBox="1"/>
          <p:nvPr/>
        </p:nvSpPr>
        <p:spPr>
          <a:xfrm>
            <a:off x="4585716" y="4709160"/>
            <a:ext cx="3017520" cy="914400"/>
          </a:xfrm>
          <a:prstGeom prst="rect">
            <a:avLst/>
          </a:prstGeom>
          <a:noFill/>
          <a:ln/>
        </p:spPr>
        <p:txBody>
          <a:bodyPr wrap="square" lIns="0" tIns="0" rIns="0" bIns="0" rtlCol="0" anchor="t"/>
          <a:lstStyle/>
          <a:p>
            <a:pPr indent="0" marL="0">
              <a:buNone/>
            </a:pPr>
            <a:r>
              <a:rPr lang="en-US" sz="1500" dirty="0">
                <a:solidFill>
                  <a:schemeClr val="accent4"/>
                </a:solidFill>
              </a:rPr>
              <a:t>Triage viral images that may spread misinformation.</a:t>
            </a:r>
            <a:endParaRPr lang="en-US" sz="1500" dirty="0"/>
          </a:p>
        </p:txBody>
      </p:sp>
      <p:sp>
        <p:nvSpPr>
          <p:cNvPr id="28" name="card-402"/>
          <p:cNvSpPr/>
          <p:nvPr/>
        </p:nvSpPr>
        <p:spPr>
          <a:xfrm>
            <a:off x="8074152" y="3657600"/>
            <a:ext cx="3566160" cy="2057400"/>
          </a:xfrm>
          <a:prstGeom prst="roundRect">
            <a:avLst>
              <a:gd name="adj" fmla="val 4444"/>
            </a:avLst>
          </a:prstGeom>
          <a:solidFill>
            <a:schemeClr val="bg2"/>
          </a:solidFill>
          <a:ln/>
        </p:spPr>
      </p:sp>
      <p:sp>
        <p:nvSpPr>
          <p:cNvPr id="29" name="icon-bg-403"/>
          <p:cNvSpPr/>
          <p:nvPr/>
        </p:nvSpPr>
        <p:spPr>
          <a:xfrm>
            <a:off x="8348472" y="3886200"/>
            <a:ext cx="594360" cy="594360"/>
          </a:xfrm>
          <a:prstGeom prst="ellipse">
            <a:avLst/>
          </a:prstGeom>
          <a:solidFill>
            <a:schemeClr val="accent1"/>
          </a:solidFill>
          <a:ln/>
        </p:spPr>
      </p:sp>
      <p:pic>
        <p:nvPicPr>
          <p:cNvPr id="30" name="icon-404" descr="GraduationCap icon">    </p:cNvPr>
          <p:cNvPicPr>
            <a:picLocks noChangeAspect="1"/>
          </p:cNvPicPr>
          <p:nvPr/>
        </p:nvPicPr>
        <p:blipFill>
          <a:blip r:embed="rId6"/>
          <a:stretch>
            <a:fillRect/>
          </a:stretch>
        </p:blipFill>
        <p:spPr>
          <a:xfrm>
            <a:off x="8508949" y="4046677"/>
            <a:ext cx="273406" cy="273406"/>
          </a:xfrm>
          <a:prstGeom prst="rect">
            <a:avLst/>
          </a:prstGeom>
        </p:spPr>
      </p:pic>
      <p:sp>
        <p:nvSpPr>
          <p:cNvPr id="31" name="text-405"/>
          <p:cNvSpPr txBox="1"/>
          <p:nvPr/>
        </p:nvSpPr>
        <p:spPr>
          <a:xfrm>
            <a:off x="9125712" y="3886200"/>
            <a:ext cx="2331720" cy="594360"/>
          </a:xfrm>
          <a:prstGeom prst="rect">
            <a:avLst/>
          </a:prstGeom>
          <a:noFill/>
          <a:ln/>
        </p:spPr>
        <p:txBody>
          <a:bodyPr wrap="square" lIns="0" tIns="0" rIns="0" bIns="0" rtlCol="0" anchor="ctr"/>
          <a:lstStyle/>
          <a:p>
            <a:pPr indent="0" marL="0">
              <a:buNone/>
            </a:pPr>
            <a:r>
              <a:rPr lang="en-US" sz="1700" b="1" dirty="0">
                <a:solidFill>
                  <a:schemeClr val="tx1"/>
                </a:solidFill>
              </a:rPr>
              <a:t>Education and training</a:t>
            </a:r>
            <a:endParaRPr lang="en-US" sz="1700" dirty="0"/>
          </a:p>
        </p:txBody>
      </p:sp>
      <p:sp>
        <p:nvSpPr>
          <p:cNvPr id="32" name="text-406"/>
          <p:cNvSpPr txBox="1"/>
          <p:nvPr/>
        </p:nvSpPr>
        <p:spPr>
          <a:xfrm>
            <a:off x="8348472" y="4709160"/>
            <a:ext cx="3017520" cy="914400"/>
          </a:xfrm>
          <a:prstGeom prst="rect">
            <a:avLst/>
          </a:prstGeom>
          <a:noFill/>
          <a:ln/>
        </p:spPr>
        <p:txBody>
          <a:bodyPr wrap="square" lIns="0" tIns="0" rIns="0" bIns="0" rtlCol="0" anchor="t"/>
          <a:lstStyle/>
          <a:p>
            <a:pPr indent="0" marL="0">
              <a:buNone/>
            </a:pPr>
            <a:r>
              <a:rPr lang="en-US" sz="1500" dirty="0">
                <a:solidFill>
                  <a:schemeClr val="accent4"/>
                </a:solidFill>
              </a:rPr>
              <a:t>Teach image forensics with a transparent, tunable baseline.</a:t>
            </a:r>
            <a:endParaRPr lang="en-US" sz="1500" dirty="0"/>
          </a:p>
        </p:txBody>
      </p:sp>
      <p:sp>
        <p:nvSpPr>
          <p:cNvPr id="33" name="text-407"/>
          <p:cNvSpPr txBox="1"/>
          <p:nvPr/>
        </p:nvSpPr>
        <p:spPr>
          <a:xfrm>
            <a:off x="548640" y="5943600"/>
            <a:ext cx="11091672" cy="320040"/>
          </a:xfrm>
          <a:prstGeom prst="rect">
            <a:avLst/>
          </a:prstGeom>
          <a:noFill/>
          <a:ln/>
        </p:spPr>
        <p:txBody>
          <a:bodyPr wrap="square" lIns="0" tIns="0" rIns="0" bIns="0" rtlCol="0" anchor="t"/>
          <a:lstStyle/>
          <a:p>
            <a:pPr algn="ctr" indent="0" marL="0">
              <a:buNone/>
            </a:pPr>
            <a:r>
              <a:rPr lang="en-US" sz="1300" i="1" dirty="0">
                <a:solidFill>
                  <a:schemeClr val="accent4"/>
                </a:solidFill>
              </a:rPr>
              <a:t>In every case the detector is a screening aid for a human examiner, not a verdict.</a:t>
            </a:r>
            <a:endParaRPr lang="en-US" sz="13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77240"/>
          </a:xfrm>
          <a:prstGeom prst="rect">
            <a:avLst/>
          </a:prstGeom>
          <a:noFill/>
          <a:ln/>
        </p:spPr>
        <p:txBody>
          <a:bodyPr wrap="square" lIns="0" tIns="0" rIns="0" bIns="0" rtlCol="0" anchor="ctr"/>
          <a:lstStyle/>
          <a:p>
            <a:pPr algn="l" indent="0" marL="0">
              <a:buNone/>
            </a:pPr>
            <a:r>
              <a:rPr lang="en-US" sz="3600" b="1" dirty="0">
                <a:solidFill>
                  <a:schemeClr val="bg1"/>
                </a:solidFill>
              </a:rPr>
              <a:t>Conclusion</a:t>
            </a:r>
            <a:endParaRPr lang="en-US" sz="3600" dirty="0"/>
          </a:p>
        </p:txBody>
      </p:sp>
      <p:sp>
        <p:nvSpPr>
          <p:cNvPr id="3" name="icon-bg-408"/>
          <p:cNvSpPr/>
          <p:nvPr/>
        </p:nvSpPr>
        <p:spPr>
          <a:xfrm>
            <a:off x="548640" y="1508760"/>
            <a:ext cx="731520" cy="731520"/>
          </a:xfrm>
          <a:prstGeom prst="ellipse">
            <a:avLst/>
          </a:prstGeom>
          <a:solidFill>
            <a:schemeClr val="accent3"/>
          </a:solidFill>
          <a:ln/>
        </p:spPr>
      </p:sp>
      <p:pic>
        <p:nvPicPr>
          <p:cNvPr id="4" name="icon-409" descr="Cogs icon">    </p:cNvPr>
          <p:cNvPicPr>
            <a:picLocks noChangeAspect="1"/>
          </p:cNvPicPr>
          <p:nvPr/>
        </p:nvPicPr>
        <p:blipFill>
          <a:blip r:embed="rId1"/>
          <a:stretch>
            <a:fillRect/>
          </a:stretch>
        </p:blipFill>
        <p:spPr>
          <a:xfrm>
            <a:off x="746150" y="1706270"/>
            <a:ext cx="336499" cy="336499"/>
          </a:xfrm>
          <a:prstGeom prst="rect">
            <a:avLst/>
          </a:prstGeom>
        </p:spPr>
      </p:pic>
      <p:sp>
        <p:nvSpPr>
          <p:cNvPr id="5" name="text-410"/>
          <p:cNvSpPr txBox="1"/>
          <p:nvPr/>
        </p:nvSpPr>
        <p:spPr>
          <a:xfrm>
            <a:off x="1554480" y="1508760"/>
            <a:ext cx="5120640" cy="731520"/>
          </a:xfrm>
          <a:prstGeom prst="rect">
            <a:avLst/>
          </a:prstGeom>
          <a:noFill/>
          <a:ln/>
        </p:spPr>
        <p:txBody>
          <a:bodyPr wrap="square" lIns="0" tIns="0" rIns="0" bIns="0" rtlCol="0" anchor="ctr"/>
          <a:lstStyle/>
          <a:p>
            <a:pPr indent="0" marL="0">
              <a:buNone/>
            </a:pPr>
            <a:r>
              <a:rPr lang="en-US" sz="1700" dirty="0">
                <a:solidFill>
                  <a:schemeClr val="bg1"/>
                </a:solidFill>
              </a:rPr>
              <a:t>End-to-end detector: SIFT, masked self-matching, ratio test, RANSAC</a:t>
            </a:r>
            <a:endParaRPr lang="en-US" sz="1700" dirty="0"/>
          </a:p>
        </p:txBody>
      </p:sp>
      <p:sp>
        <p:nvSpPr>
          <p:cNvPr id="6" name="icon-bg-411"/>
          <p:cNvSpPr/>
          <p:nvPr/>
        </p:nvSpPr>
        <p:spPr>
          <a:xfrm>
            <a:off x="548640" y="2679192"/>
            <a:ext cx="731520" cy="731520"/>
          </a:xfrm>
          <a:prstGeom prst="ellipse">
            <a:avLst/>
          </a:prstGeom>
          <a:solidFill>
            <a:schemeClr val="accent3"/>
          </a:solidFill>
          <a:ln/>
        </p:spPr>
      </p:sp>
      <p:pic>
        <p:nvPicPr>
          <p:cNvPr id="7" name="icon-412" descr="ChartBar icon">    </p:cNvPr>
          <p:cNvPicPr>
            <a:picLocks noChangeAspect="1"/>
          </p:cNvPicPr>
          <p:nvPr/>
        </p:nvPicPr>
        <p:blipFill>
          <a:blip r:embed="rId2"/>
          <a:stretch>
            <a:fillRect/>
          </a:stretch>
        </p:blipFill>
        <p:spPr>
          <a:xfrm>
            <a:off x="746150" y="2876702"/>
            <a:ext cx="336499" cy="336499"/>
          </a:xfrm>
          <a:prstGeom prst="rect">
            <a:avLst/>
          </a:prstGeom>
        </p:spPr>
      </p:pic>
      <p:sp>
        <p:nvSpPr>
          <p:cNvPr id="8" name="text-413"/>
          <p:cNvSpPr txBox="1"/>
          <p:nvPr/>
        </p:nvSpPr>
        <p:spPr>
          <a:xfrm>
            <a:off x="1554480" y="2679192"/>
            <a:ext cx="5120640" cy="731520"/>
          </a:xfrm>
          <a:prstGeom prst="rect">
            <a:avLst/>
          </a:prstGeom>
          <a:noFill/>
          <a:ln/>
        </p:spPr>
        <p:txBody>
          <a:bodyPr wrap="square" lIns="0" tIns="0" rIns="0" bIns="0" rtlCol="0" anchor="ctr"/>
          <a:lstStyle/>
          <a:p>
            <a:pPr indent="0" marL="0">
              <a:buNone/>
            </a:pPr>
            <a:r>
              <a:rPr lang="en-US" sz="1700" dirty="0">
                <a:solidFill>
                  <a:schemeClr val="bg1"/>
                </a:solidFill>
              </a:rPr>
              <a:t>CoMoFoD evaluation with image-level and pixel-level metrics</a:t>
            </a:r>
            <a:endParaRPr lang="en-US" sz="1700" dirty="0"/>
          </a:p>
        </p:txBody>
      </p:sp>
      <p:sp>
        <p:nvSpPr>
          <p:cNvPr id="9" name="icon-bg-414"/>
          <p:cNvSpPr/>
          <p:nvPr/>
        </p:nvSpPr>
        <p:spPr>
          <a:xfrm>
            <a:off x="548640" y="3849624"/>
            <a:ext cx="731520" cy="731520"/>
          </a:xfrm>
          <a:prstGeom prst="ellipse">
            <a:avLst/>
          </a:prstGeom>
          <a:solidFill>
            <a:schemeClr val="accent3"/>
          </a:solidFill>
          <a:ln/>
        </p:spPr>
      </p:sp>
      <p:pic>
        <p:nvPicPr>
          <p:cNvPr id="10" name="icon-415" descr="Desktop icon">    </p:cNvPr>
          <p:cNvPicPr>
            <a:picLocks noChangeAspect="1"/>
          </p:cNvPicPr>
          <p:nvPr/>
        </p:nvPicPr>
        <p:blipFill>
          <a:blip r:embed="rId3"/>
          <a:stretch>
            <a:fillRect/>
          </a:stretch>
        </p:blipFill>
        <p:spPr>
          <a:xfrm>
            <a:off x="746150" y="4047134"/>
            <a:ext cx="336499" cy="336499"/>
          </a:xfrm>
          <a:prstGeom prst="rect">
            <a:avLst/>
          </a:prstGeom>
        </p:spPr>
      </p:pic>
      <p:sp>
        <p:nvSpPr>
          <p:cNvPr id="11" name="text-416"/>
          <p:cNvSpPr txBox="1"/>
          <p:nvPr/>
        </p:nvSpPr>
        <p:spPr>
          <a:xfrm>
            <a:off x="1554480" y="3849624"/>
            <a:ext cx="5120640" cy="731520"/>
          </a:xfrm>
          <a:prstGeom prst="rect">
            <a:avLst/>
          </a:prstGeom>
          <a:noFill/>
          <a:ln/>
        </p:spPr>
        <p:txBody>
          <a:bodyPr wrap="square" lIns="0" tIns="0" rIns="0" bIns="0" rtlCol="0" anchor="ctr"/>
          <a:lstStyle/>
          <a:p>
            <a:pPr indent="0" marL="0">
              <a:buNone/>
            </a:pPr>
            <a:r>
              <a:rPr lang="en-US" sz="1700" dirty="0">
                <a:solidFill>
                  <a:schemeClr val="bg1"/>
                </a:solidFill>
              </a:rPr>
              <a:t>Streamlit app shows input and detected output side by side</a:t>
            </a:r>
            <a:endParaRPr lang="en-US" sz="1700" dirty="0"/>
          </a:p>
        </p:txBody>
      </p:sp>
      <p:sp>
        <p:nvSpPr>
          <p:cNvPr id="12" name="icon-bg-417"/>
          <p:cNvSpPr/>
          <p:nvPr/>
        </p:nvSpPr>
        <p:spPr>
          <a:xfrm>
            <a:off x="548640" y="5020056"/>
            <a:ext cx="731520" cy="731520"/>
          </a:xfrm>
          <a:prstGeom prst="ellipse">
            <a:avLst/>
          </a:prstGeom>
          <a:solidFill>
            <a:schemeClr val="accent3"/>
          </a:solidFill>
          <a:ln/>
        </p:spPr>
      </p:sp>
      <p:pic>
        <p:nvPicPr>
          <p:cNvPr id="13" name="icon-418" descr="CheckCircle icon">    </p:cNvPr>
          <p:cNvPicPr>
            <a:picLocks noChangeAspect="1"/>
          </p:cNvPicPr>
          <p:nvPr/>
        </p:nvPicPr>
        <p:blipFill>
          <a:blip r:embed="rId4"/>
          <a:stretch>
            <a:fillRect/>
          </a:stretch>
        </p:blipFill>
        <p:spPr>
          <a:xfrm>
            <a:off x="746150" y="5217566"/>
            <a:ext cx="336499" cy="336499"/>
          </a:xfrm>
          <a:prstGeom prst="rect">
            <a:avLst/>
          </a:prstGeom>
        </p:spPr>
      </p:pic>
      <p:sp>
        <p:nvSpPr>
          <p:cNvPr id="14" name="text-419"/>
          <p:cNvSpPr txBox="1"/>
          <p:nvPr/>
        </p:nvSpPr>
        <p:spPr>
          <a:xfrm>
            <a:off x="1554480" y="5020056"/>
            <a:ext cx="5120640" cy="731520"/>
          </a:xfrm>
          <a:prstGeom prst="rect">
            <a:avLst/>
          </a:prstGeom>
          <a:noFill/>
          <a:ln/>
        </p:spPr>
        <p:txBody>
          <a:bodyPr wrap="square" lIns="0" tIns="0" rIns="0" bIns="0" rtlCol="0" anchor="ctr"/>
          <a:lstStyle/>
          <a:p>
            <a:pPr indent="0" marL="0">
              <a:buNone/>
            </a:pPr>
            <a:r>
              <a:rPr lang="en-US" sz="1700" dirty="0">
                <a:solidFill>
                  <a:schemeClr val="bg1"/>
                </a:solidFill>
              </a:rPr>
              <a:t>Demo: 257 matches on one transform in a JPEG-compressed image</a:t>
            </a:r>
            <a:endParaRPr lang="en-US" sz="1700" dirty="0"/>
          </a:p>
        </p:txBody>
      </p:sp>
      <p:sp>
        <p:nvSpPr>
          <p:cNvPr id="15" name="card-420"/>
          <p:cNvSpPr/>
          <p:nvPr/>
        </p:nvSpPr>
        <p:spPr>
          <a:xfrm>
            <a:off x="7132320" y="1508760"/>
            <a:ext cx="4507992" cy="4480560"/>
          </a:xfrm>
          <a:prstGeom prst="roundRect">
            <a:avLst>
              <a:gd name="adj" fmla="val 2041"/>
            </a:avLst>
          </a:prstGeom>
          <a:solidFill>
            <a:schemeClr val="tx2"/>
          </a:solidFill>
          <a:ln/>
        </p:spPr>
      </p:sp>
      <p:sp>
        <p:nvSpPr>
          <p:cNvPr id="16" name="text-421"/>
          <p:cNvSpPr txBox="1"/>
          <p:nvPr/>
        </p:nvSpPr>
        <p:spPr>
          <a:xfrm>
            <a:off x="7498080" y="1508760"/>
            <a:ext cx="3794760" cy="4480560"/>
          </a:xfrm>
          <a:prstGeom prst="rect">
            <a:avLst/>
          </a:prstGeom>
          <a:noFill/>
          <a:ln/>
        </p:spPr>
        <p:txBody>
          <a:bodyPr wrap="square" lIns="0" tIns="0" rIns="0" bIns="0" rtlCol="0" anchor="ctr"/>
          <a:lstStyle/>
          <a:p>
            <a:pPr indent="0" marL="0">
              <a:buNone/>
            </a:pPr>
            <a:r>
              <a:rPr lang="en-US" sz="2600" i="1" dirty="0">
                <a:solidFill>
                  <a:schemeClr val="bg1"/>
                </a:solidFill>
                <a:latin typeface="Cambria" pitchFamily="34" charset="0"/>
                <a:ea typeface="Cambria" pitchFamily="34" charset="-122"/>
                <a:cs typeface="Cambria" pitchFamily="34" charset="-120"/>
              </a:rPr>
              <a:t>A transparent baseline that highlights suspects, with a clear path to improve it.</a:t>
            </a:r>
            <a:endParaRPr lang="en-US" sz="26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91672" cy="777240"/>
          </a:xfrm>
          <a:prstGeom prst="rect">
            <a:avLst/>
          </a:prstGeom>
          <a:noFill/>
          <a:ln/>
        </p:spPr>
        <p:txBody>
          <a:bodyPr wrap="square" lIns="0" tIns="0" rIns="0" bIns="0" rtlCol="0" anchor="ctr"/>
          <a:lstStyle/>
          <a:p>
            <a:pPr algn="l" indent="0" marL="0">
              <a:buNone/>
            </a:pPr>
            <a:r>
              <a:rPr lang="en-US" sz="3600" b="1" dirty="0">
                <a:solidFill>
                  <a:schemeClr val="tx1"/>
                </a:solidFill>
              </a:rPr>
              <a:t>Team and Contributions</a:t>
            </a:r>
            <a:endParaRPr lang="en-US" sz="3600" dirty="0"/>
          </a:p>
        </p:txBody>
      </p:sp>
      <p:sp>
        <p:nvSpPr>
          <p:cNvPr id="3" name="card-422"/>
          <p:cNvSpPr/>
          <p:nvPr/>
        </p:nvSpPr>
        <p:spPr>
          <a:xfrm>
            <a:off x="548640" y="1417320"/>
            <a:ext cx="5440680" cy="1737360"/>
          </a:xfrm>
          <a:prstGeom prst="roundRect">
            <a:avLst>
              <a:gd name="adj" fmla="val 5263"/>
            </a:avLst>
          </a:prstGeom>
          <a:solidFill>
            <a:schemeClr val="bg2"/>
          </a:solidFill>
          <a:ln/>
        </p:spPr>
      </p:sp>
      <p:sp>
        <p:nvSpPr>
          <p:cNvPr id="4" name="text-423"/>
          <p:cNvSpPr txBox="1"/>
          <p:nvPr/>
        </p:nvSpPr>
        <p:spPr>
          <a:xfrm>
            <a:off x="822960" y="1600200"/>
            <a:ext cx="4846320" cy="411480"/>
          </a:xfrm>
          <a:prstGeom prst="rect">
            <a:avLst/>
          </a:prstGeom>
          <a:noFill/>
          <a:ln/>
        </p:spPr>
        <p:txBody>
          <a:bodyPr wrap="square" lIns="0" tIns="0" rIns="0" bIns="0" rtlCol="0" anchor="t"/>
          <a:lstStyle/>
          <a:p>
            <a:pPr indent="0" marL="0">
              <a:buNone/>
            </a:pPr>
            <a:r>
              <a:rPr lang="en-US" sz="2200" b="1" dirty="0">
                <a:solidFill>
                  <a:schemeClr val="tx1"/>
                </a:solidFill>
                <a:latin typeface="Cambria" pitchFamily="34" charset="0"/>
                <a:ea typeface="Cambria" pitchFamily="34" charset="-122"/>
                <a:cs typeface="Cambria" pitchFamily="34" charset="-120"/>
              </a:rPr>
              <a:t>Rishav Ranjan</a:t>
            </a:r>
            <a:endParaRPr lang="en-US" sz="2200" dirty="0"/>
          </a:p>
        </p:txBody>
      </p:sp>
      <p:sp>
        <p:nvSpPr>
          <p:cNvPr id="5" name="text-424"/>
          <p:cNvSpPr txBox="1"/>
          <p:nvPr/>
        </p:nvSpPr>
        <p:spPr>
          <a:xfrm>
            <a:off x="822960" y="2057400"/>
            <a:ext cx="4846320" cy="274320"/>
          </a:xfrm>
          <a:prstGeom prst="rect">
            <a:avLst/>
          </a:prstGeom>
          <a:noFill/>
          <a:ln/>
        </p:spPr>
        <p:txBody>
          <a:bodyPr wrap="square" lIns="0" tIns="0" rIns="0" bIns="0" rtlCol="0" anchor="t"/>
          <a:lstStyle/>
          <a:p>
            <a:pPr indent="0" marL="0">
              <a:buNone/>
            </a:pPr>
            <a:r>
              <a:rPr lang="en-US" sz="1500" b="1" dirty="0">
                <a:solidFill>
                  <a:schemeClr val="tx2"/>
                </a:solidFill>
              </a:rPr>
              <a:t>Reg. No. 20233345</a:t>
            </a:r>
            <a:endParaRPr lang="en-US" sz="1500" dirty="0"/>
          </a:p>
        </p:txBody>
      </p:sp>
      <p:sp>
        <p:nvSpPr>
          <p:cNvPr id="6" name="text-425"/>
          <p:cNvSpPr txBox="1"/>
          <p:nvPr/>
        </p:nvSpPr>
        <p:spPr>
          <a:xfrm>
            <a:off x="822960" y="2423160"/>
            <a:ext cx="4846320" cy="640080"/>
          </a:xfrm>
          <a:prstGeom prst="rect">
            <a:avLst/>
          </a:prstGeom>
          <a:noFill/>
          <a:ln/>
        </p:spPr>
        <p:txBody>
          <a:bodyPr wrap="square" lIns="0" tIns="0" rIns="0" bIns="0" rtlCol="0" anchor="t"/>
          <a:lstStyle/>
          <a:p>
            <a:pPr indent="0" marL="0">
              <a:buNone/>
            </a:pPr>
            <a:r>
              <a:rPr lang="en-US" sz="1500" dirty="0">
                <a:solidFill>
                  <a:schemeClr val="accent4"/>
                </a:solidFill>
              </a:rPr>
              <a:t>Dataset preparation, preprocessing, Frontend Design and Integration</a:t>
            </a:r>
            <a:endParaRPr lang="en-US" sz="1500" dirty="0"/>
          </a:p>
        </p:txBody>
      </p:sp>
      <p:sp>
        <p:nvSpPr>
          <p:cNvPr id="7" name="card-426"/>
          <p:cNvSpPr/>
          <p:nvPr/>
        </p:nvSpPr>
        <p:spPr>
          <a:xfrm>
            <a:off x="6199632" y="1417320"/>
            <a:ext cx="5440680" cy="1737360"/>
          </a:xfrm>
          <a:prstGeom prst="roundRect">
            <a:avLst>
              <a:gd name="adj" fmla="val 5263"/>
            </a:avLst>
          </a:prstGeom>
          <a:solidFill>
            <a:schemeClr val="bg2"/>
          </a:solidFill>
          <a:ln/>
        </p:spPr>
      </p:sp>
      <p:sp>
        <p:nvSpPr>
          <p:cNvPr id="8" name="text-427"/>
          <p:cNvSpPr txBox="1"/>
          <p:nvPr/>
        </p:nvSpPr>
        <p:spPr>
          <a:xfrm>
            <a:off x="6473952" y="1600200"/>
            <a:ext cx="4846320" cy="411480"/>
          </a:xfrm>
          <a:prstGeom prst="rect">
            <a:avLst/>
          </a:prstGeom>
          <a:noFill/>
          <a:ln/>
        </p:spPr>
        <p:txBody>
          <a:bodyPr wrap="square" lIns="0" tIns="0" rIns="0" bIns="0" rtlCol="0" anchor="t"/>
          <a:lstStyle/>
          <a:p>
            <a:pPr indent="0" marL="0">
              <a:buNone/>
            </a:pPr>
            <a:r>
              <a:rPr lang="en-US" sz="2200" b="1" dirty="0">
                <a:solidFill>
                  <a:schemeClr val="tx1"/>
                </a:solidFill>
                <a:latin typeface="Cambria" pitchFamily="34" charset="0"/>
                <a:ea typeface="Cambria" pitchFamily="34" charset="-122"/>
                <a:cs typeface="Cambria" pitchFamily="34" charset="-120"/>
              </a:rPr>
              <a:t>Manu Singhal</a:t>
            </a:r>
            <a:endParaRPr lang="en-US" sz="2200" dirty="0"/>
          </a:p>
        </p:txBody>
      </p:sp>
      <p:sp>
        <p:nvSpPr>
          <p:cNvPr id="9" name="text-428"/>
          <p:cNvSpPr txBox="1"/>
          <p:nvPr/>
        </p:nvSpPr>
        <p:spPr>
          <a:xfrm>
            <a:off x="6473952" y="2057400"/>
            <a:ext cx="4846320" cy="274320"/>
          </a:xfrm>
          <a:prstGeom prst="rect">
            <a:avLst/>
          </a:prstGeom>
          <a:noFill/>
          <a:ln/>
        </p:spPr>
        <p:txBody>
          <a:bodyPr wrap="square" lIns="0" tIns="0" rIns="0" bIns="0" rtlCol="0" anchor="t"/>
          <a:lstStyle/>
          <a:p>
            <a:pPr indent="0" marL="0">
              <a:buNone/>
            </a:pPr>
            <a:r>
              <a:rPr lang="en-US" sz="1500" b="1" dirty="0">
                <a:solidFill>
                  <a:schemeClr val="tx2"/>
                </a:solidFill>
              </a:rPr>
              <a:t>Reg. No. 20233533</a:t>
            </a:r>
            <a:endParaRPr lang="en-US" sz="1500" dirty="0"/>
          </a:p>
        </p:txBody>
      </p:sp>
      <p:sp>
        <p:nvSpPr>
          <p:cNvPr id="10" name="text-429"/>
          <p:cNvSpPr txBox="1"/>
          <p:nvPr/>
        </p:nvSpPr>
        <p:spPr>
          <a:xfrm>
            <a:off x="6473952" y="2423160"/>
            <a:ext cx="4846320" cy="640080"/>
          </a:xfrm>
          <a:prstGeom prst="rect">
            <a:avLst/>
          </a:prstGeom>
          <a:noFill/>
          <a:ln/>
        </p:spPr>
        <p:txBody>
          <a:bodyPr wrap="square" lIns="0" tIns="0" rIns="0" bIns="0" rtlCol="0" anchor="t"/>
          <a:lstStyle/>
          <a:p>
            <a:pPr indent="0" marL="0">
              <a:buNone/>
            </a:pPr>
            <a:r>
              <a:rPr lang="en-US" sz="1500" dirty="0">
                <a:solidFill>
                  <a:schemeClr val="accent4"/>
                </a:solidFill>
              </a:rPr>
              <a:t>SIFT feature matching and RANSAC</a:t>
            </a:r>
            <a:endParaRPr lang="en-US" sz="1500" dirty="0"/>
          </a:p>
        </p:txBody>
      </p:sp>
      <p:sp>
        <p:nvSpPr>
          <p:cNvPr id="11" name="card-430"/>
          <p:cNvSpPr/>
          <p:nvPr/>
        </p:nvSpPr>
        <p:spPr>
          <a:xfrm>
            <a:off x="548640" y="3337560"/>
            <a:ext cx="5440680" cy="1737360"/>
          </a:xfrm>
          <a:prstGeom prst="roundRect">
            <a:avLst>
              <a:gd name="adj" fmla="val 5263"/>
            </a:avLst>
          </a:prstGeom>
          <a:solidFill>
            <a:schemeClr val="bg2"/>
          </a:solidFill>
          <a:ln/>
        </p:spPr>
      </p:sp>
      <p:sp>
        <p:nvSpPr>
          <p:cNvPr id="12" name="text-431"/>
          <p:cNvSpPr txBox="1"/>
          <p:nvPr/>
        </p:nvSpPr>
        <p:spPr>
          <a:xfrm>
            <a:off x="822960" y="3520440"/>
            <a:ext cx="4846320" cy="411480"/>
          </a:xfrm>
          <a:prstGeom prst="rect">
            <a:avLst/>
          </a:prstGeom>
          <a:noFill/>
          <a:ln/>
        </p:spPr>
        <p:txBody>
          <a:bodyPr wrap="square" lIns="0" tIns="0" rIns="0" bIns="0" rtlCol="0" anchor="t"/>
          <a:lstStyle/>
          <a:p>
            <a:pPr indent="0" marL="0">
              <a:buNone/>
            </a:pPr>
            <a:r>
              <a:rPr lang="en-US" sz="2200" b="1" dirty="0">
                <a:solidFill>
                  <a:schemeClr val="tx1"/>
                </a:solidFill>
                <a:latin typeface="Cambria" pitchFamily="34" charset="0"/>
                <a:ea typeface="Cambria" pitchFamily="34" charset="-122"/>
                <a:cs typeface="Cambria" pitchFamily="34" charset="-120"/>
              </a:rPr>
              <a:t>Rishabh Jain</a:t>
            </a:r>
            <a:endParaRPr lang="en-US" sz="2200" dirty="0"/>
          </a:p>
        </p:txBody>
      </p:sp>
      <p:sp>
        <p:nvSpPr>
          <p:cNvPr id="13" name="text-432"/>
          <p:cNvSpPr txBox="1"/>
          <p:nvPr/>
        </p:nvSpPr>
        <p:spPr>
          <a:xfrm>
            <a:off x="822960" y="3977640"/>
            <a:ext cx="4846320" cy="274320"/>
          </a:xfrm>
          <a:prstGeom prst="rect">
            <a:avLst/>
          </a:prstGeom>
          <a:noFill/>
          <a:ln/>
        </p:spPr>
        <p:txBody>
          <a:bodyPr wrap="square" lIns="0" tIns="0" rIns="0" bIns="0" rtlCol="0" anchor="t"/>
          <a:lstStyle/>
          <a:p>
            <a:pPr indent="0" marL="0">
              <a:buNone/>
            </a:pPr>
            <a:r>
              <a:rPr lang="en-US" sz="1500" b="1" dirty="0">
                <a:solidFill>
                  <a:schemeClr val="tx2"/>
                </a:solidFill>
              </a:rPr>
              <a:t>Reg. No. 20233232</a:t>
            </a:r>
            <a:endParaRPr lang="en-US" sz="1500" dirty="0"/>
          </a:p>
        </p:txBody>
      </p:sp>
      <p:sp>
        <p:nvSpPr>
          <p:cNvPr id="14" name="text-433"/>
          <p:cNvSpPr txBox="1"/>
          <p:nvPr/>
        </p:nvSpPr>
        <p:spPr>
          <a:xfrm>
            <a:off x="822960" y="4343400"/>
            <a:ext cx="4846320" cy="640080"/>
          </a:xfrm>
          <a:prstGeom prst="rect">
            <a:avLst/>
          </a:prstGeom>
          <a:noFill/>
          <a:ln/>
        </p:spPr>
        <p:txBody>
          <a:bodyPr wrap="square" lIns="0" tIns="0" rIns="0" bIns="0" rtlCol="0" anchor="t"/>
          <a:lstStyle/>
          <a:p>
            <a:pPr indent="0" marL="0">
              <a:buNone/>
            </a:pPr>
            <a:r>
              <a:rPr lang="en-US" sz="1500" dirty="0">
                <a:solidFill>
                  <a:schemeClr val="accent4"/>
                </a:solidFill>
              </a:rPr>
              <a:t>Evaluation, experiments, and visualizations</a:t>
            </a:r>
            <a:endParaRPr lang="en-US" sz="1500" dirty="0"/>
          </a:p>
        </p:txBody>
      </p:sp>
      <p:sp>
        <p:nvSpPr>
          <p:cNvPr id="15" name="card-434"/>
          <p:cNvSpPr/>
          <p:nvPr/>
        </p:nvSpPr>
        <p:spPr>
          <a:xfrm>
            <a:off x="6199632" y="3337560"/>
            <a:ext cx="5440680" cy="1737360"/>
          </a:xfrm>
          <a:prstGeom prst="roundRect">
            <a:avLst>
              <a:gd name="adj" fmla="val 5263"/>
            </a:avLst>
          </a:prstGeom>
          <a:solidFill>
            <a:schemeClr val="bg2"/>
          </a:solidFill>
          <a:ln/>
        </p:spPr>
      </p:sp>
      <p:sp>
        <p:nvSpPr>
          <p:cNvPr id="16" name="text-435"/>
          <p:cNvSpPr txBox="1"/>
          <p:nvPr/>
        </p:nvSpPr>
        <p:spPr>
          <a:xfrm>
            <a:off x="6473952" y="3520440"/>
            <a:ext cx="4846320" cy="411480"/>
          </a:xfrm>
          <a:prstGeom prst="rect">
            <a:avLst/>
          </a:prstGeom>
          <a:noFill/>
          <a:ln/>
        </p:spPr>
        <p:txBody>
          <a:bodyPr wrap="square" lIns="0" tIns="0" rIns="0" bIns="0" rtlCol="0" anchor="t"/>
          <a:lstStyle/>
          <a:p>
            <a:pPr indent="0" marL="0">
              <a:buNone/>
            </a:pPr>
            <a:r>
              <a:rPr lang="en-US" sz="2200" b="1" dirty="0">
                <a:solidFill>
                  <a:schemeClr val="tx1"/>
                </a:solidFill>
                <a:latin typeface="Cambria" pitchFamily="34" charset="0"/>
                <a:ea typeface="Cambria" pitchFamily="34" charset="-122"/>
                <a:cs typeface="Cambria" pitchFamily="34" charset="-120"/>
              </a:rPr>
              <a:t>Nakul Tiwari</a:t>
            </a:r>
            <a:endParaRPr lang="en-US" sz="2200" dirty="0"/>
          </a:p>
        </p:txBody>
      </p:sp>
      <p:sp>
        <p:nvSpPr>
          <p:cNvPr id="17" name="text-436"/>
          <p:cNvSpPr txBox="1"/>
          <p:nvPr/>
        </p:nvSpPr>
        <p:spPr>
          <a:xfrm>
            <a:off x="6473952" y="3977640"/>
            <a:ext cx="4846320" cy="274320"/>
          </a:xfrm>
          <a:prstGeom prst="rect">
            <a:avLst/>
          </a:prstGeom>
          <a:noFill/>
          <a:ln/>
        </p:spPr>
        <p:txBody>
          <a:bodyPr wrap="square" lIns="0" tIns="0" rIns="0" bIns="0" rtlCol="0" anchor="t"/>
          <a:lstStyle/>
          <a:p>
            <a:pPr indent="0" marL="0">
              <a:buNone/>
            </a:pPr>
            <a:r>
              <a:rPr lang="en-US" sz="1500" b="1" dirty="0">
                <a:solidFill>
                  <a:schemeClr val="tx2"/>
                </a:solidFill>
              </a:rPr>
              <a:t>Reg. No. 20233194</a:t>
            </a:r>
            <a:endParaRPr lang="en-US" sz="1500" dirty="0"/>
          </a:p>
        </p:txBody>
      </p:sp>
      <p:sp>
        <p:nvSpPr>
          <p:cNvPr id="18" name="text-437"/>
          <p:cNvSpPr txBox="1"/>
          <p:nvPr/>
        </p:nvSpPr>
        <p:spPr>
          <a:xfrm>
            <a:off x="6473952" y="4343400"/>
            <a:ext cx="4846320" cy="640080"/>
          </a:xfrm>
          <a:prstGeom prst="rect">
            <a:avLst/>
          </a:prstGeom>
          <a:noFill/>
          <a:ln/>
        </p:spPr>
        <p:txBody>
          <a:bodyPr wrap="square" lIns="0" tIns="0" rIns="0" bIns="0" rtlCol="0" anchor="t"/>
          <a:lstStyle/>
          <a:p>
            <a:pPr indent="0" marL="0">
              <a:buNone/>
            </a:pPr>
            <a:r>
              <a:rPr lang="en-US" sz="1500" dirty="0">
                <a:solidFill>
                  <a:schemeClr val="accent4"/>
                </a:solidFill>
              </a:rPr>
              <a:t>Testing, report, and presentation</a:t>
            </a:r>
            <a:endParaRPr lang="en-US" sz="1500" dirty="0"/>
          </a:p>
        </p:txBody>
      </p:sp>
      <p:sp>
        <p:nvSpPr>
          <p:cNvPr id="19" name="card-438"/>
          <p:cNvSpPr/>
          <p:nvPr/>
        </p:nvSpPr>
        <p:spPr>
          <a:xfrm>
            <a:off x="548640" y="5349240"/>
            <a:ext cx="11091672" cy="868680"/>
          </a:xfrm>
          <a:prstGeom prst="roundRect">
            <a:avLst>
              <a:gd name="adj" fmla="val 10526"/>
            </a:avLst>
          </a:prstGeom>
          <a:solidFill>
            <a:schemeClr val="accent1"/>
          </a:solidFill>
          <a:ln/>
        </p:spPr>
      </p:sp>
      <p:sp>
        <p:nvSpPr>
          <p:cNvPr id="20" name="text-439"/>
          <p:cNvSpPr txBox="1"/>
          <p:nvPr/>
        </p:nvSpPr>
        <p:spPr>
          <a:xfrm>
            <a:off x="548640" y="5349240"/>
            <a:ext cx="11091672" cy="868680"/>
          </a:xfrm>
          <a:prstGeom prst="rect">
            <a:avLst/>
          </a:prstGeom>
          <a:noFill/>
          <a:ln/>
        </p:spPr>
        <p:txBody>
          <a:bodyPr wrap="square" lIns="0" tIns="0" rIns="0" bIns="0" rtlCol="0" anchor="ctr"/>
          <a:lstStyle/>
          <a:p>
            <a:pPr algn="ctr" indent="0" marL="0">
              <a:buNone/>
            </a:pPr>
            <a:r>
              <a:rPr lang="en-US" sz="3000" b="1" dirty="0">
                <a:solidFill>
                  <a:schemeClr val="bg1"/>
                </a:solidFill>
                <a:latin typeface="Cambria" pitchFamily="34" charset="0"/>
                <a:ea typeface="Cambria" pitchFamily="34" charset="-122"/>
                <a:cs typeface="Cambria" pitchFamily="34" charset="-120"/>
              </a:rPr>
              <a:t>Thank you. Questions?</a:t>
            </a:r>
            <a:endParaRPr lang="en-US" sz="3000" dirty="0"/>
          </a:p>
        </p:txBody>
      </p:sp>
      <p:sp>
        <p:nvSpPr>
          <p:cNvPr id="25" name="Slide Number Placeholder 0"/>
          <p:cNvSpPr>
            <a:spLocks noGrp="1"/>
          </p:cNvSpPr>
          <p:nvPr>
            <p:ph type="sldNum" sz="quarter" idx="4294967295"/>
          </p:nvPr>
        </p:nvSpPr>
        <p:spPr>
          <a:xfrm>
            <a:off x="11091672" y="6400800"/>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20</a:t>
            </a:fld>
            <a:endParaRPr lang="en-US"/>
          </a:p>
        </p:txBody>
      </p:sp>
    </p:spTree>
  </p:cSld>
  <p:clrMapOvr>
    <a:masterClrMapping/>
  </p:clrMapOvr>
</p:sld>
</file>

<file path=ppt/theme/theme1.xml><?xml version="1.0" encoding="utf-8"?>
<a:theme xmlns:a="http://schemas.openxmlformats.org/drawingml/2006/main" name="Forensic Teal">
  <a:themeElements>
    <a:clrScheme name="Forensic Teal">
      <a:dk1>
        <a:srgbClr val="14213D"/>
      </a:dk1>
      <a:lt1>
        <a:srgbClr val="FFFFFF"/>
      </a:lt1>
      <a:dk2>
        <a:srgbClr val="0F766E"/>
      </a:dk2>
      <a:lt2>
        <a:srgbClr val="F3F5F8"/>
      </a:lt2>
      <a:accent1>
        <a:srgbClr val="0F766E"/>
      </a:accent1>
      <a:accent2>
        <a:srgbClr val="B42318"/>
      </a:accent2>
      <a:accent3>
        <a:srgbClr val="E6F3F1"/>
      </a:accent3>
      <a:accent4>
        <a:srgbClr val="5B6577"/>
      </a:accent4>
      <a:accent5>
        <a:srgbClr val="D7DCE5"/>
      </a:accent5>
      <a:accent6>
        <a:srgbClr val="1A7F4B"/>
      </a:accent6>
      <a:hlink>
        <a:srgbClr val="0F766E"/>
      </a:hlink>
      <a:folHlink>
        <a:srgbClr val="5B6577"/>
      </a:folHlink>
    </a:clrScheme>
    <a:fontScheme name="Forensic Teal">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20</Slides>
  <Notes>20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20</vt:i4>
      </vt:variant>
    </vt:vector>
  </HeadingPairs>
  <TitlesOfParts>
    <vt:vector size="2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Copy-Move Forgery Detection using SIFT and RANSAC</dc:title>
  <dc:subject>PptxGenJS Presentation</dc:subject>
  <dc:creator>Rishav Ranjan, Manu Singhal, Rishabh Jain, Nakul Tiwari</dc:creator>
  <cp:lastModifiedBy>Rishav Ranjan, Manu Singhal, Rishabh Jain, Nakul Tiwari</cp:lastModifiedBy>
  <cp:revision>1</cp:revision>
  <dcterms:created xsi:type="dcterms:W3CDTF">2026-10-29T10:00:16Z</dcterms:created>
  <dcterms:modified xsi:type="dcterms:W3CDTF">2026-10-29T10:00:16Z</dcterms:modified>
</cp:coreProperties>
</file>